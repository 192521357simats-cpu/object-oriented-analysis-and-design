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74794C-4C3A-4AD9-BF48-A2D027AB5975}" v="2" dt="2026-07-17T03:46:57.1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0" d="100"/>
          <a:sy n="80" d="100"/>
        </p:scale>
        <p:origin x="4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shmi naurene" userId="2db38a5bf38ea580" providerId="LiveId" clId="{16455290-8C71-40AA-81A1-2309A518DDBC}"/>
    <pc:docChg chg="undo custSel addSld modSld sldOrd">
      <pc:chgData name="rashmi naurene" userId="2db38a5bf38ea580" providerId="LiveId" clId="{16455290-8C71-40AA-81A1-2309A518DDBC}" dt="2026-07-17T03:57:27.616" v="159" actId="1076"/>
      <pc:docMkLst>
        <pc:docMk/>
      </pc:docMkLst>
      <pc:sldChg chg="addSp modSp mod">
        <pc:chgData name="rashmi naurene" userId="2db38a5bf38ea580" providerId="LiveId" clId="{16455290-8C71-40AA-81A1-2309A518DDBC}" dt="2026-07-17T03:57:27.616" v="159" actId="1076"/>
        <pc:sldMkLst>
          <pc:docMk/>
          <pc:sldMk cId="0" sldId="256"/>
        </pc:sldMkLst>
        <pc:spChg chg="mod">
          <ac:chgData name="rashmi naurene" userId="2db38a5bf38ea580" providerId="LiveId" clId="{16455290-8C71-40AA-81A1-2309A518DDBC}" dt="2026-07-17T03:57:14.088" v="156" actId="1076"/>
          <ac:spMkLst>
            <pc:docMk/>
            <pc:sldMk cId="0" sldId="256"/>
            <ac:spMk id="2" creationId="{00000000-0000-0000-0000-000000000000}"/>
          </ac:spMkLst>
        </pc:spChg>
        <pc:spChg chg="mod">
          <ac:chgData name="rashmi naurene" userId="2db38a5bf38ea580" providerId="LiveId" clId="{16455290-8C71-40AA-81A1-2309A518DDBC}" dt="2026-07-17T03:57:27.616" v="159" actId="1076"/>
          <ac:spMkLst>
            <pc:docMk/>
            <pc:sldMk cId="0" sldId="256"/>
            <ac:spMk id="5" creationId="{00000000-0000-0000-0000-000000000000}"/>
          </ac:spMkLst>
        </pc:spChg>
        <pc:spChg chg="mod">
          <ac:chgData name="rashmi naurene" userId="2db38a5bf38ea580" providerId="LiveId" clId="{16455290-8C71-40AA-81A1-2309A518DDBC}" dt="2026-07-17T03:57:23.813" v="158" actId="1076"/>
          <ac:spMkLst>
            <pc:docMk/>
            <pc:sldMk cId="0" sldId="256"/>
            <ac:spMk id="6" creationId="{00000000-0000-0000-0000-000000000000}"/>
          </ac:spMkLst>
        </pc:spChg>
        <pc:spChg chg="mod">
          <ac:chgData name="rashmi naurene" userId="2db38a5bf38ea580" providerId="LiveId" clId="{16455290-8C71-40AA-81A1-2309A518DDBC}" dt="2026-07-17T03:57:19.335" v="157" actId="1076"/>
          <ac:spMkLst>
            <pc:docMk/>
            <pc:sldMk cId="0" sldId="256"/>
            <ac:spMk id="7" creationId="{00000000-0000-0000-0000-000000000000}"/>
          </ac:spMkLst>
        </pc:spChg>
        <pc:spChg chg="mod">
          <ac:chgData name="rashmi naurene" userId="2db38a5bf38ea580" providerId="LiveId" clId="{16455290-8C71-40AA-81A1-2309A518DDBC}" dt="2026-07-17T03:56:57.432" v="155" actId="20577"/>
          <ac:spMkLst>
            <pc:docMk/>
            <pc:sldMk cId="0" sldId="256"/>
            <ac:spMk id="10" creationId="{00000000-0000-0000-0000-000000000000}"/>
          </ac:spMkLst>
        </pc:spChg>
        <pc:spChg chg="mod">
          <ac:chgData name="rashmi naurene" userId="2db38a5bf38ea580" providerId="LiveId" clId="{16455290-8C71-40AA-81A1-2309A518DDBC}" dt="2026-07-17T03:55:33.099" v="121" actId="20577"/>
          <ac:spMkLst>
            <pc:docMk/>
            <pc:sldMk cId="0" sldId="256"/>
            <ac:spMk id="12" creationId="{00000000-0000-0000-0000-000000000000}"/>
          </ac:spMkLst>
        </pc:spChg>
        <pc:spChg chg="mod">
          <ac:chgData name="rashmi naurene" userId="2db38a5bf38ea580" providerId="LiveId" clId="{16455290-8C71-40AA-81A1-2309A518DDBC}" dt="2026-07-17T03:55:43.677" v="133" actId="20577"/>
          <ac:spMkLst>
            <pc:docMk/>
            <pc:sldMk cId="0" sldId="256"/>
            <ac:spMk id="14" creationId="{00000000-0000-0000-0000-000000000000}"/>
          </ac:spMkLst>
        </pc:spChg>
        <pc:spChg chg="mod">
          <ac:chgData name="rashmi naurene" userId="2db38a5bf38ea580" providerId="LiveId" clId="{16455290-8C71-40AA-81A1-2309A518DDBC}" dt="2026-07-17T03:56:03.157" v="144" actId="20577"/>
          <ac:spMkLst>
            <pc:docMk/>
            <pc:sldMk cId="0" sldId="256"/>
            <ac:spMk id="16" creationId="{00000000-0000-0000-0000-000000000000}"/>
          </ac:spMkLst>
        </pc:spChg>
        <pc:spChg chg="mod">
          <ac:chgData name="rashmi naurene" userId="2db38a5bf38ea580" providerId="LiveId" clId="{16455290-8C71-40AA-81A1-2309A518DDBC}" dt="2026-07-17T03:46:10.909" v="102"/>
          <ac:spMkLst>
            <pc:docMk/>
            <pc:sldMk cId="0" sldId="256"/>
            <ac:spMk id="19" creationId="{BD299F5C-467F-EAAB-A56D-2D899E47295B}"/>
          </ac:spMkLst>
        </pc:spChg>
        <pc:spChg chg="mod">
          <ac:chgData name="rashmi naurene" userId="2db38a5bf38ea580" providerId="LiveId" clId="{16455290-8C71-40AA-81A1-2309A518DDBC}" dt="2026-07-17T03:46:57.171" v="106"/>
          <ac:spMkLst>
            <pc:docMk/>
            <pc:sldMk cId="0" sldId="256"/>
            <ac:spMk id="21" creationId="{4FDBB458-B128-3836-83DF-EEFEE39C0FA3}"/>
          </ac:spMkLst>
        </pc:spChg>
        <pc:grpChg chg="add mod">
          <ac:chgData name="rashmi naurene" userId="2db38a5bf38ea580" providerId="LiveId" clId="{16455290-8C71-40AA-81A1-2309A518DDBC}" dt="2026-07-17T03:46:24.643" v="105" actId="1076"/>
          <ac:grpSpMkLst>
            <pc:docMk/>
            <pc:sldMk cId="0" sldId="256"/>
            <ac:grpSpMk id="18" creationId="{E3911CFF-C6E7-4008-8920-1189BE298DBB}"/>
          </ac:grpSpMkLst>
        </pc:grpChg>
        <pc:grpChg chg="add mod">
          <ac:chgData name="rashmi naurene" userId="2db38a5bf38ea580" providerId="LiveId" clId="{16455290-8C71-40AA-81A1-2309A518DDBC}" dt="2026-07-17T03:47:32.423" v="108" actId="1076"/>
          <ac:grpSpMkLst>
            <pc:docMk/>
            <pc:sldMk cId="0" sldId="256"/>
            <ac:grpSpMk id="20" creationId="{0C7B4E72-5F94-F328-D882-6D930E3A04E0}"/>
          </ac:grpSpMkLst>
        </pc:grpChg>
      </pc:sldChg>
      <pc:sldChg chg="modSp mod">
        <pc:chgData name="rashmi naurene" userId="2db38a5bf38ea580" providerId="LiveId" clId="{16455290-8C71-40AA-81A1-2309A518DDBC}" dt="2026-07-17T02:54:18.261" v="95" actId="20577"/>
        <pc:sldMkLst>
          <pc:docMk/>
          <pc:sldMk cId="0" sldId="257"/>
        </pc:sldMkLst>
        <pc:spChg chg="mod">
          <ac:chgData name="rashmi naurene" userId="2db38a5bf38ea580" providerId="LiveId" clId="{16455290-8C71-40AA-81A1-2309A518DDBC}" dt="2026-07-17T02:54:18.261" v="95" actId="20577"/>
          <ac:spMkLst>
            <pc:docMk/>
            <pc:sldMk cId="0" sldId="257"/>
            <ac:spMk id="27" creationId="{00000000-0000-0000-0000-000000000000}"/>
          </ac:spMkLst>
        </pc:spChg>
      </pc:sldChg>
      <pc:sldChg chg="modSp mod">
        <pc:chgData name="rashmi naurene" userId="2db38a5bf38ea580" providerId="LiveId" clId="{16455290-8C71-40AA-81A1-2309A518DDBC}" dt="2026-07-16T15:12:20.028" v="39" actId="1076"/>
        <pc:sldMkLst>
          <pc:docMk/>
          <pc:sldMk cId="0" sldId="263"/>
        </pc:sldMkLst>
        <pc:spChg chg="mod">
          <ac:chgData name="rashmi naurene" userId="2db38a5bf38ea580" providerId="LiveId" clId="{16455290-8C71-40AA-81A1-2309A518DDBC}" dt="2026-07-16T15:11:53.150" v="35" actId="1076"/>
          <ac:spMkLst>
            <pc:docMk/>
            <pc:sldMk cId="0" sldId="263"/>
            <ac:spMk id="32" creationId="{00000000-0000-0000-0000-000000000000}"/>
          </ac:spMkLst>
        </pc:spChg>
        <pc:spChg chg="mod">
          <ac:chgData name="rashmi naurene" userId="2db38a5bf38ea580" providerId="LiveId" clId="{16455290-8C71-40AA-81A1-2309A518DDBC}" dt="2026-07-16T15:12:01.067" v="36" actId="1076"/>
          <ac:spMkLst>
            <pc:docMk/>
            <pc:sldMk cId="0" sldId="263"/>
            <ac:spMk id="34" creationId="{00000000-0000-0000-0000-000000000000}"/>
          </ac:spMkLst>
        </pc:spChg>
        <pc:spChg chg="mod">
          <ac:chgData name="rashmi naurene" userId="2db38a5bf38ea580" providerId="LiveId" clId="{16455290-8C71-40AA-81A1-2309A518DDBC}" dt="2026-07-16T15:12:06.664" v="37" actId="1076"/>
          <ac:spMkLst>
            <pc:docMk/>
            <pc:sldMk cId="0" sldId="263"/>
            <ac:spMk id="36" creationId="{00000000-0000-0000-0000-000000000000}"/>
          </ac:spMkLst>
        </pc:spChg>
        <pc:spChg chg="mod">
          <ac:chgData name="rashmi naurene" userId="2db38a5bf38ea580" providerId="LiveId" clId="{16455290-8C71-40AA-81A1-2309A518DDBC}" dt="2026-07-16T15:12:15.405" v="38" actId="1076"/>
          <ac:spMkLst>
            <pc:docMk/>
            <pc:sldMk cId="0" sldId="263"/>
            <ac:spMk id="38" creationId="{00000000-0000-0000-0000-000000000000}"/>
          </ac:spMkLst>
        </pc:spChg>
        <pc:spChg chg="mod">
          <ac:chgData name="rashmi naurene" userId="2db38a5bf38ea580" providerId="LiveId" clId="{16455290-8C71-40AA-81A1-2309A518DDBC}" dt="2026-07-16T15:12:20.028" v="39" actId="1076"/>
          <ac:spMkLst>
            <pc:docMk/>
            <pc:sldMk cId="0" sldId="263"/>
            <ac:spMk id="40" creationId="{00000000-0000-0000-0000-000000000000}"/>
          </ac:spMkLst>
        </pc:spChg>
      </pc:sldChg>
      <pc:sldChg chg="addSp delSp modSp mod">
        <pc:chgData name="rashmi naurene" userId="2db38a5bf38ea580" providerId="LiveId" clId="{16455290-8C71-40AA-81A1-2309A518DDBC}" dt="2026-07-14T17:58:45.764" v="34" actId="21"/>
        <pc:sldMkLst>
          <pc:docMk/>
          <pc:sldMk cId="0" sldId="264"/>
        </pc:sldMkLst>
        <pc:spChg chg="mod">
          <ac:chgData name="rashmi naurene" userId="2db38a5bf38ea580" providerId="LiveId" clId="{16455290-8C71-40AA-81A1-2309A518DDBC}" dt="2026-07-14T17:54:55.134" v="5" actId="1076"/>
          <ac:spMkLst>
            <pc:docMk/>
            <pc:sldMk cId="0" sldId="264"/>
            <ac:spMk id="37" creationId="{00000000-0000-0000-0000-000000000000}"/>
          </ac:spMkLst>
        </pc:spChg>
        <pc:spChg chg="mod">
          <ac:chgData name="rashmi naurene" userId="2db38a5bf38ea580" providerId="LiveId" clId="{16455290-8C71-40AA-81A1-2309A518DDBC}" dt="2026-07-14T17:54:49.452" v="4" actId="1076"/>
          <ac:spMkLst>
            <pc:docMk/>
            <pc:sldMk cId="0" sldId="264"/>
            <ac:spMk id="38" creationId="{00000000-0000-0000-0000-000000000000}"/>
          </ac:spMkLst>
        </pc:spChg>
        <pc:spChg chg="mod">
          <ac:chgData name="rashmi naurene" userId="2db38a5bf38ea580" providerId="LiveId" clId="{16455290-8C71-40AA-81A1-2309A518DDBC}" dt="2026-07-14T17:55:27.142" v="11" actId="1076"/>
          <ac:spMkLst>
            <pc:docMk/>
            <pc:sldMk cId="0" sldId="264"/>
            <ac:spMk id="40" creationId="{00000000-0000-0000-0000-000000000000}"/>
          </ac:spMkLst>
        </pc:spChg>
        <pc:spChg chg="mod">
          <ac:chgData name="rashmi naurene" userId="2db38a5bf38ea580" providerId="LiveId" clId="{16455290-8C71-40AA-81A1-2309A518DDBC}" dt="2026-07-14T17:55:32.423" v="12" actId="1076"/>
          <ac:spMkLst>
            <pc:docMk/>
            <pc:sldMk cId="0" sldId="264"/>
            <ac:spMk id="41" creationId="{00000000-0000-0000-0000-000000000000}"/>
          </ac:spMkLst>
        </pc:spChg>
        <pc:spChg chg="mod">
          <ac:chgData name="rashmi naurene" userId="2db38a5bf38ea580" providerId="LiveId" clId="{16455290-8C71-40AA-81A1-2309A518DDBC}" dt="2026-07-14T17:54:44.240" v="3" actId="20577"/>
          <ac:spMkLst>
            <pc:docMk/>
            <pc:sldMk cId="0" sldId="264"/>
            <ac:spMk id="46" creationId="{00000000-0000-0000-0000-000000000000}"/>
          </ac:spMkLst>
        </pc:spChg>
        <pc:spChg chg="mod">
          <ac:chgData name="rashmi naurene" userId="2db38a5bf38ea580" providerId="LiveId" clId="{16455290-8C71-40AA-81A1-2309A518DDBC}" dt="2026-07-14T17:55:02.418" v="6" actId="1076"/>
          <ac:spMkLst>
            <pc:docMk/>
            <pc:sldMk cId="0" sldId="264"/>
            <ac:spMk id="47" creationId="{00000000-0000-0000-0000-000000000000}"/>
          </ac:spMkLst>
        </pc:spChg>
        <pc:spChg chg="mod">
          <ac:chgData name="rashmi naurene" userId="2db38a5bf38ea580" providerId="LiveId" clId="{16455290-8C71-40AA-81A1-2309A518DDBC}" dt="2026-07-14T17:55:05.753" v="7" actId="1076"/>
          <ac:spMkLst>
            <pc:docMk/>
            <pc:sldMk cId="0" sldId="264"/>
            <ac:spMk id="48" creationId="{00000000-0000-0000-0000-000000000000}"/>
          </ac:spMkLst>
        </pc:spChg>
        <pc:spChg chg="mod">
          <ac:chgData name="rashmi naurene" userId="2db38a5bf38ea580" providerId="LiveId" clId="{16455290-8C71-40AA-81A1-2309A518DDBC}" dt="2026-07-14T17:55:23.850" v="10" actId="1076"/>
          <ac:spMkLst>
            <pc:docMk/>
            <pc:sldMk cId="0" sldId="264"/>
            <ac:spMk id="52" creationId="{00000000-0000-0000-0000-000000000000}"/>
          </ac:spMkLst>
        </pc:spChg>
        <pc:spChg chg="mod">
          <ac:chgData name="rashmi naurene" userId="2db38a5bf38ea580" providerId="LiveId" clId="{16455290-8C71-40AA-81A1-2309A518DDBC}" dt="2026-07-14T17:55:15.966" v="8" actId="1076"/>
          <ac:spMkLst>
            <pc:docMk/>
            <pc:sldMk cId="0" sldId="264"/>
            <ac:spMk id="53" creationId="{00000000-0000-0000-0000-000000000000}"/>
          </ac:spMkLst>
        </pc:spChg>
        <pc:spChg chg="mod">
          <ac:chgData name="rashmi naurene" userId="2db38a5bf38ea580" providerId="LiveId" clId="{16455290-8C71-40AA-81A1-2309A518DDBC}" dt="2026-07-14T17:55:19.625" v="9" actId="1076"/>
          <ac:spMkLst>
            <pc:docMk/>
            <pc:sldMk cId="0" sldId="264"/>
            <ac:spMk id="54" creationId="{00000000-0000-0000-0000-000000000000}"/>
          </ac:spMkLst>
        </pc:spChg>
        <pc:spChg chg="add del">
          <ac:chgData name="rashmi naurene" userId="2db38a5bf38ea580" providerId="LiveId" clId="{16455290-8C71-40AA-81A1-2309A518DDBC}" dt="2026-07-14T17:58:45.764" v="34" actId="21"/>
          <ac:spMkLst>
            <pc:docMk/>
            <pc:sldMk cId="0" sldId="264"/>
            <ac:spMk id="68" creationId="{00000000-0000-0000-0000-000000000000}"/>
          </ac:spMkLst>
        </pc:spChg>
        <pc:spChg chg="add del">
          <ac:chgData name="rashmi naurene" userId="2db38a5bf38ea580" providerId="LiveId" clId="{16455290-8C71-40AA-81A1-2309A518DDBC}" dt="2026-07-14T17:58:44.277" v="32" actId="21"/>
          <ac:spMkLst>
            <pc:docMk/>
            <pc:sldMk cId="0" sldId="264"/>
            <ac:spMk id="69" creationId="{00000000-0000-0000-0000-000000000000}"/>
          </ac:spMkLst>
        </pc:spChg>
        <pc:spChg chg="add del mod">
          <ac:chgData name="rashmi naurene" userId="2db38a5bf38ea580" providerId="LiveId" clId="{16455290-8C71-40AA-81A1-2309A518DDBC}" dt="2026-07-14T17:58:43.628" v="31" actId="1076"/>
          <ac:spMkLst>
            <pc:docMk/>
            <pc:sldMk cId="0" sldId="264"/>
            <ac:spMk id="70" creationId="{00000000-0000-0000-0000-000000000000}"/>
          </ac:spMkLst>
        </pc:spChg>
        <pc:spChg chg="add del">
          <ac:chgData name="rashmi naurene" userId="2db38a5bf38ea580" providerId="LiveId" clId="{16455290-8C71-40AA-81A1-2309A518DDBC}" dt="2026-07-14T17:58:42.978" v="30" actId="21"/>
          <ac:spMkLst>
            <pc:docMk/>
            <pc:sldMk cId="0" sldId="264"/>
            <ac:spMk id="71" creationId="{00000000-0000-0000-0000-000000000000}"/>
          </ac:spMkLst>
        </pc:spChg>
        <pc:spChg chg="add del">
          <ac:chgData name="rashmi naurene" userId="2db38a5bf38ea580" providerId="LiveId" clId="{16455290-8C71-40AA-81A1-2309A518DDBC}" dt="2026-07-14T17:58:42.360" v="29" actId="21"/>
          <ac:spMkLst>
            <pc:docMk/>
            <pc:sldMk cId="0" sldId="264"/>
            <ac:spMk id="72" creationId="{00000000-0000-0000-0000-000000000000}"/>
          </ac:spMkLst>
        </pc:spChg>
        <pc:spChg chg="add del">
          <ac:chgData name="rashmi naurene" userId="2db38a5bf38ea580" providerId="LiveId" clId="{16455290-8C71-40AA-81A1-2309A518DDBC}" dt="2026-07-14T17:58:45.131" v="33" actId="21"/>
          <ac:spMkLst>
            <pc:docMk/>
            <pc:sldMk cId="0" sldId="264"/>
            <ac:spMk id="73" creationId="{00000000-0000-0000-0000-000000000000}"/>
          </ac:spMkLst>
        </pc:spChg>
        <pc:spChg chg="add del">
          <ac:chgData name="rashmi naurene" userId="2db38a5bf38ea580" providerId="LiveId" clId="{16455290-8C71-40AA-81A1-2309A518DDBC}" dt="2026-07-14T17:58:40.743" v="26" actId="21"/>
          <ac:spMkLst>
            <pc:docMk/>
            <pc:sldMk cId="0" sldId="264"/>
            <ac:spMk id="74" creationId="{00000000-0000-0000-0000-000000000000}"/>
          </ac:spMkLst>
        </pc:spChg>
        <pc:spChg chg="add del">
          <ac:chgData name="rashmi naurene" userId="2db38a5bf38ea580" providerId="LiveId" clId="{16455290-8C71-40AA-81A1-2309A518DDBC}" dt="2026-07-14T17:58:41.266" v="27" actId="21"/>
          <ac:spMkLst>
            <pc:docMk/>
            <pc:sldMk cId="0" sldId="264"/>
            <ac:spMk id="75" creationId="{00000000-0000-0000-0000-000000000000}"/>
          </ac:spMkLst>
        </pc:spChg>
        <pc:spChg chg="add del">
          <ac:chgData name="rashmi naurene" userId="2db38a5bf38ea580" providerId="LiveId" clId="{16455290-8C71-40AA-81A1-2309A518DDBC}" dt="2026-07-14T17:58:39.446" v="24" actId="21"/>
          <ac:spMkLst>
            <pc:docMk/>
            <pc:sldMk cId="0" sldId="264"/>
            <ac:spMk id="76" creationId="{00000000-0000-0000-0000-000000000000}"/>
          </ac:spMkLst>
        </pc:spChg>
        <pc:spChg chg="add del">
          <ac:chgData name="rashmi naurene" userId="2db38a5bf38ea580" providerId="LiveId" clId="{16455290-8C71-40AA-81A1-2309A518DDBC}" dt="2026-07-14T17:58:40.159" v="25" actId="21"/>
          <ac:spMkLst>
            <pc:docMk/>
            <pc:sldMk cId="0" sldId="264"/>
            <ac:spMk id="77" creationId="{00000000-0000-0000-0000-000000000000}"/>
          </ac:spMkLst>
        </pc:spChg>
      </pc:sldChg>
      <pc:sldChg chg="modSp mod">
        <pc:chgData name="rashmi naurene" userId="2db38a5bf38ea580" providerId="LiveId" clId="{16455290-8C71-40AA-81A1-2309A518DDBC}" dt="2026-07-16T15:23:18.337" v="75" actId="20577"/>
        <pc:sldMkLst>
          <pc:docMk/>
          <pc:sldMk cId="0" sldId="266"/>
        </pc:sldMkLst>
        <pc:spChg chg="mod">
          <ac:chgData name="rashmi naurene" userId="2db38a5bf38ea580" providerId="LiveId" clId="{16455290-8C71-40AA-81A1-2309A518DDBC}" dt="2026-07-16T15:23:18.337" v="75" actId="20577"/>
          <ac:spMkLst>
            <pc:docMk/>
            <pc:sldMk cId="0" sldId="266"/>
            <ac:spMk id="2" creationId="{00000000-0000-0000-0000-000000000000}"/>
          </ac:spMkLst>
        </pc:spChg>
      </pc:sldChg>
      <pc:sldChg chg="addSp delSp modSp add mod ord">
        <pc:chgData name="rashmi naurene" userId="2db38a5bf38ea580" providerId="LiveId" clId="{16455290-8C71-40AA-81A1-2309A518DDBC}" dt="2026-07-17T03:48:13.022" v="110"/>
        <pc:sldMkLst>
          <pc:docMk/>
          <pc:sldMk cId="3386404679" sldId="268"/>
        </pc:sldMkLst>
        <pc:spChg chg="del">
          <ac:chgData name="rashmi naurene" userId="2db38a5bf38ea580" providerId="LiveId" clId="{16455290-8C71-40AA-81A1-2309A518DDBC}" dt="2026-07-17T03:40:26.309" v="99" actId="21"/>
          <ac:spMkLst>
            <pc:docMk/>
            <pc:sldMk cId="3386404679" sldId="268"/>
            <ac:spMk id="2" creationId="{BA0A8812-7B4D-E250-4483-A7ADDCCBBF8A}"/>
          </ac:spMkLst>
        </pc:spChg>
        <pc:spChg chg="del">
          <ac:chgData name="rashmi naurene" userId="2db38a5bf38ea580" providerId="LiveId" clId="{16455290-8C71-40AA-81A1-2309A518DDBC}" dt="2026-07-17T03:40:21.251" v="98" actId="21"/>
          <ac:spMkLst>
            <pc:docMk/>
            <pc:sldMk cId="3386404679" sldId="268"/>
            <ac:spMk id="3" creationId="{67C34C22-C068-5499-BB3D-D6B0826A9993}"/>
          </ac:spMkLst>
        </pc:spChg>
        <pc:spChg chg="del">
          <ac:chgData name="rashmi naurene" userId="2db38a5bf38ea580" providerId="LiveId" clId="{16455290-8C71-40AA-81A1-2309A518DDBC}" dt="2026-07-17T03:40:14.534" v="97" actId="21"/>
          <ac:spMkLst>
            <pc:docMk/>
            <pc:sldMk cId="3386404679" sldId="268"/>
            <ac:spMk id="4" creationId="{983F029A-C8A0-99E7-53AC-A63015715799}"/>
          </ac:spMkLst>
        </pc:spChg>
        <pc:spChg chg="del">
          <ac:chgData name="rashmi naurene" userId="2db38a5bf38ea580" providerId="LiveId" clId="{16455290-8C71-40AA-81A1-2309A518DDBC}" dt="2026-07-17T03:40:32.020" v="100" actId="21"/>
          <ac:spMkLst>
            <pc:docMk/>
            <pc:sldMk cId="3386404679" sldId="268"/>
            <ac:spMk id="5" creationId="{AFB0643A-FC4B-8B3E-0B81-F6C8E951F4DE}"/>
          </ac:spMkLst>
        </pc:spChg>
        <pc:picChg chg="add mod">
          <ac:chgData name="rashmi naurene" userId="2db38a5bf38ea580" providerId="LiveId" clId="{16455290-8C71-40AA-81A1-2309A518DDBC}" dt="2026-07-17T03:40:54.381" v="101" actId="931"/>
          <ac:picMkLst>
            <pc:docMk/>
            <pc:sldMk cId="3386404679" sldId="268"/>
            <ac:picMk id="7" creationId="{68B82336-9399-A87C-E22B-D7E13592B3B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6805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LEADER opens] Good morning/afternoon everyone. Our topic today is Modular Design in a Hospital Management System — how we took a system with tightly coupled modules and frequent maintenance issues, and redesigned it using object-oriented principles. Quick introductions: I'm [Name], the team leader. With me are [Name] as our researcher, [Name] as our designer, and [Name] as our presenter for the results. Each of us will walk you through one part of this story.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LEADER] Before we get into the content, a quick word on how we split the work — because a good technical presentation is also a well-run project. As leader I coordinated the timeline and tie the sections together. Our researcher dug into what actually goes wrong in tightly coupled hospital systems. Our designer worked out the object-oriented redesign and built the class diagram you'll see shortly. And our presenter takes you through the results and will lead the Q&amp;A. Equal parts, equal airtime.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LEADER] So what should you walk away with? By the end of this talk you should understand why tightly coupled code is dangerous specifically in a hospital context, and how four familiar OOP concepts — class, encapsulation, inheritance, association — directly fix that. On our side, our goal isn't just to define these terms, it's to show you exactly where they apply in a real scenario, and to back every claim with a concrete example rather than just theory.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LEADER] Here's how we'll move through it: I'll open with a short introduction to what a Hospital Management System actually does. Our researcher then lays out the problem in concrete terms. Our designer walks through the redesign and the architecture. Our presenter brings you the results comparing before and after. And I'll close with the key takeaways. Roughly two to three minutes per section, then we'll open the floor to questions.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 INTRODUCTION] A Hospital Management System is the software running underneath almost everything a hospital does day to day: registering patients, scheduling appointments, billing and insurance, dispensing medication, and keeping medical records. What makes this different from, say, an e-commerce platform is the stakes. If an online store goes down for an hour, someone waits to buy a product. If a hospital system goes down, or a bad update corrupts a medication record, that can directly delay patient care. That's why we treat software architecture here as a patient-safety issue, not just a technical preference. A system built as one large tangled block of code is inherently harder to change safely than one built from clear, independent modules. That's exactly the story we're about to walk you through: a hospital system that grew into a tightly coupled monolith over time, and how we redesigned it using object-oriented principles.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 PROBLEM STATEMENT] Here's what tightly coupled actually looks like in this system, concretely. The Billing module doesn't go through any defined interface to read a patient's insurance details — it reaches straight into Patient Registration's internal variables. Pharmacy's dispensing logic depends on internal code from Appointment Scheduling, even though the two shouldn't logically need each other at all. The result is four real problems. First, one change breaks many things — a simple tax-rate fix in Billing can silently break Appointment Scheduling, because they share unguarded internal state. Second, releases become slow and risky, because nobody can say with confidence which modules a given change actually touches, so the whole system needs re-testing every time. Third, developers develop what we call fragile code syndrome — they become afraid to touch working code because even a small edit can ripple into unrelated corners of the system. And fourth, this creates real compliance risk: in a regulated healthcare environment, you need to be able to prove which module touched sensitive patient data, and tangled dependencies make that nearly impossible to trace.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 METHODOLOGY, PART 1] To fix this, we applied four core object-oriented principles. First, independent classes: Patient, Appointment, Billing, and Pharmacy each become self-contained classes with their own attributes and their own methods — no module reaches into another's internals anymore. Second, encapsulation: sensitive fields like account balances and medical history are made private, and any other module that needs them has to go through a defined public method, which can validate the request instead of blindly allowing it. Third, inheritance: instead of copying the same staff fields into Doctor, Nurse, and Pharmacist separately, we introduce a shared StaffMember class that holds common attributes like name and staff ID, and the three role classes inherit from it. Fourth, association instead of direct access: when Billing needs data from Patient, it holds a reference to that Patient object and calls its public interface — it never touches Patient's raw internal fields directly. Together, these four principles are what turn a tangled system into a set of modules with clear, enforceable boundaries.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 METHODOLOGY, PART 2] Let's start with the inheritance side of the redesign. At the top, Person is an abstract class — it's never instantiated directly, it only exists to hold what every person in the system has in common: a name, an age, a contact number. Patient inherits from Person and adds what's specific to being a patient: a private medical history and blood group, plus a method to view records. On the other branch, StaffMember also inherits from Person, and is itself abstract — it holds a staff ID, a department, and a login method common to every staff role. Doctor, Nurse, and Pharmacist all inherit from StaffMember, and each adds only what's specific to that role: a doctor's specialization, a nurse's shift and ward assignment, a pharmacist's license number. The solid triangle arrows are the standard UML notation for inheritance, always pointing up toward the parent class. This is what lets us write shared logic exactly once, at the right level, instead of duplicating it three or four times.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 METHODOLOGY, PART 3] This is the fuller picture — how these classes are actually wired together, using proper UML relationship types instead of just generic lines. Most of these are plain associations, shown in grey and labeled with the verb that describes the link: a Patient books an Appointment, a Doctor conducts an Appointment, a Doctor writes a Prescription that a Patient receives. Two relationships are more specific. Patient to MedicalRecord is composition, shown with the dark filled-diamond marker at the Patient end — a medical record has no independent existence outside its patient, so if the patient record is deleted, its medical records go with it. Prescription to Medicine is aggregation, shown with the teal open-diamond marker at the Prescription end — a prescription references medicines from the pharmacy's stock, but those medicines exist independently in inventory whether or not this particular prescription exists. Billing pulls from both Patient and Appointment, and Ward admits Patients as a separate association. The reason this looks more elaborate than a single tangled blob is that every one of these lines is a deliberate, typed, bounded relationship — which is exactly the opposite of the uncontrolled coupling we started with.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 RESULTS &amp; FINDINGS] Let's look at what this redesign actually changes, across the three qualities the assignment asks us to evaluate. On maintainability: before, a billing-rule change risked touching three or four unrelated modules because fields were shared directly; after the redesign, that same change is isolated to the Billing class alone, because every other module only ever depended on its public interface, not its internals. On scalability: before, adding a new service like telemedicine meant editing shared logic and re-testing the whole system end to end; after, a new module can be added as a new class that talks to the existing ones purely through defined interfaces, without needing to touch what already works. And on reusability: before, common staff logic like login and contact details was copy-pasted separately into the Doctor, Nurse, and Pharmacist code; after, that logic exists once, in StaffMember, and every subclass inherits it. To be clear, we're presenting this as an illustrative before-and-after based on the redesign we applied — not as measured production statistics — but the pattern holds up logically in every case: fewer files touched per change, safer scaling, and no duplicated logic.</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 CONCLUSION] To bring this together: the core problem was never one single bug — it was a structure that let every module reach freely into every other module, so a fix anywhere could break something anywhere else. What we did was apply four familiar OOP concepts — class, encapsulation, inheritance, and association — as the actual mechanism to enforce boundaries between Patient, Appointment, Billing, Pharmacy, and the staff hierarchy. And the payoff isn't abstract: it shows up as fewer files touched per change, safer scaling when new modules are added, and no duplicated staff logic. The bigger point we want to leave you with is this — in a system where downtime or a bad update can delay patient care, disciplined object-oriented design isn't just good engineering practice, it's a patient-safety measure. Thank you — we're happy to take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6F42B-127E-DC18-7918-1B3BC8EBD8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33A30C-4214-3DEE-8BF6-55155B2FEB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D769F3-7910-58AE-63A7-C68A79016634}"/>
              </a:ext>
            </a:extLst>
          </p:cNvPr>
          <p:cNvSpPr>
            <a:spLocks noGrp="1"/>
          </p:cNvSpPr>
          <p:nvPr>
            <p:ph type="body" idx="1"/>
          </p:nvPr>
        </p:nvSpPr>
        <p:spPr/>
        <p:txBody>
          <a:bodyPr/>
          <a:lstStyle/>
          <a:p>
            <a:r>
              <a:rPr lang="en-US" dirty="0"/>
              <a:t>[MEMBER 1 — CONCLUSION] To bring this together: the core problem was never one single bug — it was a structure that let every module reach freely into every other module, so a fix anywhere could break something anywhere else. What we did was apply four familiar OOP concepts — class, encapsulation, inheritance, and association — as the actual mechanism to enforce boundaries between Patient, Appointment, Billing, Pharmacy, and the staff hierarchy. And the payoff isn't abstract: it shows up as fewer files touched per change, safer scaling when new modules are added, and no duplicated staff logic. The bigger point we want to leave you with is this — in a system where downtime or a bad update can delay patient care, disciplined object-oriented design isn't just good engineering practice, it's a patient-safety measure. Thank you — we're happy to take your questions.</a:t>
            </a:r>
          </a:p>
        </p:txBody>
      </p:sp>
      <p:sp>
        <p:nvSpPr>
          <p:cNvPr id="4" name="Slide Number Placeholder 3">
            <a:extLst>
              <a:ext uri="{FF2B5EF4-FFF2-40B4-BE49-F238E27FC236}">
                <a16:creationId xmlns:a16="http://schemas.microsoft.com/office/drawing/2014/main" id="{2A756F72-83D4-93F6-C551-5A182B91E046}"/>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7724309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3F3C"/>
        </a:solidFill>
        <a:effectLst/>
      </p:bgPr>
    </p:bg>
    <p:spTree>
      <p:nvGrpSpPr>
        <p:cNvPr id="1" name=""/>
        <p:cNvGrpSpPr/>
        <p:nvPr/>
      </p:nvGrpSpPr>
      <p:grpSpPr>
        <a:xfrm>
          <a:off x="0" y="0"/>
          <a:ext cx="0" cy="0"/>
          <a:chOff x="0" y="0"/>
          <a:chExt cx="0" cy="0"/>
        </a:xfrm>
      </p:grpSpPr>
      <p:sp>
        <p:nvSpPr>
          <p:cNvPr id="2" name="Shape 0"/>
          <p:cNvSpPr/>
          <p:nvPr/>
        </p:nvSpPr>
        <p:spPr>
          <a:xfrm>
            <a:off x="0" y="342900"/>
            <a:ext cx="12188952" cy="6858000"/>
          </a:xfrm>
          <a:prstGeom prst="rect">
            <a:avLst/>
          </a:prstGeom>
          <a:solidFill>
            <a:srgbClr val="0A3F3C"/>
          </a:solidFill>
          <a:ln/>
        </p:spPr>
      </p:sp>
      <p:sp>
        <p:nvSpPr>
          <p:cNvPr id="3" name="Shape 1"/>
          <p:cNvSpPr/>
          <p:nvPr/>
        </p:nvSpPr>
        <p:spPr>
          <a:xfrm>
            <a:off x="8778240" y="-2011680"/>
            <a:ext cx="6400800" cy="6400800"/>
          </a:xfrm>
          <a:prstGeom prst="ellipse">
            <a:avLst/>
          </a:prstGeom>
          <a:solidFill>
            <a:srgbClr val="0E6E67"/>
          </a:solidFill>
          <a:ln/>
        </p:spPr>
      </p:sp>
      <p:sp>
        <p:nvSpPr>
          <p:cNvPr id="4" name="Shape 2"/>
          <p:cNvSpPr/>
          <p:nvPr/>
        </p:nvSpPr>
        <p:spPr>
          <a:xfrm>
            <a:off x="9875520" y="4206240"/>
            <a:ext cx="3657600" cy="3657600"/>
          </a:xfrm>
          <a:prstGeom prst="ellipse">
            <a:avLst/>
          </a:prstGeom>
          <a:solidFill>
            <a:srgbClr val="2FA39B"/>
          </a:solidFill>
          <a:ln/>
        </p:spPr>
      </p:sp>
      <p:sp>
        <p:nvSpPr>
          <p:cNvPr id="5" name="Text 3"/>
          <p:cNvSpPr/>
          <p:nvPr/>
        </p:nvSpPr>
        <p:spPr>
          <a:xfrm>
            <a:off x="502920" y="1698403"/>
            <a:ext cx="9601200" cy="320040"/>
          </a:xfrm>
          <a:prstGeom prst="rect">
            <a:avLst/>
          </a:prstGeom>
          <a:noFill/>
          <a:ln/>
        </p:spPr>
        <p:txBody>
          <a:bodyPr wrap="square" rtlCol="0" anchor="ctr"/>
          <a:lstStyle/>
          <a:p>
            <a:pPr marL="0" indent="0">
              <a:buNone/>
            </a:pPr>
            <a:r>
              <a:rPr lang="en-US" sz="1250" b="1" kern="0" spc="150" dirty="0">
                <a:solidFill>
                  <a:srgbClr val="2FA39B"/>
                </a:solidFill>
                <a:latin typeface="Calibri" pitchFamily="34" charset="0"/>
                <a:ea typeface="Calibri" pitchFamily="34" charset="-122"/>
                <a:cs typeface="Calibri" pitchFamily="34" charset="-120"/>
              </a:rPr>
              <a:t>CSA1105  •  OBJECT ORIENTED ANALYSIS AND DESIGN  •  TECHNICAL PRESENTATION</a:t>
            </a:r>
            <a:endParaRPr lang="en-US" sz="1250" dirty="0"/>
          </a:p>
        </p:txBody>
      </p:sp>
      <p:sp>
        <p:nvSpPr>
          <p:cNvPr id="6" name="Text 4"/>
          <p:cNvSpPr/>
          <p:nvPr/>
        </p:nvSpPr>
        <p:spPr>
          <a:xfrm>
            <a:off x="502920" y="1920240"/>
            <a:ext cx="9875520" cy="1920240"/>
          </a:xfrm>
          <a:prstGeom prst="rect">
            <a:avLst/>
          </a:prstGeom>
          <a:noFill/>
          <a:ln/>
        </p:spPr>
        <p:txBody>
          <a:bodyPr wrap="square" rtlCol="0" anchor="ctr"/>
          <a:lstStyle/>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Modular Design in a</a:t>
            </a:r>
            <a:endParaRPr lang="en-US" sz="4400" dirty="0"/>
          </a:p>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Hospital Management System</a:t>
            </a:r>
            <a:endParaRPr lang="en-US" sz="4400" dirty="0"/>
          </a:p>
        </p:txBody>
      </p:sp>
      <p:sp>
        <p:nvSpPr>
          <p:cNvPr id="7" name="Text 5"/>
          <p:cNvSpPr/>
          <p:nvPr/>
        </p:nvSpPr>
        <p:spPr>
          <a:xfrm>
            <a:off x="502920" y="3816382"/>
            <a:ext cx="8412480" cy="731520"/>
          </a:xfrm>
          <a:prstGeom prst="rect">
            <a:avLst/>
          </a:prstGeom>
          <a:noFill/>
          <a:ln/>
        </p:spPr>
        <p:txBody>
          <a:bodyPr wrap="square" rtlCol="0" anchor="ctr"/>
          <a:lstStyle/>
          <a:p>
            <a:pPr marL="0" indent="0">
              <a:buNone/>
            </a:pPr>
            <a:r>
              <a:rPr lang="en-US" sz="1500" i="1" dirty="0">
                <a:solidFill>
                  <a:srgbClr val="CFE8E5"/>
                </a:solidFill>
                <a:latin typeface="Calibri" pitchFamily="34" charset="0"/>
                <a:ea typeface="Calibri" pitchFamily="34" charset="-122"/>
                <a:cs typeface="Calibri" pitchFamily="34" charset="-120"/>
              </a:rPr>
              <a:t>Re-engineering a tightly coupled system with object-oriented principles to improve maintainability, scalability, and reusability.</a:t>
            </a:r>
            <a:endParaRPr lang="en-US" sz="1500" dirty="0"/>
          </a:p>
        </p:txBody>
      </p:sp>
      <p:sp>
        <p:nvSpPr>
          <p:cNvPr id="8" name="Shape 6"/>
          <p:cNvSpPr/>
          <p:nvPr/>
        </p:nvSpPr>
        <p:spPr>
          <a:xfrm>
            <a:off x="0" y="4892040"/>
            <a:ext cx="12188952" cy="1965960"/>
          </a:xfrm>
          <a:prstGeom prst="rect">
            <a:avLst/>
          </a:prstGeom>
          <a:solidFill>
            <a:srgbClr val="0C4E49"/>
          </a:solidFill>
          <a:ln/>
        </p:spPr>
        <p:txBody>
          <a:bodyPr/>
          <a:lstStyle/>
          <a:p>
            <a:endParaRPr lang="en-IN" dirty="0"/>
          </a:p>
        </p:txBody>
      </p:sp>
      <p:sp>
        <p:nvSpPr>
          <p:cNvPr id="9" name="Text 7"/>
          <p:cNvSpPr/>
          <p:nvPr/>
        </p:nvSpPr>
        <p:spPr>
          <a:xfrm>
            <a:off x="502920" y="5074920"/>
            <a:ext cx="3657600" cy="274320"/>
          </a:xfrm>
          <a:prstGeom prst="rect">
            <a:avLst/>
          </a:prstGeom>
          <a:noFill/>
          <a:ln/>
        </p:spPr>
        <p:txBody>
          <a:bodyPr wrap="square" rtlCol="0" anchor="ctr"/>
          <a:lstStyle/>
          <a:p>
            <a:pPr marL="0" indent="0">
              <a:buNone/>
            </a:pPr>
            <a:r>
              <a:rPr lang="en-US" sz="1100" b="1" kern="0" spc="200" dirty="0">
                <a:solidFill>
                  <a:srgbClr val="2FA39B"/>
                </a:solidFill>
                <a:latin typeface="Calibri" pitchFamily="34" charset="0"/>
                <a:ea typeface="Calibri" pitchFamily="34" charset="-122"/>
                <a:cs typeface="Calibri" pitchFamily="34" charset="-120"/>
              </a:rPr>
              <a:t>PRESENTED BY</a:t>
            </a:r>
            <a:endParaRPr lang="en-US" sz="1100" dirty="0"/>
          </a:p>
        </p:txBody>
      </p:sp>
      <p:sp>
        <p:nvSpPr>
          <p:cNvPr id="10" name="Text 8"/>
          <p:cNvSpPr/>
          <p:nvPr/>
        </p:nvSpPr>
        <p:spPr>
          <a:xfrm>
            <a:off x="502920" y="5440680"/>
            <a:ext cx="2606040" cy="365760"/>
          </a:xfrm>
          <a:prstGeom prst="rect">
            <a:avLst/>
          </a:prstGeom>
          <a:noFill/>
          <a:ln/>
        </p:spPr>
        <p:txBody>
          <a:bodyPr wrap="square"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Tanushri(192521180)</a:t>
            </a:r>
            <a:endParaRPr lang="en-US" sz="1700" dirty="0"/>
          </a:p>
        </p:txBody>
      </p:sp>
      <p:sp>
        <p:nvSpPr>
          <p:cNvPr id="11" name="Text 9"/>
          <p:cNvSpPr/>
          <p:nvPr/>
        </p:nvSpPr>
        <p:spPr>
          <a:xfrm>
            <a:off x="502920" y="5806440"/>
            <a:ext cx="2606040" cy="274320"/>
          </a:xfrm>
          <a:prstGeom prst="rect">
            <a:avLst/>
          </a:prstGeom>
          <a:noFill/>
          <a:ln/>
        </p:spPr>
        <p:txBody>
          <a:bodyPr wrap="square" rtlCol="0" anchor="ctr"/>
          <a:lstStyle/>
          <a:p>
            <a:pPr marL="0" indent="0">
              <a:buNone/>
            </a:pPr>
            <a:r>
              <a:rPr lang="en-US" sz="1050" kern="0" spc="150" dirty="0">
                <a:solidFill>
                  <a:srgbClr val="9FD4CF"/>
                </a:solidFill>
                <a:latin typeface="Calibri" pitchFamily="34" charset="0"/>
                <a:ea typeface="Calibri" pitchFamily="34" charset="-122"/>
                <a:cs typeface="Calibri" pitchFamily="34" charset="-120"/>
              </a:rPr>
              <a:t>TEAM LEADER</a:t>
            </a:r>
            <a:endParaRPr lang="en-US" sz="1050" dirty="0"/>
          </a:p>
        </p:txBody>
      </p:sp>
      <p:sp>
        <p:nvSpPr>
          <p:cNvPr id="12" name="Text 10"/>
          <p:cNvSpPr/>
          <p:nvPr/>
        </p:nvSpPr>
        <p:spPr>
          <a:xfrm>
            <a:off x="3337560" y="5440680"/>
            <a:ext cx="2606040" cy="365760"/>
          </a:xfrm>
          <a:prstGeom prst="rect">
            <a:avLst/>
          </a:prstGeom>
          <a:noFill/>
          <a:ln/>
        </p:spPr>
        <p:txBody>
          <a:bodyPr wrap="square" rtlCol="0" anchor="ctr"/>
          <a:lstStyle/>
          <a:p>
            <a:pPr marL="0" indent="0">
              <a:buNone/>
            </a:pPr>
            <a:r>
              <a:rPr lang="en-US" sz="1700" b="1" dirty="0">
                <a:solidFill>
                  <a:srgbClr val="FFFFFF"/>
                </a:solidFill>
                <a:latin typeface="Cambria" pitchFamily="34" charset="0"/>
                <a:ea typeface="Cambria" pitchFamily="34" charset="-122"/>
              </a:rPr>
              <a:t>Nithya D(192511376)</a:t>
            </a:r>
            <a:endParaRPr lang="en-US" sz="1700" dirty="0"/>
          </a:p>
        </p:txBody>
      </p:sp>
      <p:sp>
        <p:nvSpPr>
          <p:cNvPr id="13" name="Text 11"/>
          <p:cNvSpPr/>
          <p:nvPr/>
        </p:nvSpPr>
        <p:spPr>
          <a:xfrm>
            <a:off x="3337560" y="5806440"/>
            <a:ext cx="2606040" cy="274320"/>
          </a:xfrm>
          <a:prstGeom prst="rect">
            <a:avLst/>
          </a:prstGeom>
          <a:noFill/>
          <a:ln/>
        </p:spPr>
        <p:txBody>
          <a:bodyPr wrap="square" rtlCol="0" anchor="ctr"/>
          <a:lstStyle/>
          <a:p>
            <a:pPr marL="0" indent="0">
              <a:buNone/>
            </a:pPr>
            <a:r>
              <a:rPr lang="en-US" sz="1050" kern="0" spc="150" dirty="0">
                <a:solidFill>
                  <a:srgbClr val="9FD4CF"/>
                </a:solidFill>
                <a:latin typeface="Calibri" pitchFamily="34" charset="0"/>
                <a:ea typeface="Calibri" pitchFamily="34" charset="-122"/>
                <a:cs typeface="Calibri" pitchFamily="34" charset="-120"/>
              </a:rPr>
              <a:t>RESEARCHER</a:t>
            </a:r>
            <a:endParaRPr lang="en-US" sz="1050" dirty="0"/>
          </a:p>
        </p:txBody>
      </p:sp>
      <p:sp>
        <p:nvSpPr>
          <p:cNvPr id="14" name="Text 12"/>
          <p:cNvSpPr/>
          <p:nvPr/>
        </p:nvSpPr>
        <p:spPr>
          <a:xfrm>
            <a:off x="6172200" y="5440680"/>
            <a:ext cx="2606040" cy="365760"/>
          </a:xfrm>
          <a:prstGeom prst="rect">
            <a:avLst/>
          </a:prstGeom>
          <a:noFill/>
          <a:ln/>
        </p:spPr>
        <p:txBody>
          <a:bodyPr wrap="square"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Rashmi Naurene(1192521357)</a:t>
            </a:r>
            <a:endParaRPr lang="en-US" sz="1700" dirty="0"/>
          </a:p>
        </p:txBody>
      </p:sp>
      <p:sp>
        <p:nvSpPr>
          <p:cNvPr id="15" name="Text 13"/>
          <p:cNvSpPr/>
          <p:nvPr/>
        </p:nvSpPr>
        <p:spPr>
          <a:xfrm>
            <a:off x="6172200" y="5806440"/>
            <a:ext cx="2606040" cy="274320"/>
          </a:xfrm>
          <a:prstGeom prst="rect">
            <a:avLst/>
          </a:prstGeom>
          <a:noFill/>
          <a:ln/>
        </p:spPr>
        <p:txBody>
          <a:bodyPr wrap="square" rtlCol="0" anchor="ctr"/>
          <a:lstStyle/>
          <a:p>
            <a:pPr marL="0" indent="0">
              <a:buNone/>
            </a:pPr>
            <a:r>
              <a:rPr lang="en-US" sz="1050" kern="0" spc="150" dirty="0">
                <a:solidFill>
                  <a:srgbClr val="9FD4CF"/>
                </a:solidFill>
                <a:latin typeface="Calibri" pitchFamily="34" charset="0"/>
                <a:ea typeface="Calibri" pitchFamily="34" charset="-122"/>
                <a:cs typeface="Calibri" pitchFamily="34" charset="-120"/>
              </a:rPr>
              <a:t>DESIGNER</a:t>
            </a:r>
            <a:endParaRPr lang="en-US" sz="1050" dirty="0"/>
          </a:p>
        </p:txBody>
      </p:sp>
      <p:sp>
        <p:nvSpPr>
          <p:cNvPr id="16" name="Text 14"/>
          <p:cNvSpPr/>
          <p:nvPr/>
        </p:nvSpPr>
        <p:spPr>
          <a:xfrm>
            <a:off x="9006840" y="5440680"/>
            <a:ext cx="2606040" cy="365760"/>
          </a:xfrm>
          <a:prstGeom prst="rect">
            <a:avLst/>
          </a:prstGeom>
          <a:noFill/>
          <a:ln/>
        </p:spPr>
        <p:txBody>
          <a:bodyPr wrap="square" rtlCol="0" anchor="ctr"/>
          <a:lstStyle/>
          <a:p>
            <a:pPr marL="0" indent="0">
              <a:buNone/>
            </a:pPr>
            <a:r>
              <a:rPr lang="en-US" sz="1700" b="1" dirty="0" err="1">
                <a:solidFill>
                  <a:srgbClr val="FFFFFF"/>
                </a:solidFill>
                <a:latin typeface="Cambria" pitchFamily="34" charset="0"/>
                <a:ea typeface="Cambria" pitchFamily="34" charset="-122"/>
                <a:cs typeface="Cambria" pitchFamily="34" charset="-120"/>
              </a:rPr>
              <a:t>Darshinie</a:t>
            </a:r>
            <a:r>
              <a:rPr lang="en-US" sz="1700" b="1" dirty="0">
                <a:solidFill>
                  <a:srgbClr val="FFFFFF"/>
                </a:solidFill>
                <a:latin typeface="Cambria" pitchFamily="34" charset="0"/>
                <a:ea typeface="Cambria" pitchFamily="34" charset="-122"/>
                <a:cs typeface="Cambria" pitchFamily="34" charset="-120"/>
              </a:rPr>
              <a:t>(192520033)</a:t>
            </a:r>
            <a:endParaRPr lang="en-US" sz="1700" dirty="0"/>
          </a:p>
        </p:txBody>
      </p:sp>
      <p:sp>
        <p:nvSpPr>
          <p:cNvPr id="17" name="Text 15"/>
          <p:cNvSpPr/>
          <p:nvPr/>
        </p:nvSpPr>
        <p:spPr>
          <a:xfrm>
            <a:off x="9006840" y="5806440"/>
            <a:ext cx="2606040" cy="274320"/>
          </a:xfrm>
          <a:prstGeom prst="rect">
            <a:avLst/>
          </a:prstGeom>
          <a:noFill/>
          <a:ln/>
        </p:spPr>
        <p:txBody>
          <a:bodyPr wrap="square" rtlCol="0" anchor="ctr"/>
          <a:lstStyle/>
          <a:p>
            <a:pPr marL="0" indent="0">
              <a:buNone/>
            </a:pPr>
            <a:r>
              <a:rPr lang="en-US" sz="1050" kern="0" spc="150" dirty="0">
                <a:solidFill>
                  <a:srgbClr val="9FD4CF"/>
                </a:solidFill>
                <a:latin typeface="Calibri" pitchFamily="34" charset="0"/>
                <a:ea typeface="Calibri" pitchFamily="34" charset="-122"/>
                <a:cs typeface="Calibri" pitchFamily="34" charset="-120"/>
              </a:rPr>
              <a:t>PRESENTER</a:t>
            </a:r>
            <a:endParaRPr lang="en-US" sz="1050" dirty="0"/>
          </a:p>
        </p:txBody>
      </p:sp>
      <p:grpSp>
        <p:nvGrpSpPr>
          <p:cNvPr id="18" name="Group 4">
            <a:extLst>
              <a:ext uri="{FF2B5EF4-FFF2-40B4-BE49-F238E27FC236}">
                <a16:creationId xmlns:a16="http://schemas.microsoft.com/office/drawing/2014/main" id="{E3911CFF-C6E7-4008-8920-1189BE298DBB}"/>
              </a:ext>
            </a:extLst>
          </p:cNvPr>
          <p:cNvGrpSpPr/>
          <p:nvPr/>
        </p:nvGrpSpPr>
        <p:grpSpPr>
          <a:xfrm>
            <a:off x="256317" y="210789"/>
            <a:ext cx="4555046" cy="1098994"/>
            <a:chOff x="0" y="0"/>
            <a:chExt cx="6073394" cy="1465326"/>
          </a:xfrm>
        </p:grpSpPr>
        <p:sp>
          <p:nvSpPr>
            <p:cNvPr id="19" name="Freeform 5">
              <a:extLst>
                <a:ext uri="{FF2B5EF4-FFF2-40B4-BE49-F238E27FC236}">
                  <a16:creationId xmlns:a16="http://schemas.microsoft.com/office/drawing/2014/main" id="{BD299F5C-467F-EAAB-A56D-2D899E47295B}"/>
                </a:ext>
              </a:extLst>
            </p:cNvPr>
            <p:cNvSpPr/>
            <p:nvPr/>
          </p:nvSpPr>
          <p:spPr>
            <a:xfrm>
              <a:off x="0" y="0"/>
              <a:ext cx="6073394" cy="1465326"/>
            </a:xfrm>
            <a:custGeom>
              <a:avLst/>
              <a:gdLst/>
              <a:ahLst/>
              <a:cxnLst/>
              <a:rect l="l" t="t" r="r" b="b"/>
              <a:pathLst>
                <a:path w="6073394" h="1465326">
                  <a:moveTo>
                    <a:pt x="0" y="0"/>
                  </a:moveTo>
                  <a:lnTo>
                    <a:pt x="6073394" y="0"/>
                  </a:lnTo>
                  <a:lnTo>
                    <a:pt x="6073394" y="1465326"/>
                  </a:lnTo>
                  <a:lnTo>
                    <a:pt x="0" y="1465326"/>
                  </a:lnTo>
                  <a:lnTo>
                    <a:pt x="0" y="0"/>
                  </a:lnTo>
                  <a:close/>
                </a:path>
              </a:pathLst>
            </a:custGeom>
            <a:blipFill>
              <a:blip r:embed="rId3"/>
              <a:stretch>
                <a:fillRect t="-1" b="-1"/>
              </a:stretch>
            </a:blipFill>
          </p:spPr>
        </p:sp>
      </p:grpSp>
      <p:grpSp>
        <p:nvGrpSpPr>
          <p:cNvPr id="20" name="Group 6">
            <a:extLst>
              <a:ext uri="{FF2B5EF4-FFF2-40B4-BE49-F238E27FC236}">
                <a16:creationId xmlns:a16="http://schemas.microsoft.com/office/drawing/2014/main" id="{0C7B4E72-5F94-F328-D882-6D930E3A04E0}"/>
              </a:ext>
            </a:extLst>
          </p:cNvPr>
          <p:cNvGrpSpPr/>
          <p:nvPr/>
        </p:nvGrpSpPr>
        <p:grpSpPr>
          <a:xfrm>
            <a:off x="7195566" y="274415"/>
            <a:ext cx="4537329" cy="953834"/>
            <a:chOff x="0" y="0"/>
            <a:chExt cx="6049772" cy="1271778"/>
          </a:xfrm>
        </p:grpSpPr>
        <p:sp>
          <p:nvSpPr>
            <p:cNvPr id="21" name="Freeform 7">
              <a:extLst>
                <a:ext uri="{FF2B5EF4-FFF2-40B4-BE49-F238E27FC236}">
                  <a16:creationId xmlns:a16="http://schemas.microsoft.com/office/drawing/2014/main" id="{4FDBB458-B128-3836-83DF-EEFEE39C0FA3}"/>
                </a:ext>
              </a:extLst>
            </p:cNvPr>
            <p:cNvSpPr/>
            <p:nvPr/>
          </p:nvSpPr>
          <p:spPr>
            <a:xfrm>
              <a:off x="0" y="0"/>
              <a:ext cx="6049772" cy="1271778"/>
            </a:xfrm>
            <a:custGeom>
              <a:avLst/>
              <a:gdLst/>
              <a:ahLst/>
              <a:cxnLst/>
              <a:rect l="l" t="t" r="r" b="b"/>
              <a:pathLst>
                <a:path w="6049772" h="1271778">
                  <a:moveTo>
                    <a:pt x="0" y="0"/>
                  </a:moveTo>
                  <a:lnTo>
                    <a:pt x="6049772" y="0"/>
                  </a:lnTo>
                  <a:lnTo>
                    <a:pt x="6049772" y="1271778"/>
                  </a:lnTo>
                  <a:lnTo>
                    <a:pt x="0" y="1271778"/>
                  </a:lnTo>
                  <a:lnTo>
                    <a:pt x="0" y="0"/>
                  </a:lnTo>
                  <a:close/>
                </a:path>
              </a:pathLst>
            </a:custGeom>
            <a:blipFill>
              <a:blip r:embed="rId4"/>
              <a:stretch>
                <a:fillRect l="-2" r="-2"/>
              </a:stretch>
            </a:blipFill>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5486400" cy="274320"/>
          </a:xfrm>
          <a:prstGeom prst="rect">
            <a:avLst/>
          </a:prstGeom>
          <a:noFill/>
          <a:ln/>
        </p:spPr>
        <p:txBody>
          <a:bodyPr wrap="square" rtlCol="0" anchor="ctr"/>
          <a:lstStyle/>
          <a:p>
            <a:pPr marL="0" indent="0">
              <a:buNone/>
            </a:pPr>
            <a:r>
              <a:rPr lang="en-US" sz="1100" b="1" kern="0" spc="200" dirty="0">
                <a:solidFill>
                  <a:srgbClr val="0E6E67"/>
                </a:solidFill>
                <a:latin typeface="Calibri" pitchFamily="34" charset="0"/>
                <a:ea typeface="Calibri" pitchFamily="34" charset="-122"/>
                <a:cs typeface="Calibri" pitchFamily="34" charset="-120"/>
              </a:rPr>
              <a:t>OUR TEAM</a:t>
            </a:r>
            <a:endParaRPr lang="en-US" sz="1100" dirty="0"/>
          </a:p>
        </p:txBody>
      </p:sp>
      <p:sp>
        <p:nvSpPr>
          <p:cNvPr id="3" name="Text 1"/>
          <p:cNvSpPr/>
          <p:nvPr/>
        </p:nvSpPr>
        <p:spPr>
          <a:xfrm>
            <a:off x="502920" y="594360"/>
            <a:ext cx="10058400" cy="640080"/>
          </a:xfrm>
          <a:prstGeom prst="rect">
            <a:avLst/>
          </a:prstGeom>
          <a:noFill/>
          <a:ln/>
        </p:spPr>
        <p:txBody>
          <a:bodyPr wrap="square" rtlCol="0" anchor="ctr"/>
          <a:lstStyle/>
          <a:p>
            <a:pPr marL="0" indent="0">
              <a:buNone/>
            </a:pPr>
            <a:r>
              <a:rPr lang="en-US" sz="3200" b="1" dirty="0">
                <a:solidFill>
                  <a:srgbClr val="16221F"/>
                </a:solidFill>
                <a:latin typeface="Cambria" pitchFamily="34" charset="0"/>
                <a:ea typeface="Cambria" pitchFamily="34" charset="-122"/>
                <a:cs typeface="Cambria" pitchFamily="34" charset="-120"/>
              </a:rPr>
              <a:t>Meet the Team &amp; Roles</a:t>
            </a:r>
            <a:endParaRPr lang="en-US" sz="3200" dirty="0"/>
          </a:p>
        </p:txBody>
      </p:sp>
      <p:sp>
        <p:nvSpPr>
          <p:cNvPr id="4" name="Text 2"/>
          <p:cNvSpPr/>
          <p:nvPr/>
        </p:nvSpPr>
        <p:spPr>
          <a:xfrm>
            <a:off x="502920" y="1234440"/>
            <a:ext cx="9601200" cy="365760"/>
          </a:xfrm>
          <a:prstGeom prst="rect">
            <a:avLst/>
          </a:prstGeom>
          <a:noFill/>
          <a:ln/>
        </p:spPr>
        <p:txBody>
          <a:bodyPr wrap="square" rtlCol="0" anchor="ctr"/>
          <a:lstStyle/>
          <a:p>
            <a:pPr marL="0" indent="0">
              <a:buNone/>
            </a:pPr>
            <a:r>
              <a:rPr lang="en-US" sz="1350" i="1" dirty="0">
                <a:solidFill>
                  <a:srgbClr val="4C5C59"/>
                </a:solidFill>
                <a:latin typeface="Calibri" pitchFamily="34" charset="0"/>
                <a:ea typeface="Calibri" pitchFamily="34" charset="-122"/>
                <a:cs typeface="Calibri" pitchFamily="34" charset="-120"/>
              </a:rPr>
              <a:t>Four roles, one shared goal — a clear, well-researched, confidently delivered presentation.</a:t>
            </a:r>
            <a:endParaRPr lang="en-US" sz="1350" dirty="0"/>
          </a:p>
        </p:txBody>
      </p:sp>
      <p:sp>
        <p:nvSpPr>
          <p:cNvPr id="5" name="Shape 3"/>
          <p:cNvSpPr/>
          <p:nvPr/>
        </p:nvSpPr>
        <p:spPr>
          <a:xfrm>
            <a:off x="502920" y="1828800"/>
            <a:ext cx="2578608" cy="4023360"/>
          </a:xfrm>
          <a:prstGeom prst="roundRect">
            <a:avLst>
              <a:gd name="adj" fmla="val 2837"/>
            </a:avLst>
          </a:prstGeom>
          <a:solidFill>
            <a:srgbClr val="EAF6F4"/>
          </a:solidFill>
          <a:ln/>
          <a:effectLst>
            <a:outerShdw blurRad="76200" dist="38100" dir="5400000" algn="bl" rotWithShape="0">
              <a:srgbClr val="1B2B2A">
                <a:alpha val="18000"/>
              </a:srgbClr>
            </a:outerShdw>
          </a:effectLst>
        </p:spPr>
      </p:sp>
      <p:sp>
        <p:nvSpPr>
          <p:cNvPr id="6" name="Shape 4"/>
          <p:cNvSpPr/>
          <p:nvPr/>
        </p:nvSpPr>
        <p:spPr>
          <a:xfrm>
            <a:off x="1472184" y="2103120"/>
            <a:ext cx="640080" cy="640080"/>
          </a:xfrm>
          <a:prstGeom prst="ellipse">
            <a:avLst/>
          </a:prstGeom>
          <a:solidFill>
            <a:srgbClr val="0E6E67"/>
          </a:solidFill>
          <a:ln/>
        </p:spPr>
      </p:sp>
      <p:sp>
        <p:nvSpPr>
          <p:cNvPr id="7" name="Text 5"/>
          <p:cNvSpPr/>
          <p:nvPr/>
        </p:nvSpPr>
        <p:spPr>
          <a:xfrm>
            <a:off x="1472184" y="2103120"/>
            <a:ext cx="640080" cy="64008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8" name="Text 6"/>
          <p:cNvSpPr/>
          <p:nvPr/>
        </p:nvSpPr>
        <p:spPr>
          <a:xfrm>
            <a:off x="640080" y="2880360"/>
            <a:ext cx="2304288" cy="365760"/>
          </a:xfrm>
          <a:prstGeom prst="rect">
            <a:avLst/>
          </a:prstGeom>
          <a:noFill/>
          <a:ln/>
        </p:spPr>
        <p:txBody>
          <a:bodyPr wrap="square" rtlCol="0" anchor="ctr"/>
          <a:lstStyle/>
          <a:p>
            <a:pPr marL="0" indent="0" algn="ctr">
              <a:buNone/>
            </a:pPr>
            <a:r>
              <a:rPr lang="en-US" sz="1600" b="1" dirty="0">
                <a:solidFill>
                  <a:srgbClr val="16221F"/>
                </a:solidFill>
                <a:latin typeface="Cambria" pitchFamily="34" charset="0"/>
                <a:ea typeface="Cambria" pitchFamily="34" charset="-122"/>
                <a:cs typeface="Cambria" pitchFamily="34" charset="-120"/>
              </a:rPr>
              <a:t>Team Leader</a:t>
            </a:r>
            <a:endParaRPr lang="en-US" sz="1600" dirty="0"/>
          </a:p>
        </p:txBody>
      </p:sp>
      <p:sp>
        <p:nvSpPr>
          <p:cNvPr id="9" name="Text 7"/>
          <p:cNvSpPr/>
          <p:nvPr/>
        </p:nvSpPr>
        <p:spPr>
          <a:xfrm>
            <a:off x="640080" y="3246120"/>
            <a:ext cx="2304288" cy="274320"/>
          </a:xfrm>
          <a:prstGeom prst="rect">
            <a:avLst/>
          </a:prstGeom>
          <a:noFill/>
          <a:ln/>
        </p:spPr>
        <p:txBody>
          <a:bodyPr wrap="square" rtlCol="0" anchor="ctr"/>
          <a:lstStyle/>
          <a:p>
            <a:pPr marL="0" indent="0" algn="ctr">
              <a:buNone/>
            </a:pPr>
            <a:r>
              <a:rPr lang="en-US" sz="1150" b="1" dirty="0">
                <a:solidFill>
                  <a:srgbClr val="0E6E67"/>
                </a:solidFill>
                <a:latin typeface="Calibri" pitchFamily="34" charset="0"/>
                <a:ea typeface="Calibri" pitchFamily="34" charset="-122"/>
                <a:cs typeface="Calibri" pitchFamily="34" charset="-120"/>
              </a:rPr>
              <a:t>Tanushri</a:t>
            </a:r>
            <a:endParaRPr lang="en-US" sz="1150" dirty="0"/>
          </a:p>
        </p:txBody>
      </p:sp>
      <p:sp>
        <p:nvSpPr>
          <p:cNvPr id="10" name="Text 8"/>
          <p:cNvSpPr/>
          <p:nvPr/>
        </p:nvSpPr>
        <p:spPr>
          <a:xfrm>
            <a:off x="704088" y="3657600"/>
            <a:ext cx="2176272" cy="2057400"/>
          </a:xfrm>
          <a:prstGeom prst="rect">
            <a:avLst/>
          </a:prstGeom>
          <a:noFill/>
          <a:ln/>
        </p:spPr>
        <p:txBody>
          <a:bodyPr wrap="square" rtlCol="0" anchor="ctr"/>
          <a:lstStyle/>
          <a:p>
            <a:pPr marL="0" indent="0" algn="l">
              <a:lnSpc>
                <a:spcPct val="115000"/>
              </a:lnSpc>
              <a:buNone/>
            </a:pPr>
            <a:r>
              <a:rPr lang="en-US" sz="1100" dirty="0">
                <a:solidFill>
                  <a:srgbClr val="4C5C59"/>
                </a:solidFill>
                <a:latin typeface="Calibri" pitchFamily="34" charset="0"/>
                <a:ea typeface="Calibri" pitchFamily="34" charset="-122"/>
                <a:cs typeface="Calibri" pitchFamily="34" charset="-120"/>
              </a:rPr>
              <a:t>Coordinates the group, keeps the timeline on track, opens and closes the presentation, and makes sure every section connects into one coherent story.</a:t>
            </a:r>
            <a:endParaRPr lang="en-US" sz="1100" dirty="0"/>
          </a:p>
        </p:txBody>
      </p:sp>
      <p:sp>
        <p:nvSpPr>
          <p:cNvPr id="11" name="Shape 9"/>
          <p:cNvSpPr/>
          <p:nvPr/>
        </p:nvSpPr>
        <p:spPr>
          <a:xfrm>
            <a:off x="3282696" y="1828800"/>
            <a:ext cx="2578608" cy="4023360"/>
          </a:xfrm>
          <a:prstGeom prst="roundRect">
            <a:avLst>
              <a:gd name="adj" fmla="val 2837"/>
            </a:avLst>
          </a:prstGeom>
          <a:solidFill>
            <a:srgbClr val="EAF6F4"/>
          </a:solidFill>
          <a:ln/>
          <a:effectLst>
            <a:outerShdw blurRad="76200" dist="38100" dir="5400000" algn="bl" rotWithShape="0">
              <a:srgbClr val="1B2B2A">
                <a:alpha val="18000"/>
              </a:srgbClr>
            </a:outerShdw>
          </a:effectLst>
        </p:spPr>
        <p:txBody>
          <a:bodyPr/>
          <a:lstStyle/>
          <a:p>
            <a:endParaRPr lang="en-IN" dirty="0"/>
          </a:p>
        </p:txBody>
      </p:sp>
      <p:sp>
        <p:nvSpPr>
          <p:cNvPr id="12" name="Shape 10"/>
          <p:cNvSpPr/>
          <p:nvPr/>
        </p:nvSpPr>
        <p:spPr>
          <a:xfrm>
            <a:off x="4251960" y="2103120"/>
            <a:ext cx="640080" cy="640080"/>
          </a:xfrm>
          <a:prstGeom prst="ellipse">
            <a:avLst/>
          </a:prstGeom>
          <a:solidFill>
            <a:srgbClr val="0E6E67"/>
          </a:solidFill>
          <a:ln/>
        </p:spPr>
      </p:sp>
      <p:sp>
        <p:nvSpPr>
          <p:cNvPr id="13" name="Text 11"/>
          <p:cNvSpPr/>
          <p:nvPr/>
        </p:nvSpPr>
        <p:spPr>
          <a:xfrm>
            <a:off x="4251960" y="2103120"/>
            <a:ext cx="640080" cy="64008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4" name="Text 12"/>
          <p:cNvSpPr/>
          <p:nvPr/>
        </p:nvSpPr>
        <p:spPr>
          <a:xfrm>
            <a:off x="3419856" y="2880360"/>
            <a:ext cx="2304288" cy="365760"/>
          </a:xfrm>
          <a:prstGeom prst="rect">
            <a:avLst/>
          </a:prstGeom>
          <a:noFill/>
          <a:ln/>
        </p:spPr>
        <p:txBody>
          <a:bodyPr wrap="square" rtlCol="0" anchor="ctr"/>
          <a:lstStyle/>
          <a:p>
            <a:pPr marL="0" indent="0" algn="ctr">
              <a:buNone/>
            </a:pPr>
            <a:r>
              <a:rPr lang="en-US" sz="1600" b="1" dirty="0">
                <a:solidFill>
                  <a:srgbClr val="16221F"/>
                </a:solidFill>
                <a:latin typeface="Cambria" pitchFamily="34" charset="0"/>
                <a:ea typeface="Cambria" pitchFamily="34" charset="-122"/>
                <a:cs typeface="Cambria" pitchFamily="34" charset="-120"/>
              </a:rPr>
              <a:t>Researcher</a:t>
            </a:r>
            <a:endParaRPr lang="en-US" sz="1600" dirty="0"/>
          </a:p>
        </p:txBody>
      </p:sp>
      <p:sp>
        <p:nvSpPr>
          <p:cNvPr id="15" name="Text 13"/>
          <p:cNvSpPr/>
          <p:nvPr/>
        </p:nvSpPr>
        <p:spPr>
          <a:xfrm>
            <a:off x="3419856" y="3246120"/>
            <a:ext cx="2304288" cy="274320"/>
          </a:xfrm>
          <a:prstGeom prst="rect">
            <a:avLst/>
          </a:prstGeom>
          <a:noFill/>
          <a:ln/>
        </p:spPr>
        <p:txBody>
          <a:bodyPr wrap="square" rtlCol="0" anchor="ctr"/>
          <a:lstStyle/>
          <a:p>
            <a:pPr marL="0" indent="0" algn="ctr">
              <a:buNone/>
            </a:pPr>
            <a:r>
              <a:rPr lang="en-US" sz="1150" b="1" dirty="0">
                <a:solidFill>
                  <a:srgbClr val="0E6E67"/>
                </a:solidFill>
                <a:latin typeface="Calibri" pitchFamily="34" charset="0"/>
                <a:ea typeface="Calibri" pitchFamily="34" charset="-122"/>
                <a:cs typeface="Calibri" pitchFamily="34" charset="-120"/>
              </a:rPr>
              <a:t>Nithya D</a:t>
            </a:r>
            <a:endParaRPr lang="en-US" sz="1150" dirty="0"/>
          </a:p>
        </p:txBody>
      </p:sp>
      <p:sp>
        <p:nvSpPr>
          <p:cNvPr id="16" name="Text 14"/>
          <p:cNvSpPr/>
          <p:nvPr/>
        </p:nvSpPr>
        <p:spPr>
          <a:xfrm>
            <a:off x="3483864" y="3657600"/>
            <a:ext cx="2176272" cy="2057400"/>
          </a:xfrm>
          <a:prstGeom prst="rect">
            <a:avLst/>
          </a:prstGeom>
          <a:noFill/>
          <a:ln/>
        </p:spPr>
        <p:txBody>
          <a:bodyPr wrap="square" rtlCol="0" anchor="ctr"/>
          <a:lstStyle/>
          <a:p>
            <a:pPr marL="0" indent="0" algn="l">
              <a:lnSpc>
                <a:spcPct val="115000"/>
              </a:lnSpc>
              <a:buNone/>
            </a:pPr>
            <a:r>
              <a:rPr lang="en-US" sz="1100" dirty="0">
                <a:solidFill>
                  <a:srgbClr val="4C5C59"/>
                </a:solidFill>
                <a:latin typeface="Calibri" pitchFamily="34" charset="0"/>
                <a:ea typeface="Calibri" pitchFamily="34" charset="-122"/>
                <a:cs typeface="Calibri" pitchFamily="34" charset="-120"/>
              </a:rPr>
              <a:t>Investigates the real problems tightly-coupled hospital systems face, gathers supporting evidence, and owns the Problem Statement section.</a:t>
            </a:r>
            <a:endParaRPr lang="en-US" sz="1100" dirty="0"/>
          </a:p>
        </p:txBody>
      </p:sp>
      <p:sp>
        <p:nvSpPr>
          <p:cNvPr id="17" name="Shape 15"/>
          <p:cNvSpPr/>
          <p:nvPr/>
        </p:nvSpPr>
        <p:spPr>
          <a:xfrm>
            <a:off x="6062472" y="1828800"/>
            <a:ext cx="2578608" cy="4023360"/>
          </a:xfrm>
          <a:prstGeom prst="roundRect">
            <a:avLst>
              <a:gd name="adj" fmla="val 2837"/>
            </a:avLst>
          </a:prstGeom>
          <a:solidFill>
            <a:srgbClr val="EAF6F4"/>
          </a:solidFill>
          <a:ln/>
          <a:effectLst>
            <a:outerShdw blurRad="76200" dist="38100" dir="5400000" algn="bl" rotWithShape="0">
              <a:srgbClr val="1B2B2A">
                <a:alpha val="18000"/>
              </a:srgbClr>
            </a:outerShdw>
          </a:effectLst>
        </p:spPr>
      </p:sp>
      <p:sp>
        <p:nvSpPr>
          <p:cNvPr id="18" name="Shape 16"/>
          <p:cNvSpPr/>
          <p:nvPr/>
        </p:nvSpPr>
        <p:spPr>
          <a:xfrm>
            <a:off x="7031736" y="2103120"/>
            <a:ext cx="640080" cy="640080"/>
          </a:xfrm>
          <a:prstGeom prst="ellipse">
            <a:avLst/>
          </a:prstGeom>
          <a:solidFill>
            <a:srgbClr val="0E6E67"/>
          </a:solidFill>
          <a:ln/>
        </p:spPr>
      </p:sp>
      <p:sp>
        <p:nvSpPr>
          <p:cNvPr id="19" name="Text 17"/>
          <p:cNvSpPr/>
          <p:nvPr/>
        </p:nvSpPr>
        <p:spPr>
          <a:xfrm>
            <a:off x="7031736" y="2103120"/>
            <a:ext cx="640080" cy="64008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20" name="Text 18"/>
          <p:cNvSpPr/>
          <p:nvPr/>
        </p:nvSpPr>
        <p:spPr>
          <a:xfrm>
            <a:off x="6199632" y="2880360"/>
            <a:ext cx="2304288" cy="365760"/>
          </a:xfrm>
          <a:prstGeom prst="rect">
            <a:avLst/>
          </a:prstGeom>
          <a:noFill/>
          <a:ln/>
        </p:spPr>
        <p:txBody>
          <a:bodyPr wrap="square" rtlCol="0" anchor="ctr"/>
          <a:lstStyle/>
          <a:p>
            <a:pPr marL="0" indent="0" algn="ctr">
              <a:buNone/>
            </a:pPr>
            <a:r>
              <a:rPr lang="en-US" sz="1600" b="1" dirty="0">
                <a:solidFill>
                  <a:srgbClr val="16221F"/>
                </a:solidFill>
                <a:latin typeface="Cambria" pitchFamily="34" charset="0"/>
                <a:ea typeface="Cambria" pitchFamily="34" charset="-122"/>
                <a:cs typeface="Cambria" pitchFamily="34" charset="-120"/>
              </a:rPr>
              <a:t>Designer</a:t>
            </a:r>
            <a:endParaRPr lang="en-US" sz="1600" dirty="0"/>
          </a:p>
        </p:txBody>
      </p:sp>
      <p:sp>
        <p:nvSpPr>
          <p:cNvPr id="21" name="Text 19"/>
          <p:cNvSpPr/>
          <p:nvPr/>
        </p:nvSpPr>
        <p:spPr>
          <a:xfrm>
            <a:off x="6199632" y="3246120"/>
            <a:ext cx="2304288" cy="274320"/>
          </a:xfrm>
          <a:prstGeom prst="rect">
            <a:avLst/>
          </a:prstGeom>
          <a:noFill/>
          <a:ln/>
        </p:spPr>
        <p:txBody>
          <a:bodyPr wrap="square" rtlCol="0" anchor="ctr"/>
          <a:lstStyle/>
          <a:p>
            <a:pPr marL="0" indent="0" algn="ctr">
              <a:buNone/>
            </a:pPr>
            <a:r>
              <a:rPr lang="en-US" sz="1150" b="1" dirty="0">
                <a:solidFill>
                  <a:srgbClr val="0E6E67"/>
                </a:solidFill>
                <a:latin typeface="Calibri" pitchFamily="34" charset="0"/>
                <a:ea typeface="Calibri" pitchFamily="34" charset="-122"/>
                <a:cs typeface="Calibri" pitchFamily="34" charset="-120"/>
              </a:rPr>
              <a:t>Rashmi Naurene</a:t>
            </a:r>
            <a:endParaRPr lang="en-US" sz="1150" dirty="0"/>
          </a:p>
        </p:txBody>
      </p:sp>
      <p:sp>
        <p:nvSpPr>
          <p:cNvPr id="22" name="Text 20"/>
          <p:cNvSpPr/>
          <p:nvPr/>
        </p:nvSpPr>
        <p:spPr>
          <a:xfrm>
            <a:off x="6263640" y="3657600"/>
            <a:ext cx="2176272" cy="2057400"/>
          </a:xfrm>
          <a:prstGeom prst="rect">
            <a:avLst/>
          </a:prstGeom>
          <a:noFill/>
          <a:ln/>
        </p:spPr>
        <p:txBody>
          <a:bodyPr wrap="square" rtlCol="0" anchor="ctr"/>
          <a:lstStyle/>
          <a:p>
            <a:pPr marL="0" indent="0" algn="l">
              <a:lnSpc>
                <a:spcPct val="115000"/>
              </a:lnSpc>
              <a:buNone/>
            </a:pPr>
            <a:r>
              <a:rPr lang="en-US" sz="1100" dirty="0">
                <a:solidFill>
                  <a:srgbClr val="4C5C59"/>
                </a:solidFill>
                <a:latin typeface="Calibri" pitchFamily="34" charset="0"/>
                <a:ea typeface="Calibri" pitchFamily="34" charset="-122"/>
                <a:cs typeface="Calibri" pitchFamily="34" charset="-120"/>
              </a:rPr>
              <a:t>Designs the object-oriented redesign, builds the class diagram, and explains the Methodology / Approach section.</a:t>
            </a:r>
            <a:endParaRPr lang="en-US" sz="1100" dirty="0"/>
          </a:p>
        </p:txBody>
      </p:sp>
      <p:sp>
        <p:nvSpPr>
          <p:cNvPr id="23" name="Shape 21"/>
          <p:cNvSpPr/>
          <p:nvPr/>
        </p:nvSpPr>
        <p:spPr>
          <a:xfrm>
            <a:off x="8842248" y="1828800"/>
            <a:ext cx="2578608" cy="4023360"/>
          </a:xfrm>
          <a:prstGeom prst="roundRect">
            <a:avLst>
              <a:gd name="adj" fmla="val 2837"/>
            </a:avLst>
          </a:prstGeom>
          <a:solidFill>
            <a:srgbClr val="EAF6F4"/>
          </a:solidFill>
          <a:ln/>
          <a:effectLst>
            <a:outerShdw blurRad="76200" dist="38100" dir="5400000" algn="bl" rotWithShape="0">
              <a:srgbClr val="1B2B2A">
                <a:alpha val="18000"/>
              </a:srgbClr>
            </a:outerShdw>
          </a:effectLst>
        </p:spPr>
      </p:sp>
      <p:sp>
        <p:nvSpPr>
          <p:cNvPr id="24" name="Shape 22"/>
          <p:cNvSpPr/>
          <p:nvPr/>
        </p:nvSpPr>
        <p:spPr>
          <a:xfrm>
            <a:off x="9811512" y="2103120"/>
            <a:ext cx="640080" cy="640080"/>
          </a:xfrm>
          <a:prstGeom prst="ellipse">
            <a:avLst/>
          </a:prstGeom>
          <a:solidFill>
            <a:srgbClr val="0E6E67"/>
          </a:solidFill>
          <a:ln/>
        </p:spPr>
      </p:sp>
      <p:sp>
        <p:nvSpPr>
          <p:cNvPr id="25" name="Text 23"/>
          <p:cNvSpPr/>
          <p:nvPr/>
        </p:nvSpPr>
        <p:spPr>
          <a:xfrm>
            <a:off x="9811512" y="2103120"/>
            <a:ext cx="640080" cy="64008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26" name="Text 24"/>
          <p:cNvSpPr/>
          <p:nvPr/>
        </p:nvSpPr>
        <p:spPr>
          <a:xfrm>
            <a:off x="8979408" y="2880360"/>
            <a:ext cx="2304288" cy="365760"/>
          </a:xfrm>
          <a:prstGeom prst="rect">
            <a:avLst/>
          </a:prstGeom>
          <a:noFill/>
          <a:ln/>
        </p:spPr>
        <p:txBody>
          <a:bodyPr wrap="square" rtlCol="0" anchor="ctr"/>
          <a:lstStyle/>
          <a:p>
            <a:pPr marL="0" indent="0" algn="ctr">
              <a:buNone/>
            </a:pPr>
            <a:r>
              <a:rPr lang="en-US" sz="1600" b="1" dirty="0">
                <a:solidFill>
                  <a:srgbClr val="16221F"/>
                </a:solidFill>
                <a:latin typeface="Cambria" pitchFamily="34" charset="0"/>
                <a:ea typeface="Cambria" pitchFamily="34" charset="-122"/>
                <a:cs typeface="Cambria" pitchFamily="34" charset="-120"/>
              </a:rPr>
              <a:t>Presenter</a:t>
            </a:r>
            <a:endParaRPr lang="en-US" sz="1600" dirty="0"/>
          </a:p>
        </p:txBody>
      </p:sp>
      <p:sp>
        <p:nvSpPr>
          <p:cNvPr id="27" name="Text 25"/>
          <p:cNvSpPr/>
          <p:nvPr/>
        </p:nvSpPr>
        <p:spPr>
          <a:xfrm>
            <a:off x="8979408" y="3246120"/>
            <a:ext cx="2304288" cy="274320"/>
          </a:xfrm>
          <a:prstGeom prst="rect">
            <a:avLst/>
          </a:prstGeom>
          <a:noFill/>
          <a:ln/>
        </p:spPr>
        <p:txBody>
          <a:bodyPr wrap="square" rtlCol="0" anchor="ctr"/>
          <a:lstStyle/>
          <a:p>
            <a:pPr marL="0" indent="0" algn="ctr">
              <a:buNone/>
            </a:pPr>
            <a:r>
              <a:rPr lang="en-US" sz="1150" b="1" dirty="0" err="1">
                <a:solidFill>
                  <a:srgbClr val="0E6E67"/>
                </a:solidFill>
                <a:latin typeface="Calibri" pitchFamily="34" charset="0"/>
                <a:ea typeface="Calibri" pitchFamily="34" charset="-122"/>
                <a:cs typeface="Calibri" pitchFamily="34" charset="-120"/>
              </a:rPr>
              <a:t>Darshinie</a:t>
            </a:r>
            <a:endParaRPr lang="en-US" sz="1150" dirty="0"/>
          </a:p>
        </p:txBody>
      </p:sp>
      <p:sp>
        <p:nvSpPr>
          <p:cNvPr id="28" name="Text 26"/>
          <p:cNvSpPr/>
          <p:nvPr/>
        </p:nvSpPr>
        <p:spPr>
          <a:xfrm>
            <a:off x="9043416" y="3657600"/>
            <a:ext cx="2176272" cy="2057400"/>
          </a:xfrm>
          <a:prstGeom prst="rect">
            <a:avLst/>
          </a:prstGeom>
          <a:noFill/>
          <a:ln/>
        </p:spPr>
        <p:txBody>
          <a:bodyPr wrap="square" rtlCol="0" anchor="ctr"/>
          <a:lstStyle/>
          <a:p>
            <a:pPr marL="0" indent="0" algn="l">
              <a:lnSpc>
                <a:spcPct val="115000"/>
              </a:lnSpc>
              <a:buNone/>
            </a:pPr>
            <a:r>
              <a:rPr lang="en-US" sz="1100" dirty="0">
                <a:solidFill>
                  <a:srgbClr val="4C5C59"/>
                </a:solidFill>
                <a:latin typeface="Calibri" pitchFamily="34" charset="0"/>
                <a:ea typeface="Calibri" pitchFamily="34" charset="-122"/>
                <a:cs typeface="Calibri" pitchFamily="34" charset="-120"/>
              </a:rPr>
              <a:t>Delivers the Results &amp; Findings section, drives audience engagement, and leads the Q&amp;A response.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5486400" cy="274320"/>
          </a:xfrm>
          <a:prstGeom prst="rect">
            <a:avLst/>
          </a:prstGeom>
          <a:noFill/>
          <a:ln/>
        </p:spPr>
        <p:txBody>
          <a:bodyPr wrap="square" rtlCol="0" anchor="ctr"/>
          <a:lstStyle/>
          <a:p>
            <a:pPr marL="0" indent="0">
              <a:buNone/>
            </a:pPr>
            <a:r>
              <a:rPr lang="en-US" sz="1100" b="1" kern="0" spc="200" dirty="0">
                <a:solidFill>
                  <a:srgbClr val="0E6E67"/>
                </a:solidFill>
                <a:latin typeface="Calibri" pitchFamily="34" charset="0"/>
                <a:ea typeface="Calibri" pitchFamily="34" charset="-122"/>
                <a:cs typeface="Calibri" pitchFamily="34" charset="-120"/>
              </a:rPr>
              <a:t>PURPOSE</a:t>
            </a:r>
            <a:endParaRPr lang="en-US" sz="1100" dirty="0"/>
          </a:p>
        </p:txBody>
      </p:sp>
      <p:sp>
        <p:nvSpPr>
          <p:cNvPr id="3" name="Text 1"/>
          <p:cNvSpPr/>
          <p:nvPr/>
        </p:nvSpPr>
        <p:spPr>
          <a:xfrm>
            <a:off x="502920" y="594360"/>
            <a:ext cx="10515600" cy="640080"/>
          </a:xfrm>
          <a:prstGeom prst="rect">
            <a:avLst/>
          </a:prstGeom>
          <a:noFill/>
          <a:ln/>
        </p:spPr>
        <p:txBody>
          <a:bodyPr wrap="square" rtlCol="0" anchor="ctr"/>
          <a:lstStyle/>
          <a:p>
            <a:pPr marL="0" indent="0">
              <a:buNone/>
            </a:pPr>
            <a:r>
              <a:rPr lang="en-US" sz="3000" b="1" dirty="0">
                <a:solidFill>
                  <a:srgbClr val="16221F"/>
                </a:solidFill>
                <a:latin typeface="Cambria" pitchFamily="34" charset="0"/>
                <a:ea typeface="Cambria" pitchFamily="34" charset="-122"/>
                <a:cs typeface="Cambria" pitchFamily="34" charset="-120"/>
              </a:rPr>
              <a:t>What You'll Learn &amp; Why We're Here</a:t>
            </a:r>
            <a:endParaRPr lang="en-US" sz="3000" dirty="0"/>
          </a:p>
        </p:txBody>
      </p:sp>
      <p:sp>
        <p:nvSpPr>
          <p:cNvPr id="4" name="Shape 2"/>
          <p:cNvSpPr/>
          <p:nvPr/>
        </p:nvSpPr>
        <p:spPr>
          <a:xfrm>
            <a:off x="502920" y="1737360"/>
            <a:ext cx="5166360" cy="4297680"/>
          </a:xfrm>
          <a:prstGeom prst="roundRect">
            <a:avLst>
              <a:gd name="adj" fmla="val 1702"/>
            </a:avLst>
          </a:prstGeom>
          <a:solidFill>
            <a:srgbClr val="EAF6F4"/>
          </a:solidFill>
          <a:ln/>
        </p:spPr>
      </p:sp>
      <p:sp>
        <p:nvSpPr>
          <p:cNvPr id="5" name="Text 3"/>
          <p:cNvSpPr/>
          <p:nvPr/>
        </p:nvSpPr>
        <p:spPr>
          <a:xfrm>
            <a:off x="777240" y="1993392"/>
            <a:ext cx="4617720" cy="320040"/>
          </a:xfrm>
          <a:prstGeom prst="rect">
            <a:avLst/>
          </a:prstGeom>
          <a:noFill/>
          <a:ln/>
        </p:spPr>
        <p:txBody>
          <a:bodyPr wrap="square" rtlCol="0" anchor="ctr"/>
          <a:lstStyle/>
          <a:p>
            <a:pPr marL="0" indent="0">
              <a:buNone/>
            </a:pPr>
            <a:r>
              <a:rPr lang="en-US" sz="1250" b="1" kern="0" spc="100" dirty="0">
                <a:solidFill>
                  <a:srgbClr val="0E6E67"/>
                </a:solidFill>
                <a:latin typeface="Calibri" pitchFamily="34" charset="0"/>
                <a:ea typeface="Calibri" pitchFamily="34" charset="-122"/>
                <a:cs typeface="Calibri" pitchFamily="34" charset="-120"/>
              </a:rPr>
              <a:t>WHAT THE AUDIENCE WILL LEARN</a:t>
            </a:r>
            <a:endParaRPr lang="en-US" sz="1250" dirty="0"/>
          </a:p>
        </p:txBody>
      </p:sp>
      <p:sp>
        <p:nvSpPr>
          <p:cNvPr id="6" name="Text 4"/>
          <p:cNvSpPr/>
          <p:nvPr/>
        </p:nvSpPr>
        <p:spPr>
          <a:xfrm>
            <a:off x="777240" y="2423160"/>
            <a:ext cx="4617720" cy="3383280"/>
          </a:xfrm>
          <a:prstGeom prst="rect">
            <a:avLst/>
          </a:prstGeom>
          <a:noFill/>
          <a:ln/>
        </p:spPr>
        <p:txBody>
          <a:bodyPr wrap="square" rtlCol="0" anchor="ctr"/>
          <a:lstStyle/>
          <a:p>
            <a:pPr marL="342900" indent="-342900">
              <a:lnSpc>
                <a:spcPct val="120000"/>
              </a:lnSpc>
              <a:spcAft>
                <a:spcPts val="1200"/>
              </a:spcAft>
              <a:buSzPct val="100000"/>
              <a:buChar char="•"/>
            </a:pPr>
            <a:r>
              <a:rPr lang="en-US" sz="1300" dirty="0">
                <a:solidFill>
                  <a:srgbClr val="16221F"/>
                </a:solidFill>
                <a:latin typeface="Calibri" pitchFamily="34" charset="0"/>
                <a:ea typeface="Calibri" pitchFamily="34" charset="-122"/>
                <a:cs typeface="Calibri" pitchFamily="34" charset="-120"/>
              </a:rPr>
              <a:t>Why tightly coupled modules quietly become a hospital system's biggest maintenance risk.</a:t>
            </a:r>
            <a:endParaRPr lang="en-US" sz="1300" dirty="0"/>
          </a:p>
          <a:p>
            <a:pPr marL="342900" indent="-342900">
              <a:lnSpc>
                <a:spcPct val="120000"/>
              </a:lnSpc>
              <a:spcAft>
                <a:spcPts val="1200"/>
              </a:spcAft>
              <a:buSzPct val="100000"/>
              <a:buChar char="•"/>
            </a:pPr>
            <a:r>
              <a:rPr lang="en-US" sz="1300" dirty="0">
                <a:solidFill>
                  <a:srgbClr val="16221F"/>
                </a:solidFill>
                <a:latin typeface="Calibri" pitchFamily="34" charset="0"/>
                <a:ea typeface="Calibri" pitchFamily="34" charset="-122"/>
                <a:cs typeface="Calibri" pitchFamily="34" charset="-120"/>
              </a:rPr>
              <a:t>How class, encapsulation, inheritance, and association translate a fragile design into independent modules.</a:t>
            </a:r>
            <a:endParaRPr lang="en-US" sz="1300" dirty="0"/>
          </a:p>
          <a:p>
            <a:pPr marL="342900" indent="-342900">
              <a:lnSpc>
                <a:spcPct val="120000"/>
              </a:lnSpc>
              <a:spcAft>
                <a:spcPts val="1200"/>
              </a:spcAft>
              <a:buSzPct val="100000"/>
              <a:buChar char="•"/>
            </a:pPr>
            <a:r>
              <a:rPr lang="en-US" sz="1300" dirty="0">
                <a:solidFill>
                  <a:srgbClr val="16221F"/>
                </a:solidFill>
                <a:latin typeface="Calibri" pitchFamily="34" charset="0"/>
                <a:ea typeface="Calibri" pitchFamily="34" charset="-122"/>
                <a:cs typeface="Calibri" pitchFamily="34" charset="-120"/>
              </a:rPr>
              <a:t>A concrete before/after view of maintainability, scalability, and reusability.</a:t>
            </a:r>
            <a:endParaRPr lang="en-US" sz="1300" dirty="0"/>
          </a:p>
          <a:p>
            <a:pPr marL="342900" indent="-342900">
              <a:lnSpc>
                <a:spcPct val="120000"/>
              </a:lnSpc>
              <a:spcAft>
                <a:spcPts val="1200"/>
              </a:spcAft>
              <a:buSzPct val="100000"/>
              <a:buChar char="•"/>
            </a:pPr>
            <a:r>
              <a:rPr lang="en-US" sz="1300" dirty="0">
                <a:solidFill>
                  <a:srgbClr val="16221F"/>
                </a:solidFill>
                <a:latin typeface="Calibri" pitchFamily="34" charset="0"/>
                <a:ea typeface="Calibri" pitchFamily="34" charset="-122"/>
                <a:cs typeface="Calibri" pitchFamily="34" charset="-120"/>
              </a:rPr>
              <a:t>How to judge whether a redesign decision is actually paying off, not just theoretically "cleaner."</a:t>
            </a:r>
            <a:endParaRPr lang="en-US" sz="1300" dirty="0"/>
          </a:p>
        </p:txBody>
      </p:sp>
      <p:sp>
        <p:nvSpPr>
          <p:cNvPr id="7" name="Shape 5"/>
          <p:cNvSpPr/>
          <p:nvPr/>
        </p:nvSpPr>
        <p:spPr>
          <a:xfrm>
            <a:off x="5989320" y="1737360"/>
            <a:ext cx="5166360" cy="4297680"/>
          </a:xfrm>
          <a:prstGeom prst="roundRect">
            <a:avLst>
              <a:gd name="adj" fmla="val 1702"/>
            </a:avLst>
          </a:prstGeom>
          <a:solidFill>
            <a:srgbClr val="0E6E67"/>
          </a:solidFill>
          <a:ln/>
        </p:spPr>
      </p:sp>
      <p:sp>
        <p:nvSpPr>
          <p:cNvPr id="8" name="Text 6"/>
          <p:cNvSpPr/>
          <p:nvPr/>
        </p:nvSpPr>
        <p:spPr>
          <a:xfrm>
            <a:off x="6263640" y="1993392"/>
            <a:ext cx="4617720" cy="320040"/>
          </a:xfrm>
          <a:prstGeom prst="rect">
            <a:avLst/>
          </a:prstGeom>
          <a:noFill/>
          <a:ln/>
        </p:spPr>
        <p:txBody>
          <a:bodyPr wrap="square" rtlCol="0" anchor="ctr"/>
          <a:lstStyle/>
          <a:p>
            <a:pPr marL="0" indent="0">
              <a:buNone/>
            </a:pPr>
            <a:r>
              <a:rPr lang="en-US" sz="1250" b="1" kern="0" spc="100" dirty="0">
                <a:solidFill>
                  <a:srgbClr val="2FA39B"/>
                </a:solidFill>
                <a:latin typeface="Calibri" pitchFamily="34" charset="0"/>
                <a:ea typeface="Calibri" pitchFamily="34" charset="-122"/>
                <a:cs typeface="Calibri" pitchFamily="34" charset="-120"/>
              </a:rPr>
              <a:t>OUR GOALS FOR THIS TALK</a:t>
            </a:r>
            <a:endParaRPr lang="en-US" sz="1250" dirty="0"/>
          </a:p>
        </p:txBody>
      </p:sp>
      <p:sp>
        <p:nvSpPr>
          <p:cNvPr id="9" name="Text 7"/>
          <p:cNvSpPr/>
          <p:nvPr/>
        </p:nvSpPr>
        <p:spPr>
          <a:xfrm>
            <a:off x="6263640" y="2423160"/>
            <a:ext cx="4617720" cy="3383280"/>
          </a:xfrm>
          <a:prstGeom prst="rect">
            <a:avLst/>
          </a:prstGeom>
          <a:noFill/>
          <a:ln/>
        </p:spPr>
        <p:txBody>
          <a:bodyPr wrap="square" rtlCol="0" anchor="ctr"/>
          <a:lstStyle/>
          <a:p>
            <a:pPr marL="342900" indent="-342900">
              <a:lnSpc>
                <a:spcPct val="120000"/>
              </a:lnSpc>
              <a:spcAft>
                <a:spcPts val="1200"/>
              </a:spcAft>
              <a:buSzPct val="100000"/>
              <a:buChar char="•"/>
            </a:pPr>
            <a:r>
              <a:rPr lang="en-US" sz="1300" dirty="0">
                <a:solidFill>
                  <a:srgbClr val="FFFFFF"/>
                </a:solidFill>
                <a:latin typeface="Calibri" pitchFamily="34" charset="0"/>
                <a:ea typeface="Calibri" pitchFamily="34" charset="-122"/>
                <a:cs typeface="Calibri" pitchFamily="34" charset="-120"/>
              </a:rPr>
              <a:t>Explain the redesign clearly enough that a non-OOP audience can follow the reasoning, not just the jargon.</a:t>
            </a:r>
            <a:endParaRPr lang="en-US" sz="1300" dirty="0"/>
          </a:p>
          <a:p>
            <a:pPr marL="342900" indent="-342900">
              <a:lnSpc>
                <a:spcPct val="120000"/>
              </a:lnSpc>
              <a:spcAft>
                <a:spcPts val="1200"/>
              </a:spcAft>
              <a:buSzPct val="100000"/>
              <a:buChar char="•"/>
            </a:pPr>
            <a:r>
              <a:rPr lang="en-US" sz="1300" dirty="0">
                <a:solidFill>
                  <a:srgbClr val="FFFFFF"/>
                </a:solidFill>
                <a:latin typeface="Calibri" pitchFamily="34" charset="0"/>
                <a:ea typeface="Calibri" pitchFamily="34" charset="-122"/>
                <a:cs typeface="Calibri" pitchFamily="34" charset="-120"/>
              </a:rPr>
              <a:t>Back every claim with a concrete example from the hospital scenario, not abstract theory alone.</a:t>
            </a:r>
            <a:endParaRPr lang="en-US" sz="1300" dirty="0"/>
          </a:p>
          <a:p>
            <a:pPr marL="342900" indent="-342900">
              <a:lnSpc>
                <a:spcPct val="120000"/>
              </a:lnSpc>
              <a:spcAft>
                <a:spcPts val="1200"/>
              </a:spcAft>
              <a:buSzPct val="100000"/>
              <a:buChar char="•"/>
            </a:pPr>
            <a:r>
              <a:rPr lang="en-US" sz="1300" dirty="0">
                <a:solidFill>
                  <a:srgbClr val="FFFFFF"/>
                </a:solidFill>
                <a:latin typeface="Calibri" pitchFamily="34" charset="0"/>
                <a:ea typeface="Calibri" pitchFamily="34" charset="-122"/>
                <a:cs typeface="Calibri" pitchFamily="34" charset="-120"/>
              </a:rPr>
              <a:t>Give every team member equal, meaningful speaking time.</a:t>
            </a:r>
            <a:endParaRPr lang="en-US" sz="1300" dirty="0"/>
          </a:p>
          <a:p>
            <a:pPr marL="342900" indent="-342900">
              <a:lnSpc>
                <a:spcPct val="120000"/>
              </a:lnSpc>
              <a:spcAft>
                <a:spcPts val="1200"/>
              </a:spcAft>
              <a:buSzPct val="100000"/>
              <a:buChar char="•"/>
            </a:pPr>
            <a:r>
              <a:rPr lang="en-US" sz="1300" dirty="0">
                <a:solidFill>
                  <a:srgbClr val="FFFFFF"/>
                </a:solidFill>
                <a:latin typeface="Calibri" pitchFamily="34" charset="0"/>
                <a:ea typeface="Calibri" pitchFamily="34" charset="-122"/>
                <a:cs typeface="Calibri" pitchFamily="34" charset="-120"/>
              </a:rPr>
              <a:t>Leave time for genuine questions — and answer them with evidence, not guesses.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5486400" cy="274320"/>
          </a:xfrm>
          <a:prstGeom prst="rect">
            <a:avLst/>
          </a:prstGeom>
          <a:noFill/>
          <a:ln/>
        </p:spPr>
        <p:txBody>
          <a:bodyPr wrap="square" rtlCol="0" anchor="ctr"/>
          <a:lstStyle/>
          <a:p>
            <a:pPr marL="0" indent="0">
              <a:buNone/>
            </a:pPr>
            <a:r>
              <a:rPr lang="en-US" sz="1100" b="1" kern="0" spc="200" dirty="0">
                <a:solidFill>
                  <a:srgbClr val="0E6E67"/>
                </a:solidFill>
                <a:latin typeface="Calibri" pitchFamily="34" charset="0"/>
                <a:ea typeface="Calibri" pitchFamily="34" charset="-122"/>
                <a:cs typeface="Calibri" pitchFamily="34" charset="-120"/>
              </a:rPr>
              <a:t>ROADMAP</a:t>
            </a:r>
            <a:endParaRPr lang="en-US" sz="1100" dirty="0"/>
          </a:p>
        </p:txBody>
      </p:sp>
      <p:sp>
        <p:nvSpPr>
          <p:cNvPr id="3" name="Text 1"/>
          <p:cNvSpPr/>
          <p:nvPr/>
        </p:nvSpPr>
        <p:spPr>
          <a:xfrm>
            <a:off x="502920" y="594360"/>
            <a:ext cx="7315200" cy="640080"/>
          </a:xfrm>
          <a:prstGeom prst="rect">
            <a:avLst/>
          </a:prstGeom>
          <a:noFill/>
          <a:ln/>
        </p:spPr>
        <p:txBody>
          <a:bodyPr wrap="square" rtlCol="0" anchor="ctr"/>
          <a:lstStyle/>
          <a:p>
            <a:pPr marL="0" indent="0">
              <a:buNone/>
            </a:pPr>
            <a:r>
              <a:rPr lang="en-US" sz="3200" b="1" dirty="0">
                <a:solidFill>
                  <a:srgbClr val="16221F"/>
                </a:solidFill>
                <a:latin typeface="Cambria" pitchFamily="34" charset="0"/>
                <a:ea typeface="Cambria" pitchFamily="34" charset="-122"/>
                <a:cs typeface="Cambria" pitchFamily="34" charset="-120"/>
              </a:rPr>
              <a:t>Agenda</a:t>
            </a:r>
            <a:endParaRPr lang="en-US" sz="3200" dirty="0"/>
          </a:p>
        </p:txBody>
      </p:sp>
      <p:sp>
        <p:nvSpPr>
          <p:cNvPr id="4" name="Text 2"/>
          <p:cNvSpPr/>
          <p:nvPr/>
        </p:nvSpPr>
        <p:spPr>
          <a:xfrm>
            <a:off x="502920" y="1600200"/>
            <a:ext cx="822960" cy="731520"/>
          </a:xfrm>
          <a:prstGeom prst="rect">
            <a:avLst/>
          </a:prstGeom>
          <a:noFill/>
          <a:ln/>
        </p:spPr>
        <p:txBody>
          <a:bodyPr wrap="square" rtlCol="0" anchor="ctr"/>
          <a:lstStyle/>
          <a:p>
            <a:pPr marL="0" indent="0" algn="l">
              <a:buNone/>
            </a:pPr>
            <a:r>
              <a:rPr lang="en-US" sz="2600" b="1" dirty="0">
                <a:solidFill>
                  <a:srgbClr val="CFE8E5"/>
                </a:solidFill>
                <a:latin typeface="Cambria" pitchFamily="34" charset="0"/>
                <a:ea typeface="Cambria" pitchFamily="34" charset="-122"/>
                <a:cs typeface="Cambria" pitchFamily="34" charset="-120"/>
              </a:rPr>
              <a:t>01</a:t>
            </a:r>
            <a:endParaRPr lang="en-US" sz="2600" dirty="0"/>
          </a:p>
        </p:txBody>
      </p:sp>
      <p:sp>
        <p:nvSpPr>
          <p:cNvPr id="5" name="Shape 3"/>
          <p:cNvSpPr/>
          <p:nvPr/>
        </p:nvSpPr>
        <p:spPr>
          <a:xfrm>
            <a:off x="1417320" y="1655064"/>
            <a:ext cx="0" cy="621792"/>
          </a:xfrm>
          <a:prstGeom prst="line">
            <a:avLst/>
          </a:prstGeom>
          <a:noFill/>
          <a:ln w="15875">
            <a:solidFill>
              <a:srgbClr val="D9E8E6"/>
            </a:solidFill>
            <a:prstDash val="solid"/>
          </a:ln>
        </p:spPr>
      </p:sp>
      <p:sp>
        <p:nvSpPr>
          <p:cNvPr id="6" name="Text 4"/>
          <p:cNvSpPr/>
          <p:nvPr/>
        </p:nvSpPr>
        <p:spPr>
          <a:xfrm>
            <a:off x="1645920" y="1581912"/>
            <a:ext cx="3017520" cy="365760"/>
          </a:xfrm>
          <a:prstGeom prst="rect">
            <a:avLst/>
          </a:prstGeom>
          <a:noFill/>
          <a:ln/>
        </p:spPr>
        <p:txBody>
          <a:bodyPr wrap="square" rtlCol="0" anchor="ctr"/>
          <a:lstStyle/>
          <a:p>
            <a:pPr marL="0" indent="0">
              <a:buNone/>
            </a:pPr>
            <a:r>
              <a:rPr lang="en-US" sz="1700" b="1" dirty="0">
                <a:solidFill>
                  <a:srgbClr val="16221F"/>
                </a:solidFill>
                <a:latin typeface="Cambria" pitchFamily="34" charset="0"/>
                <a:ea typeface="Cambria" pitchFamily="34" charset="-122"/>
                <a:cs typeface="Cambria" pitchFamily="34" charset="-120"/>
              </a:rPr>
              <a:t>Introduction</a:t>
            </a:r>
            <a:endParaRPr lang="en-US" sz="1700" dirty="0"/>
          </a:p>
        </p:txBody>
      </p:sp>
      <p:sp>
        <p:nvSpPr>
          <p:cNvPr id="7" name="Text 5"/>
          <p:cNvSpPr/>
          <p:nvPr/>
        </p:nvSpPr>
        <p:spPr>
          <a:xfrm>
            <a:off x="1645920" y="1901952"/>
            <a:ext cx="3017520" cy="274320"/>
          </a:xfrm>
          <a:prstGeom prst="rect">
            <a:avLst/>
          </a:prstGeom>
          <a:noFill/>
          <a:ln/>
        </p:spPr>
        <p:txBody>
          <a:bodyPr wrap="square" rtlCol="0" anchor="ctr"/>
          <a:lstStyle/>
          <a:p>
            <a:pPr marL="0" indent="0">
              <a:buNone/>
            </a:pPr>
            <a:endParaRPr lang="en-US" sz="1050" dirty="0"/>
          </a:p>
        </p:txBody>
      </p:sp>
      <p:sp>
        <p:nvSpPr>
          <p:cNvPr id="8" name="Text 6"/>
          <p:cNvSpPr/>
          <p:nvPr/>
        </p:nvSpPr>
        <p:spPr>
          <a:xfrm>
            <a:off x="4846320" y="1600200"/>
            <a:ext cx="6492240" cy="749808"/>
          </a:xfrm>
          <a:prstGeom prst="rect">
            <a:avLst/>
          </a:prstGeom>
          <a:noFill/>
          <a:ln/>
        </p:spPr>
        <p:txBody>
          <a:bodyPr wrap="square" rtlCol="0" anchor="ctr"/>
          <a:lstStyle/>
          <a:p>
            <a:pPr marL="0" indent="0">
              <a:buNone/>
            </a:pPr>
            <a:r>
              <a:rPr lang="en-US" sz="1300" dirty="0">
                <a:solidFill>
                  <a:srgbClr val="4C5C59"/>
                </a:solidFill>
                <a:latin typeface="Calibri" pitchFamily="34" charset="0"/>
                <a:ea typeface="Calibri" pitchFamily="34" charset="-122"/>
                <a:cs typeface="Calibri" pitchFamily="34" charset="-120"/>
              </a:rPr>
              <a:t>What a Hospital Management System does, and why its software architecture matters.</a:t>
            </a:r>
            <a:endParaRPr lang="en-US" sz="1300" dirty="0"/>
          </a:p>
        </p:txBody>
      </p:sp>
      <p:sp>
        <p:nvSpPr>
          <p:cNvPr id="9" name="Shape 7"/>
          <p:cNvSpPr/>
          <p:nvPr/>
        </p:nvSpPr>
        <p:spPr>
          <a:xfrm>
            <a:off x="502920" y="2386584"/>
            <a:ext cx="11201400" cy="0"/>
          </a:xfrm>
          <a:prstGeom prst="line">
            <a:avLst/>
          </a:prstGeom>
          <a:noFill/>
          <a:ln w="12700">
            <a:solidFill>
              <a:srgbClr val="EDF3F2"/>
            </a:solidFill>
            <a:prstDash val="solid"/>
          </a:ln>
        </p:spPr>
      </p:sp>
      <p:sp>
        <p:nvSpPr>
          <p:cNvPr id="10" name="Text 8"/>
          <p:cNvSpPr/>
          <p:nvPr/>
        </p:nvSpPr>
        <p:spPr>
          <a:xfrm>
            <a:off x="502920" y="2441448"/>
            <a:ext cx="822960" cy="731520"/>
          </a:xfrm>
          <a:prstGeom prst="rect">
            <a:avLst/>
          </a:prstGeom>
          <a:noFill/>
          <a:ln/>
        </p:spPr>
        <p:txBody>
          <a:bodyPr wrap="square" rtlCol="0" anchor="ctr"/>
          <a:lstStyle/>
          <a:p>
            <a:pPr marL="0" indent="0" algn="l">
              <a:buNone/>
            </a:pPr>
            <a:r>
              <a:rPr lang="en-US" sz="2600" b="1" dirty="0">
                <a:solidFill>
                  <a:srgbClr val="CFE8E5"/>
                </a:solidFill>
                <a:latin typeface="Cambria" pitchFamily="34" charset="0"/>
                <a:ea typeface="Cambria" pitchFamily="34" charset="-122"/>
                <a:cs typeface="Cambria" pitchFamily="34" charset="-120"/>
              </a:rPr>
              <a:t>02</a:t>
            </a:r>
            <a:endParaRPr lang="en-US" sz="2600" dirty="0"/>
          </a:p>
        </p:txBody>
      </p:sp>
      <p:sp>
        <p:nvSpPr>
          <p:cNvPr id="11" name="Shape 9"/>
          <p:cNvSpPr/>
          <p:nvPr/>
        </p:nvSpPr>
        <p:spPr>
          <a:xfrm>
            <a:off x="1417320" y="2496312"/>
            <a:ext cx="0" cy="621792"/>
          </a:xfrm>
          <a:prstGeom prst="line">
            <a:avLst/>
          </a:prstGeom>
          <a:noFill/>
          <a:ln w="15875">
            <a:solidFill>
              <a:srgbClr val="D9E8E6"/>
            </a:solidFill>
            <a:prstDash val="solid"/>
          </a:ln>
        </p:spPr>
      </p:sp>
      <p:sp>
        <p:nvSpPr>
          <p:cNvPr id="12" name="Text 10"/>
          <p:cNvSpPr/>
          <p:nvPr/>
        </p:nvSpPr>
        <p:spPr>
          <a:xfrm>
            <a:off x="1645920" y="2423160"/>
            <a:ext cx="3017520" cy="365760"/>
          </a:xfrm>
          <a:prstGeom prst="rect">
            <a:avLst/>
          </a:prstGeom>
          <a:noFill/>
          <a:ln/>
        </p:spPr>
        <p:txBody>
          <a:bodyPr wrap="square" rtlCol="0" anchor="ctr"/>
          <a:lstStyle/>
          <a:p>
            <a:pPr marL="0" indent="0">
              <a:buNone/>
            </a:pPr>
            <a:r>
              <a:rPr lang="en-US" sz="1700" b="1" dirty="0">
                <a:solidFill>
                  <a:srgbClr val="16221F"/>
                </a:solidFill>
                <a:latin typeface="Cambria" pitchFamily="34" charset="0"/>
                <a:ea typeface="Cambria" pitchFamily="34" charset="-122"/>
                <a:cs typeface="Cambria" pitchFamily="34" charset="-120"/>
              </a:rPr>
              <a:t>Problem Statement</a:t>
            </a:r>
            <a:endParaRPr lang="en-US" sz="1700" dirty="0"/>
          </a:p>
        </p:txBody>
      </p:sp>
      <p:sp>
        <p:nvSpPr>
          <p:cNvPr id="14" name="Text 12"/>
          <p:cNvSpPr/>
          <p:nvPr/>
        </p:nvSpPr>
        <p:spPr>
          <a:xfrm>
            <a:off x="4846320" y="2441448"/>
            <a:ext cx="6492240" cy="749808"/>
          </a:xfrm>
          <a:prstGeom prst="rect">
            <a:avLst/>
          </a:prstGeom>
          <a:noFill/>
          <a:ln/>
        </p:spPr>
        <p:txBody>
          <a:bodyPr wrap="square" rtlCol="0" anchor="ctr"/>
          <a:lstStyle/>
          <a:p>
            <a:pPr marL="0" indent="0">
              <a:buNone/>
            </a:pPr>
            <a:r>
              <a:rPr lang="en-US" sz="1300" dirty="0">
                <a:solidFill>
                  <a:srgbClr val="4C5C59"/>
                </a:solidFill>
                <a:latin typeface="Calibri" pitchFamily="34" charset="0"/>
                <a:ea typeface="Calibri" pitchFamily="34" charset="-122"/>
                <a:cs typeface="Calibri" pitchFamily="34" charset="-120"/>
              </a:rPr>
              <a:t>The real cost of tightly coupled modules and frequent maintenance breakage.</a:t>
            </a:r>
            <a:endParaRPr lang="en-US" sz="1300" dirty="0"/>
          </a:p>
        </p:txBody>
      </p:sp>
      <p:sp>
        <p:nvSpPr>
          <p:cNvPr id="15" name="Shape 13"/>
          <p:cNvSpPr/>
          <p:nvPr/>
        </p:nvSpPr>
        <p:spPr>
          <a:xfrm>
            <a:off x="502920" y="3227832"/>
            <a:ext cx="11201400" cy="0"/>
          </a:xfrm>
          <a:prstGeom prst="line">
            <a:avLst/>
          </a:prstGeom>
          <a:noFill/>
          <a:ln w="12700">
            <a:solidFill>
              <a:srgbClr val="EDF3F2"/>
            </a:solidFill>
            <a:prstDash val="solid"/>
          </a:ln>
        </p:spPr>
      </p:sp>
      <p:sp>
        <p:nvSpPr>
          <p:cNvPr id="16" name="Text 14"/>
          <p:cNvSpPr/>
          <p:nvPr/>
        </p:nvSpPr>
        <p:spPr>
          <a:xfrm>
            <a:off x="502920" y="3282696"/>
            <a:ext cx="822960" cy="731520"/>
          </a:xfrm>
          <a:prstGeom prst="rect">
            <a:avLst/>
          </a:prstGeom>
          <a:noFill/>
          <a:ln/>
        </p:spPr>
        <p:txBody>
          <a:bodyPr wrap="square" rtlCol="0" anchor="ctr"/>
          <a:lstStyle/>
          <a:p>
            <a:pPr marL="0" indent="0" algn="l">
              <a:buNone/>
            </a:pPr>
            <a:r>
              <a:rPr lang="en-US" sz="2600" b="1" dirty="0">
                <a:solidFill>
                  <a:srgbClr val="CFE8E5"/>
                </a:solidFill>
                <a:latin typeface="Cambria" pitchFamily="34" charset="0"/>
                <a:ea typeface="Cambria" pitchFamily="34" charset="-122"/>
                <a:cs typeface="Cambria" pitchFamily="34" charset="-120"/>
              </a:rPr>
              <a:t>03</a:t>
            </a:r>
            <a:endParaRPr lang="en-US" sz="2600" dirty="0"/>
          </a:p>
        </p:txBody>
      </p:sp>
      <p:sp>
        <p:nvSpPr>
          <p:cNvPr id="17" name="Shape 15"/>
          <p:cNvSpPr/>
          <p:nvPr/>
        </p:nvSpPr>
        <p:spPr>
          <a:xfrm>
            <a:off x="1417320" y="3337560"/>
            <a:ext cx="0" cy="621792"/>
          </a:xfrm>
          <a:prstGeom prst="line">
            <a:avLst/>
          </a:prstGeom>
          <a:noFill/>
          <a:ln w="15875">
            <a:solidFill>
              <a:srgbClr val="D9E8E6"/>
            </a:solidFill>
            <a:prstDash val="solid"/>
          </a:ln>
        </p:spPr>
      </p:sp>
      <p:sp>
        <p:nvSpPr>
          <p:cNvPr id="18" name="Text 16"/>
          <p:cNvSpPr/>
          <p:nvPr/>
        </p:nvSpPr>
        <p:spPr>
          <a:xfrm>
            <a:off x="1645920" y="3264408"/>
            <a:ext cx="3017520" cy="365760"/>
          </a:xfrm>
          <a:prstGeom prst="rect">
            <a:avLst/>
          </a:prstGeom>
          <a:noFill/>
          <a:ln/>
        </p:spPr>
        <p:txBody>
          <a:bodyPr wrap="square" rtlCol="0" anchor="ctr"/>
          <a:lstStyle/>
          <a:p>
            <a:pPr marL="0" indent="0">
              <a:buNone/>
            </a:pPr>
            <a:r>
              <a:rPr lang="en-US" sz="1700" b="1" dirty="0">
                <a:solidFill>
                  <a:srgbClr val="16221F"/>
                </a:solidFill>
                <a:latin typeface="Cambria" pitchFamily="34" charset="0"/>
                <a:ea typeface="Cambria" pitchFamily="34" charset="-122"/>
                <a:cs typeface="Cambria" pitchFamily="34" charset="-120"/>
              </a:rPr>
              <a:t>Methodology / Approach</a:t>
            </a:r>
            <a:endParaRPr lang="en-US" sz="1700" dirty="0"/>
          </a:p>
        </p:txBody>
      </p:sp>
      <p:sp>
        <p:nvSpPr>
          <p:cNvPr id="20" name="Text 18"/>
          <p:cNvSpPr/>
          <p:nvPr/>
        </p:nvSpPr>
        <p:spPr>
          <a:xfrm>
            <a:off x="4846320" y="3282696"/>
            <a:ext cx="6492240" cy="749808"/>
          </a:xfrm>
          <a:prstGeom prst="rect">
            <a:avLst/>
          </a:prstGeom>
          <a:noFill/>
          <a:ln/>
        </p:spPr>
        <p:txBody>
          <a:bodyPr wrap="square" rtlCol="0" anchor="ctr"/>
          <a:lstStyle/>
          <a:p>
            <a:pPr marL="0" indent="0">
              <a:buNone/>
            </a:pPr>
            <a:r>
              <a:rPr lang="en-US" sz="1300" dirty="0">
                <a:solidFill>
                  <a:srgbClr val="4C5C59"/>
                </a:solidFill>
                <a:latin typeface="Calibri" pitchFamily="34" charset="0"/>
                <a:ea typeface="Calibri" pitchFamily="34" charset="-122"/>
                <a:cs typeface="Calibri" pitchFamily="34" charset="-120"/>
              </a:rPr>
              <a:t>Redesigning the system using OOP: classes, encapsulation, inheritance, association.</a:t>
            </a:r>
            <a:endParaRPr lang="en-US" sz="1300" dirty="0"/>
          </a:p>
        </p:txBody>
      </p:sp>
      <p:sp>
        <p:nvSpPr>
          <p:cNvPr id="21" name="Shape 19"/>
          <p:cNvSpPr/>
          <p:nvPr/>
        </p:nvSpPr>
        <p:spPr>
          <a:xfrm>
            <a:off x="502920" y="4069080"/>
            <a:ext cx="11201400" cy="0"/>
          </a:xfrm>
          <a:prstGeom prst="line">
            <a:avLst/>
          </a:prstGeom>
          <a:noFill/>
          <a:ln w="12700">
            <a:solidFill>
              <a:srgbClr val="EDF3F2"/>
            </a:solidFill>
            <a:prstDash val="solid"/>
          </a:ln>
        </p:spPr>
      </p:sp>
      <p:sp>
        <p:nvSpPr>
          <p:cNvPr id="22" name="Text 20"/>
          <p:cNvSpPr/>
          <p:nvPr/>
        </p:nvSpPr>
        <p:spPr>
          <a:xfrm>
            <a:off x="502920" y="4123944"/>
            <a:ext cx="822960" cy="731520"/>
          </a:xfrm>
          <a:prstGeom prst="rect">
            <a:avLst/>
          </a:prstGeom>
          <a:noFill/>
          <a:ln/>
        </p:spPr>
        <p:txBody>
          <a:bodyPr wrap="square" rtlCol="0" anchor="ctr"/>
          <a:lstStyle/>
          <a:p>
            <a:pPr marL="0" indent="0" algn="l">
              <a:buNone/>
            </a:pPr>
            <a:r>
              <a:rPr lang="en-US" sz="2600" b="1" dirty="0">
                <a:solidFill>
                  <a:srgbClr val="CFE8E5"/>
                </a:solidFill>
                <a:latin typeface="Cambria" pitchFamily="34" charset="0"/>
                <a:ea typeface="Cambria" pitchFamily="34" charset="-122"/>
                <a:cs typeface="Cambria" pitchFamily="34" charset="-120"/>
              </a:rPr>
              <a:t>04</a:t>
            </a:r>
            <a:endParaRPr lang="en-US" sz="2600" dirty="0"/>
          </a:p>
        </p:txBody>
      </p:sp>
      <p:sp>
        <p:nvSpPr>
          <p:cNvPr id="23" name="Shape 21"/>
          <p:cNvSpPr/>
          <p:nvPr/>
        </p:nvSpPr>
        <p:spPr>
          <a:xfrm>
            <a:off x="1417320" y="4178808"/>
            <a:ext cx="0" cy="621792"/>
          </a:xfrm>
          <a:prstGeom prst="line">
            <a:avLst/>
          </a:prstGeom>
          <a:noFill/>
          <a:ln w="15875">
            <a:solidFill>
              <a:srgbClr val="D9E8E6"/>
            </a:solidFill>
            <a:prstDash val="solid"/>
          </a:ln>
        </p:spPr>
      </p:sp>
      <p:sp>
        <p:nvSpPr>
          <p:cNvPr id="24" name="Text 22"/>
          <p:cNvSpPr/>
          <p:nvPr/>
        </p:nvSpPr>
        <p:spPr>
          <a:xfrm>
            <a:off x="1645920" y="4105656"/>
            <a:ext cx="3017520" cy="365760"/>
          </a:xfrm>
          <a:prstGeom prst="rect">
            <a:avLst/>
          </a:prstGeom>
          <a:noFill/>
          <a:ln/>
        </p:spPr>
        <p:txBody>
          <a:bodyPr wrap="square" rtlCol="0" anchor="ctr"/>
          <a:lstStyle/>
          <a:p>
            <a:pPr marL="0" indent="0">
              <a:buNone/>
            </a:pPr>
            <a:r>
              <a:rPr lang="en-US" sz="1700" b="1" dirty="0">
                <a:solidFill>
                  <a:srgbClr val="16221F"/>
                </a:solidFill>
                <a:latin typeface="Cambria" pitchFamily="34" charset="0"/>
                <a:ea typeface="Cambria" pitchFamily="34" charset="-122"/>
                <a:cs typeface="Cambria" pitchFamily="34" charset="-120"/>
              </a:rPr>
              <a:t>Results / Findings</a:t>
            </a:r>
            <a:endParaRPr lang="en-US" sz="1700" dirty="0"/>
          </a:p>
        </p:txBody>
      </p:sp>
      <p:sp>
        <p:nvSpPr>
          <p:cNvPr id="26" name="Text 24"/>
          <p:cNvSpPr/>
          <p:nvPr/>
        </p:nvSpPr>
        <p:spPr>
          <a:xfrm>
            <a:off x="4846320" y="4123944"/>
            <a:ext cx="6492240" cy="749808"/>
          </a:xfrm>
          <a:prstGeom prst="rect">
            <a:avLst/>
          </a:prstGeom>
          <a:noFill/>
          <a:ln/>
        </p:spPr>
        <p:txBody>
          <a:bodyPr wrap="square" rtlCol="0" anchor="ctr"/>
          <a:lstStyle/>
          <a:p>
            <a:pPr marL="0" indent="0">
              <a:buNone/>
            </a:pPr>
            <a:r>
              <a:rPr lang="en-US" sz="1300" dirty="0">
                <a:solidFill>
                  <a:srgbClr val="4C5C59"/>
                </a:solidFill>
                <a:latin typeface="Calibri" pitchFamily="34" charset="0"/>
                <a:ea typeface="Calibri" pitchFamily="34" charset="-122"/>
                <a:cs typeface="Calibri" pitchFamily="34" charset="-120"/>
              </a:rPr>
              <a:t>Before vs. after: maintainability, scalability, and reusability compared.</a:t>
            </a:r>
            <a:endParaRPr lang="en-US" sz="1300" dirty="0"/>
          </a:p>
        </p:txBody>
      </p:sp>
      <p:sp>
        <p:nvSpPr>
          <p:cNvPr id="27" name="Shape 25"/>
          <p:cNvSpPr/>
          <p:nvPr/>
        </p:nvSpPr>
        <p:spPr>
          <a:xfrm>
            <a:off x="502920" y="4910328"/>
            <a:ext cx="11201400" cy="0"/>
          </a:xfrm>
          <a:prstGeom prst="line">
            <a:avLst/>
          </a:prstGeom>
          <a:noFill/>
          <a:ln w="12700">
            <a:solidFill>
              <a:srgbClr val="EDF3F2"/>
            </a:solidFill>
            <a:prstDash val="solid"/>
          </a:ln>
        </p:spPr>
      </p:sp>
      <p:sp>
        <p:nvSpPr>
          <p:cNvPr id="28" name="Text 26"/>
          <p:cNvSpPr/>
          <p:nvPr/>
        </p:nvSpPr>
        <p:spPr>
          <a:xfrm>
            <a:off x="502920" y="4965192"/>
            <a:ext cx="822960" cy="731520"/>
          </a:xfrm>
          <a:prstGeom prst="rect">
            <a:avLst/>
          </a:prstGeom>
          <a:noFill/>
          <a:ln/>
        </p:spPr>
        <p:txBody>
          <a:bodyPr wrap="square" rtlCol="0" anchor="ctr"/>
          <a:lstStyle/>
          <a:p>
            <a:pPr marL="0" indent="0" algn="l">
              <a:buNone/>
            </a:pPr>
            <a:r>
              <a:rPr lang="en-US" sz="2600" b="1" dirty="0">
                <a:solidFill>
                  <a:srgbClr val="CFE8E5"/>
                </a:solidFill>
                <a:latin typeface="Cambria" pitchFamily="34" charset="0"/>
                <a:ea typeface="Cambria" pitchFamily="34" charset="-122"/>
                <a:cs typeface="Cambria" pitchFamily="34" charset="-120"/>
              </a:rPr>
              <a:t>05</a:t>
            </a:r>
            <a:endParaRPr lang="en-US" sz="2600" dirty="0"/>
          </a:p>
        </p:txBody>
      </p:sp>
      <p:sp>
        <p:nvSpPr>
          <p:cNvPr id="29" name="Shape 27"/>
          <p:cNvSpPr/>
          <p:nvPr/>
        </p:nvSpPr>
        <p:spPr>
          <a:xfrm>
            <a:off x="1417320" y="5020056"/>
            <a:ext cx="0" cy="621792"/>
          </a:xfrm>
          <a:prstGeom prst="line">
            <a:avLst/>
          </a:prstGeom>
          <a:noFill/>
          <a:ln w="15875">
            <a:solidFill>
              <a:srgbClr val="D9E8E6"/>
            </a:solidFill>
            <a:prstDash val="solid"/>
          </a:ln>
        </p:spPr>
      </p:sp>
      <p:sp>
        <p:nvSpPr>
          <p:cNvPr id="30" name="Text 28"/>
          <p:cNvSpPr/>
          <p:nvPr/>
        </p:nvSpPr>
        <p:spPr>
          <a:xfrm>
            <a:off x="1645920" y="4946904"/>
            <a:ext cx="3017520" cy="365760"/>
          </a:xfrm>
          <a:prstGeom prst="rect">
            <a:avLst/>
          </a:prstGeom>
          <a:noFill/>
          <a:ln/>
        </p:spPr>
        <p:txBody>
          <a:bodyPr wrap="square" rtlCol="0" anchor="ctr"/>
          <a:lstStyle/>
          <a:p>
            <a:pPr marL="0" indent="0">
              <a:buNone/>
            </a:pPr>
            <a:r>
              <a:rPr lang="en-US" sz="1700" b="1" dirty="0">
                <a:solidFill>
                  <a:srgbClr val="16221F"/>
                </a:solidFill>
                <a:latin typeface="Cambria" pitchFamily="34" charset="0"/>
                <a:ea typeface="Cambria" pitchFamily="34" charset="-122"/>
                <a:cs typeface="Cambria" pitchFamily="34" charset="-120"/>
              </a:rPr>
              <a:t>Conclusion</a:t>
            </a:r>
            <a:endParaRPr lang="en-US" sz="1700" dirty="0"/>
          </a:p>
        </p:txBody>
      </p:sp>
      <p:sp>
        <p:nvSpPr>
          <p:cNvPr id="32" name="Text 30"/>
          <p:cNvSpPr/>
          <p:nvPr/>
        </p:nvSpPr>
        <p:spPr>
          <a:xfrm>
            <a:off x="4846320" y="4965192"/>
            <a:ext cx="6492240" cy="749808"/>
          </a:xfrm>
          <a:prstGeom prst="rect">
            <a:avLst/>
          </a:prstGeom>
          <a:noFill/>
          <a:ln/>
        </p:spPr>
        <p:txBody>
          <a:bodyPr wrap="square" rtlCol="0" anchor="ctr"/>
          <a:lstStyle/>
          <a:p>
            <a:pPr marL="0" indent="0">
              <a:buNone/>
            </a:pPr>
            <a:r>
              <a:rPr lang="en-US" sz="1300" dirty="0">
                <a:solidFill>
                  <a:srgbClr val="4C5C59"/>
                </a:solidFill>
                <a:latin typeface="Calibri" pitchFamily="34" charset="0"/>
                <a:ea typeface="Calibri" pitchFamily="34" charset="-122"/>
                <a:cs typeface="Calibri" pitchFamily="34" charset="-120"/>
              </a:rPr>
              <a:t>Key takeaways and what this means beyond this one system.</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5486400" cy="274320"/>
          </a:xfrm>
          <a:prstGeom prst="rect">
            <a:avLst/>
          </a:prstGeom>
          <a:noFill/>
          <a:ln/>
        </p:spPr>
        <p:txBody>
          <a:bodyPr wrap="square" rtlCol="0" anchor="ctr"/>
          <a:lstStyle/>
          <a:p>
            <a:pPr marL="0" indent="0">
              <a:buNone/>
            </a:pPr>
            <a:r>
              <a:rPr lang="en-US" sz="1100" b="1" kern="0" spc="200" dirty="0">
                <a:solidFill>
                  <a:srgbClr val="0E6E67"/>
                </a:solidFill>
                <a:latin typeface="Calibri" pitchFamily="34" charset="0"/>
                <a:ea typeface="Calibri" pitchFamily="34" charset="-122"/>
                <a:cs typeface="Calibri" pitchFamily="34" charset="-120"/>
              </a:rPr>
              <a:t>01 · INTRODUCTION</a:t>
            </a:r>
            <a:endParaRPr lang="en-US" sz="1100" dirty="0"/>
          </a:p>
        </p:txBody>
      </p:sp>
      <p:sp>
        <p:nvSpPr>
          <p:cNvPr id="3" name="Text 1"/>
          <p:cNvSpPr/>
          <p:nvPr/>
        </p:nvSpPr>
        <p:spPr>
          <a:xfrm>
            <a:off x="502920" y="594360"/>
            <a:ext cx="10515600" cy="640080"/>
          </a:xfrm>
          <a:prstGeom prst="rect">
            <a:avLst/>
          </a:prstGeom>
          <a:noFill/>
          <a:ln/>
        </p:spPr>
        <p:txBody>
          <a:bodyPr wrap="square" rtlCol="0" anchor="ctr"/>
          <a:lstStyle/>
          <a:p>
            <a:pPr marL="0" indent="0">
              <a:buNone/>
            </a:pPr>
            <a:r>
              <a:rPr lang="en-US" sz="2800" b="1" dirty="0">
                <a:solidFill>
                  <a:srgbClr val="16221F"/>
                </a:solidFill>
                <a:latin typeface="Cambria" pitchFamily="34" charset="0"/>
                <a:ea typeface="Cambria" pitchFamily="34" charset="-122"/>
                <a:cs typeface="Cambria" pitchFamily="34" charset="-120"/>
              </a:rPr>
              <a:t>What Is a Hospital Management System?</a:t>
            </a:r>
            <a:endParaRPr lang="en-US" sz="2800" dirty="0"/>
          </a:p>
        </p:txBody>
      </p:sp>
      <p:sp>
        <p:nvSpPr>
          <p:cNvPr id="4" name="Text 2"/>
          <p:cNvSpPr/>
          <p:nvPr/>
        </p:nvSpPr>
        <p:spPr>
          <a:xfrm>
            <a:off x="502920" y="1417320"/>
            <a:ext cx="6309360" cy="1463040"/>
          </a:xfrm>
          <a:prstGeom prst="rect">
            <a:avLst/>
          </a:prstGeom>
          <a:noFill/>
          <a:ln/>
        </p:spPr>
        <p:txBody>
          <a:bodyPr wrap="square" rtlCol="0" anchor="ctr"/>
          <a:lstStyle/>
          <a:p>
            <a:pPr marL="0" indent="0">
              <a:lnSpc>
                <a:spcPct val="125000"/>
              </a:lnSpc>
              <a:buNone/>
            </a:pPr>
            <a:r>
              <a:rPr lang="en-US" sz="1400" dirty="0">
                <a:solidFill>
                  <a:srgbClr val="16221F"/>
                </a:solidFill>
                <a:latin typeface="Calibri" pitchFamily="34" charset="0"/>
                <a:ea typeface="Calibri" pitchFamily="34" charset="-122"/>
                <a:cs typeface="Calibri" pitchFamily="34" charset="-120"/>
              </a:rPr>
              <a:t>A Hospital Management System (HMS) is the software backbone behind patient registration, appointment scheduling, billing, pharmacy dispensing, and medical records. Unlike most business software, it carries a distinct pressure: downtime or a bad update can delay real patient care, not just a sale.</a:t>
            </a:r>
            <a:endParaRPr lang="en-US" sz="1400" dirty="0"/>
          </a:p>
        </p:txBody>
      </p:sp>
      <p:sp>
        <p:nvSpPr>
          <p:cNvPr id="5" name="Text 3"/>
          <p:cNvSpPr/>
          <p:nvPr/>
        </p:nvSpPr>
        <p:spPr>
          <a:xfrm>
            <a:off x="502920" y="3017520"/>
            <a:ext cx="6309360" cy="1371600"/>
          </a:xfrm>
          <a:prstGeom prst="rect">
            <a:avLst/>
          </a:prstGeom>
          <a:noFill/>
          <a:ln/>
        </p:spPr>
        <p:txBody>
          <a:bodyPr wrap="square" rtlCol="0" anchor="ctr"/>
          <a:lstStyle/>
          <a:p>
            <a:pPr marL="0" indent="0">
              <a:lnSpc>
                <a:spcPct val="125000"/>
              </a:lnSpc>
              <a:buNone/>
            </a:pPr>
            <a:r>
              <a:rPr lang="en-US" sz="1400" dirty="0">
                <a:solidFill>
                  <a:srgbClr val="16221F"/>
                </a:solidFill>
                <a:latin typeface="Calibri" pitchFamily="34" charset="0"/>
                <a:ea typeface="Calibri" pitchFamily="34" charset="-122"/>
                <a:cs typeface="Calibri" pitchFamily="34" charset="-120"/>
              </a:rPr>
              <a:t>That pressure is exactly why software architecture is not a back-office concern here — it is a patient-safety concern. A system built as one large, tangled block of code is much harder to change safely than one built from independent, well-defined modules.</a:t>
            </a:r>
            <a:endParaRPr lang="en-US" sz="1400" dirty="0"/>
          </a:p>
        </p:txBody>
      </p:sp>
      <p:sp>
        <p:nvSpPr>
          <p:cNvPr id="6" name="Text 4"/>
          <p:cNvSpPr/>
          <p:nvPr/>
        </p:nvSpPr>
        <p:spPr>
          <a:xfrm>
            <a:off x="502920" y="4526280"/>
            <a:ext cx="6309360" cy="1188720"/>
          </a:xfrm>
          <a:prstGeom prst="rect">
            <a:avLst/>
          </a:prstGeom>
          <a:noFill/>
          <a:ln/>
        </p:spPr>
        <p:txBody>
          <a:bodyPr wrap="square" rtlCol="0" anchor="ctr"/>
          <a:lstStyle/>
          <a:p>
            <a:pPr marL="0" indent="0">
              <a:lnSpc>
                <a:spcPct val="125000"/>
              </a:lnSpc>
              <a:buNone/>
            </a:pPr>
            <a:r>
              <a:rPr lang="en-US" sz="1400" b="1" dirty="0">
                <a:solidFill>
                  <a:srgbClr val="16221F"/>
                </a:solidFill>
                <a:latin typeface="Calibri" pitchFamily="34" charset="0"/>
                <a:ea typeface="Calibri" pitchFamily="34" charset="-122"/>
                <a:cs typeface="Calibri" pitchFamily="34" charset="-120"/>
              </a:rPr>
              <a:t>That is the story of this presentation: a hospital system that grew into a tightly coupled monolith, and how object-oriented design principles were used to pull it apart into something safer to maintain.</a:t>
            </a:r>
            <a:endParaRPr lang="en-US" sz="1400" dirty="0"/>
          </a:p>
        </p:txBody>
      </p:sp>
      <p:sp>
        <p:nvSpPr>
          <p:cNvPr id="7" name="Shape 5"/>
          <p:cNvSpPr/>
          <p:nvPr/>
        </p:nvSpPr>
        <p:spPr>
          <a:xfrm>
            <a:off x="7452360" y="1417320"/>
            <a:ext cx="4206240" cy="5074920"/>
          </a:xfrm>
          <a:prstGeom prst="roundRect">
            <a:avLst>
              <a:gd name="adj" fmla="val 1739"/>
            </a:avLst>
          </a:prstGeom>
          <a:solidFill>
            <a:srgbClr val="EAF6F4"/>
          </a:solidFill>
          <a:ln/>
        </p:spPr>
      </p:sp>
      <p:sp>
        <p:nvSpPr>
          <p:cNvPr id="8" name="Text 6"/>
          <p:cNvSpPr/>
          <p:nvPr/>
        </p:nvSpPr>
        <p:spPr>
          <a:xfrm>
            <a:off x="7726680" y="1673352"/>
            <a:ext cx="3657600" cy="274320"/>
          </a:xfrm>
          <a:prstGeom prst="rect">
            <a:avLst/>
          </a:prstGeom>
          <a:noFill/>
          <a:ln/>
        </p:spPr>
        <p:txBody>
          <a:bodyPr wrap="square" rtlCol="0" anchor="ctr"/>
          <a:lstStyle/>
          <a:p>
            <a:pPr marL="0" indent="0">
              <a:buNone/>
            </a:pPr>
            <a:r>
              <a:rPr lang="en-US" sz="1150" b="1" kern="0" spc="100" dirty="0">
                <a:solidFill>
                  <a:srgbClr val="0E6E67"/>
                </a:solidFill>
                <a:latin typeface="Calibri" pitchFamily="34" charset="0"/>
                <a:ea typeface="Calibri" pitchFamily="34" charset="-122"/>
                <a:cs typeface="Calibri" pitchFamily="34" charset="-120"/>
              </a:rPr>
              <a:t>CORE MODULES OF AN HMS</a:t>
            </a:r>
            <a:endParaRPr lang="en-US" sz="1150" dirty="0"/>
          </a:p>
        </p:txBody>
      </p:sp>
      <p:sp>
        <p:nvSpPr>
          <p:cNvPr id="9" name="Shape 7"/>
          <p:cNvSpPr/>
          <p:nvPr/>
        </p:nvSpPr>
        <p:spPr>
          <a:xfrm>
            <a:off x="7772400" y="2194560"/>
            <a:ext cx="685800" cy="685800"/>
          </a:xfrm>
          <a:prstGeom prst="ellipse">
            <a:avLst/>
          </a:prstGeom>
          <a:solidFill>
            <a:srgbClr val="0E6E67"/>
          </a:solidFill>
          <a:ln/>
        </p:spPr>
      </p:sp>
      <p:sp>
        <p:nvSpPr>
          <p:cNvPr id="10" name="Text 8"/>
          <p:cNvSpPr/>
          <p:nvPr/>
        </p:nvSpPr>
        <p:spPr>
          <a:xfrm>
            <a:off x="7772400" y="2194560"/>
            <a:ext cx="685800" cy="68580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1" name="Text 9"/>
          <p:cNvSpPr/>
          <p:nvPr/>
        </p:nvSpPr>
        <p:spPr>
          <a:xfrm>
            <a:off x="7452360" y="2971800"/>
            <a:ext cx="1325880" cy="640080"/>
          </a:xfrm>
          <a:prstGeom prst="rect">
            <a:avLst/>
          </a:prstGeom>
          <a:noFill/>
          <a:ln/>
        </p:spPr>
        <p:txBody>
          <a:bodyPr wrap="square" rtlCol="0" anchor="ctr"/>
          <a:lstStyle/>
          <a:p>
            <a:pPr marL="0" indent="0" algn="ctr">
              <a:lnSpc>
                <a:spcPct val="105000"/>
              </a:lnSpc>
              <a:buNone/>
            </a:pPr>
            <a:r>
              <a:rPr lang="en-US" sz="1150" b="1" dirty="0">
                <a:solidFill>
                  <a:srgbClr val="16221F"/>
                </a:solidFill>
                <a:latin typeface="Calibri" pitchFamily="34" charset="0"/>
                <a:ea typeface="Calibri" pitchFamily="34" charset="-122"/>
                <a:cs typeface="Calibri" pitchFamily="34" charset="-120"/>
              </a:rPr>
              <a:t>Patient</a:t>
            </a:r>
            <a:endParaRPr lang="en-US" sz="1150" dirty="0"/>
          </a:p>
          <a:p>
            <a:pPr marL="0" indent="0" algn="ctr">
              <a:lnSpc>
                <a:spcPct val="105000"/>
              </a:lnSpc>
              <a:buNone/>
            </a:pPr>
            <a:r>
              <a:rPr lang="en-US" sz="1150" b="1" dirty="0">
                <a:solidFill>
                  <a:srgbClr val="16221F"/>
                </a:solidFill>
                <a:latin typeface="Calibri" pitchFamily="34" charset="0"/>
                <a:ea typeface="Calibri" pitchFamily="34" charset="-122"/>
                <a:cs typeface="Calibri" pitchFamily="34" charset="-120"/>
              </a:rPr>
              <a:t>Registration</a:t>
            </a:r>
            <a:endParaRPr lang="en-US" sz="1150" dirty="0"/>
          </a:p>
        </p:txBody>
      </p:sp>
      <p:sp>
        <p:nvSpPr>
          <p:cNvPr id="12" name="Shape 10"/>
          <p:cNvSpPr/>
          <p:nvPr/>
        </p:nvSpPr>
        <p:spPr>
          <a:xfrm>
            <a:off x="9646920" y="2194560"/>
            <a:ext cx="685800" cy="685800"/>
          </a:xfrm>
          <a:prstGeom prst="ellipse">
            <a:avLst/>
          </a:prstGeom>
          <a:solidFill>
            <a:srgbClr val="0E6E67"/>
          </a:solidFill>
          <a:ln/>
        </p:spPr>
      </p:sp>
      <p:sp>
        <p:nvSpPr>
          <p:cNvPr id="13" name="Text 11"/>
          <p:cNvSpPr/>
          <p:nvPr/>
        </p:nvSpPr>
        <p:spPr>
          <a:xfrm>
            <a:off x="9646920" y="2194560"/>
            <a:ext cx="685800" cy="68580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4" name="Text 12"/>
          <p:cNvSpPr/>
          <p:nvPr/>
        </p:nvSpPr>
        <p:spPr>
          <a:xfrm>
            <a:off x="9326880" y="2971800"/>
            <a:ext cx="1325880" cy="640080"/>
          </a:xfrm>
          <a:prstGeom prst="rect">
            <a:avLst/>
          </a:prstGeom>
          <a:noFill/>
          <a:ln/>
        </p:spPr>
        <p:txBody>
          <a:bodyPr wrap="square" rtlCol="0" anchor="ctr"/>
          <a:lstStyle/>
          <a:p>
            <a:pPr marL="0" indent="0" algn="ctr">
              <a:lnSpc>
                <a:spcPct val="105000"/>
              </a:lnSpc>
              <a:buNone/>
            </a:pPr>
            <a:r>
              <a:rPr lang="en-US" sz="1150" b="1" dirty="0">
                <a:solidFill>
                  <a:srgbClr val="16221F"/>
                </a:solidFill>
                <a:latin typeface="Calibri" pitchFamily="34" charset="0"/>
                <a:ea typeface="Calibri" pitchFamily="34" charset="-122"/>
                <a:cs typeface="Calibri" pitchFamily="34" charset="-120"/>
              </a:rPr>
              <a:t>Appointment</a:t>
            </a:r>
            <a:endParaRPr lang="en-US" sz="1150" dirty="0"/>
          </a:p>
          <a:p>
            <a:pPr marL="0" indent="0" algn="ctr">
              <a:lnSpc>
                <a:spcPct val="105000"/>
              </a:lnSpc>
              <a:buNone/>
            </a:pPr>
            <a:r>
              <a:rPr lang="en-US" sz="1150" b="1" dirty="0">
                <a:solidFill>
                  <a:srgbClr val="16221F"/>
                </a:solidFill>
                <a:latin typeface="Calibri" pitchFamily="34" charset="0"/>
                <a:ea typeface="Calibri" pitchFamily="34" charset="-122"/>
                <a:cs typeface="Calibri" pitchFamily="34" charset="-120"/>
              </a:rPr>
              <a:t>Scheduling</a:t>
            </a:r>
            <a:endParaRPr lang="en-US" sz="1150" dirty="0"/>
          </a:p>
        </p:txBody>
      </p:sp>
      <p:sp>
        <p:nvSpPr>
          <p:cNvPr id="15" name="Shape 13"/>
          <p:cNvSpPr/>
          <p:nvPr/>
        </p:nvSpPr>
        <p:spPr>
          <a:xfrm>
            <a:off x="7772400" y="4206240"/>
            <a:ext cx="685800" cy="685800"/>
          </a:xfrm>
          <a:prstGeom prst="ellipse">
            <a:avLst/>
          </a:prstGeom>
          <a:solidFill>
            <a:srgbClr val="0E6E67"/>
          </a:solidFill>
          <a:ln/>
        </p:spPr>
      </p:sp>
      <p:sp>
        <p:nvSpPr>
          <p:cNvPr id="16" name="Text 14"/>
          <p:cNvSpPr/>
          <p:nvPr/>
        </p:nvSpPr>
        <p:spPr>
          <a:xfrm>
            <a:off x="7772400" y="4206240"/>
            <a:ext cx="685800" cy="68580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7" name="Text 15"/>
          <p:cNvSpPr/>
          <p:nvPr/>
        </p:nvSpPr>
        <p:spPr>
          <a:xfrm>
            <a:off x="7452360" y="4983480"/>
            <a:ext cx="1325880" cy="640080"/>
          </a:xfrm>
          <a:prstGeom prst="rect">
            <a:avLst/>
          </a:prstGeom>
          <a:noFill/>
          <a:ln/>
        </p:spPr>
        <p:txBody>
          <a:bodyPr wrap="square" rtlCol="0" anchor="ctr"/>
          <a:lstStyle/>
          <a:p>
            <a:pPr marL="0" indent="0" algn="ctr">
              <a:lnSpc>
                <a:spcPct val="105000"/>
              </a:lnSpc>
              <a:buNone/>
            </a:pPr>
            <a:r>
              <a:rPr lang="en-US" sz="1150" b="1" dirty="0">
                <a:solidFill>
                  <a:srgbClr val="16221F"/>
                </a:solidFill>
                <a:latin typeface="Calibri" pitchFamily="34" charset="0"/>
                <a:ea typeface="Calibri" pitchFamily="34" charset="-122"/>
                <a:cs typeface="Calibri" pitchFamily="34" charset="-120"/>
              </a:rPr>
              <a:t>Billing &amp;</a:t>
            </a:r>
            <a:endParaRPr lang="en-US" sz="1150" dirty="0"/>
          </a:p>
          <a:p>
            <a:pPr marL="0" indent="0" algn="ctr">
              <a:lnSpc>
                <a:spcPct val="105000"/>
              </a:lnSpc>
              <a:buNone/>
            </a:pPr>
            <a:r>
              <a:rPr lang="en-US" sz="1150" b="1" dirty="0">
                <a:solidFill>
                  <a:srgbClr val="16221F"/>
                </a:solidFill>
                <a:latin typeface="Calibri" pitchFamily="34" charset="0"/>
                <a:ea typeface="Calibri" pitchFamily="34" charset="-122"/>
                <a:cs typeface="Calibri" pitchFamily="34" charset="-120"/>
              </a:rPr>
              <a:t>Insurance</a:t>
            </a:r>
            <a:endParaRPr lang="en-US" sz="1150" dirty="0"/>
          </a:p>
        </p:txBody>
      </p:sp>
      <p:sp>
        <p:nvSpPr>
          <p:cNvPr id="18" name="Shape 16"/>
          <p:cNvSpPr/>
          <p:nvPr/>
        </p:nvSpPr>
        <p:spPr>
          <a:xfrm>
            <a:off x="9646920" y="4206240"/>
            <a:ext cx="685800" cy="685800"/>
          </a:xfrm>
          <a:prstGeom prst="ellipse">
            <a:avLst/>
          </a:prstGeom>
          <a:solidFill>
            <a:srgbClr val="0E6E67"/>
          </a:solidFill>
          <a:ln/>
        </p:spPr>
      </p:sp>
      <p:sp>
        <p:nvSpPr>
          <p:cNvPr id="19" name="Text 17"/>
          <p:cNvSpPr/>
          <p:nvPr/>
        </p:nvSpPr>
        <p:spPr>
          <a:xfrm>
            <a:off x="9646920" y="4206240"/>
            <a:ext cx="685800" cy="68580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20" name="Text 18"/>
          <p:cNvSpPr/>
          <p:nvPr/>
        </p:nvSpPr>
        <p:spPr>
          <a:xfrm>
            <a:off x="9326880" y="4983480"/>
            <a:ext cx="1325880" cy="640080"/>
          </a:xfrm>
          <a:prstGeom prst="rect">
            <a:avLst/>
          </a:prstGeom>
          <a:noFill/>
          <a:ln/>
        </p:spPr>
        <p:txBody>
          <a:bodyPr wrap="square" rtlCol="0" anchor="ctr"/>
          <a:lstStyle/>
          <a:p>
            <a:pPr marL="0" indent="0" algn="ctr">
              <a:lnSpc>
                <a:spcPct val="105000"/>
              </a:lnSpc>
              <a:buNone/>
            </a:pPr>
            <a:r>
              <a:rPr lang="en-US" sz="1150" b="1" dirty="0">
                <a:solidFill>
                  <a:srgbClr val="16221F"/>
                </a:solidFill>
                <a:latin typeface="Calibri" pitchFamily="34" charset="0"/>
                <a:ea typeface="Calibri" pitchFamily="34" charset="-122"/>
                <a:cs typeface="Calibri" pitchFamily="34" charset="-120"/>
              </a:rPr>
              <a:t>Pharmacy</a:t>
            </a:r>
            <a:endParaRPr lang="en-US" sz="1150" dirty="0"/>
          </a:p>
          <a:p>
            <a:pPr marL="0" indent="0" algn="ctr">
              <a:lnSpc>
                <a:spcPct val="105000"/>
              </a:lnSpc>
              <a:buNone/>
            </a:pPr>
            <a:r>
              <a:rPr lang="en-US" sz="1150" b="1" dirty="0">
                <a:solidFill>
                  <a:srgbClr val="16221F"/>
                </a:solidFill>
                <a:latin typeface="Calibri" pitchFamily="34" charset="0"/>
                <a:ea typeface="Calibri" pitchFamily="34" charset="-122"/>
                <a:cs typeface="Calibri" pitchFamily="34" charset="-120"/>
              </a:rPr>
              <a:t>Dispensing</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5486400" cy="274320"/>
          </a:xfrm>
          <a:prstGeom prst="rect">
            <a:avLst/>
          </a:prstGeom>
          <a:noFill/>
          <a:ln/>
        </p:spPr>
        <p:txBody>
          <a:bodyPr wrap="square" rtlCol="0" anchor="ctr"/>
          <a:lstStyle/>
          <a:p>
            <a:pPr marL="0" indent="0">
              <a:buNone/>
            </a:pPr>
            <a:r>
              <a:rPr lang="en-US" sz="1100" b="1" kern="0" spc="200" dirty="0">
                <a:solidFill>
                  <a:srgbClr val="0E6E67"/>
                </a:solidFill>
                <a:latin typeface="Calibri" pitchFamily="34" charset="0"/>
                <a:ea typeface="Calibri" pitchFamily="34" charset="-122"/>
                <a:cs typeface="Calibri" pitchFamily="34" charset="-120"/>
              </a:rPr>
              <a:t>02 · PROBLEM STATEMENT</a:t>
            </a:r>
            <a:endParaRPr lang="en-US" sz="1100" dirty="0"/>
          </a:p>
        </p:txBody>
      </p:sp>
      <p:sp>
        <p:nvSpPr>
          <p:cNvPr id="3" name="Text 1"/>
          <p:cNvSpPr/>
          <p:nvPr/>
        </p:nvSpPr>
        <p:spPr>
          <a:xfrm>
            <a:off x="502920" y="594360"/>
            <a:ext cx="10607040" cy="640080"/>
          </a:xfrm>
          <a:prstGeom prst="rect">
            <a:avLst/>
          </a:prstGeom>
          <a:noFill/>
          <a:ln/>
        </p:spPr>
        <p:txBody>
          <a:bodyPr wrap="square" rtlCol="0" anchor="ctr"/>
          <a:lstStyle/>
          <a:p>
            <a:pPr marL="0" indent="0">
              <a:buNone/>
            </a:pPr>
            <a:r>
              <a:rPr lang="en-US" sz="2700" b="1" dirty="0">
                <a:solidFill>
                  <a:srgbClr val="16221F"/>
                </a:solidFill>
                <a:latin typeface="Cambria" pitchFamily="34" charset="0"/>
                <a:ea typeface="Cambria" pitchFamily="34" charset="-122"/>
                <a:cs typeface="Cambria" pitchFamily="34" charset="-120"/>
              </a:rPr>
              <a:t>When Everything Is Wired to Everything Else</a:t>
            </a:r>
            <a:endParaRPr lang="en-US" sz="2700" dirty="0"/>
          </a:p>
        </p:txBody>
      </p:sp>
      <p:sp>
        <p:nvSpPr>
          <p:cNvPr id="4" name="Text 2"/>
          <p:cNvSpPr/>
          <p:nvPr/>
        </p:nvSpPr>
        <p:spPr>
          <a:xfrm>
            <a:off x="502920" y="1280160"/>
            <a:ext cx="10607040" cy="548640"/>
          </a:xfrm>
          <a:prstGeom prst="rect">
            <a:avLst/>
          </a:prstGeom>
          <a:noFill/>
          <a:ln/>
        </p:spPr>
        <p:txBody>
          <a:bodyPr wrap="square" rtlCol="0" anchor="ctr"/>
          <a:lstStyle/>
          <a:p>
            <a:pPr marL="0" indent="0">
              <a:buNone/>
            </a:pPr>
            <a:r>
              <a:rPr lang="en-US" sz="1350" i="1" dirty="0">
                <a:solidFill>
                  <a:srgbClr val="4C5C59"/>
                </a:solidFill>
                <a:latin typeface="Calibri" pitchFamily="34" charset="0"/>
                <a:ea typeface="Calibri" pitchFamily="34" charset="-122"/>
                <a:cs typeface="Calibri" pitchFamily="34" charset="-120"/>
              </a:rPr>
              <a:t>In the existing HMS, Billing reaches directly into Patient Registration's internal fields. Pharmacy depends on Appointment Scheduling code to run. There is no clear boundary between modules.</a:t>
            </a:r>
            <a:endParaRPr lang="en-US" sz="1350" dirty="0"/>
          </a:p>
        </p:txBody>
      </p:sp>
      <p:sp>
        <p:nvSpPr>
          <p:cNvPr id="5" name="Shape 3"/>
          <p:cNvSpPr/>
          <p:nvPr/>
        </p:nvSpPr>
        <p:spPr>
          <a:xfrm>
            <a:off x="502920" y="2057400"/>
            <a:ext cx="5257800" cy="1965960"/>
          </a:xfrm>
          <a:prstGeom prst="roundRect">
            <a:avLst>
              <a:gd name="adj" fmla="val 3256"/>
            </a:avLst>
          </a:prstGeom>
          <a:solidFill>
            <a:srgbClr val="EAF6F4"/>
          </a:solidFill>
          <a:ln/>
        </p:spPr>
      </p:sp>
      <p:sp>
        <p:nvSpPr>
          <p:cNvPr id="6" name="Shape 4"/>
          <p:cNvSpPr/>
          <p:nvPr/>
        </p:nvSpPr>
        <p:spPr>
          <a:xfrm>
            <a:off x="731520" y="2286000"/>
            <a:ext cx="502920" cy="502920"/>
          </a:xfrm>
          <a:prstGeom prst="ellipse">
            <a:avLst/>
          </a:prstGeom>
          <a:solidFill>
            <a:srgbClr val="E4572E"/>
          </a:solidFill>
          <a:ln/>
        </p:spPr>
      </p:sp>
      <p:sp>
        <p:nvSpPr>
          <p:cNvPr id="7" name="Text 5"/>
          <p:cNvSpPr/>
          <p:nvPr/>
        </p:nvSpPr>
        <p:spPr>
          <a:xfrm>
            <a:off x="731520" y="2286000"/>
            <a:ext cx="502920" cy="502920"/>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8" name="Text 6"/>
          <p:cNvSpPr/>
          <p:nvPr/>
        </p:nvSpPr>
        <p:spPr>
          <a:xfrm>
            <a:off x="1371600" y="2240280"/>
            <a:ext cx="4160520" cy="365760"/>
          </a:xfrm>
          <a:prstGeom prst="rect">
            <a:avLst/>
          </a:prstGeom>
          <a:noFill/>
          <a:ln/>
        </p:spPr>
        <p:txBody>
          <a:bodyPr wrap="square" rtlCol="0" anchor="ctr"/>
          <a:lstStyle/>
          <a:p>
            <a:pPr marL="0" indent="0">
              <a:buNone/>
            </a:pPr>
            <a:r>
              <a:rPr lang="en-US" sz="1450" b="1" dirty="0">
                <a:solidFill>
                  <a:srgbClr val="16221F"/>
                </a:solidFill>
                <a:latin typeface="Cambria" pitchFamily="34" charset="0"/>
                <a:ea typeface="Cambria" pitchFamily="34" charset="-122"/>
                <a:cs typeface="Cambria" pitchFamily="34" charset="-120"/>
              </a:rPr>
              <a:t>One Change, Many Breakages</a:t>
            </a:r>
            <a:endParaRPr lang="en-US" sz="1450" dirty="0"/>
          </a:p>
        </p:txBody>
      </p:sp>
      <p:sp>
        <p:nvSpPr>
          <p:cNvPr id="9" name="Text 7"/>
          <p:cNvSpPr/>
          <p:nvPr/>
        </p:nvSpPr>
        <p:spPr>
          <a:xfrm>
            <a:off x="1371600" y="2624328"/>
            <a:ext cx="4160520" cy="1234440"/>
          </a:xfrm>
          <a:prstGeom prst="rect">
            <a:avLst/>
          </a:prstGeom>
          <a:noFill/>
          <a:ln/>
        </p:spPr>
        <p:txBody>
          <a:bodyPr wrap="square" rtlCol="0" anchor="ctr"/>
          <a:lstStyle/>
          <a:p>
            <a:pPr marL="0" indent="0">
              <a:lnSpc>
                <a:spcPct val="118000"/>
              </a:lnSpc>
              <a:buNone/>
            </a:pPr>
            <a:r>
              <a:rPr lang="en-US" sz="1130" dirty="0">
                <a:solidFill>
                  <a:srgbClr val="4C5C59"/>
                </a:solidFill>
                <a:latin typeface="Calibri" pitchFamily="34" charset="0"/>
                <a:ea typeface="Calibri" pitchFamily="34" charset="-122"/>
                <a:cs typeface="Calibri" pitchFamily="34" charset="-120"/>
              </a:rPr>
              <a:t>A tax-rate fix in Billing silently breaks Appointment Scheduling, because both modules share the same unguarded internal variables.</a:t>
            </a:r>
            <a:endParaRPr lang="en-US" sz="1130" dirty="0"/>
          </a:p>
        </p:txBody>
      </p:sp>
      <p:sp>
        <p:nvSpPr>
          <p:cNvPr id="10" name="Shape 8"/>
          <p:cNvSpPr/>
          <p:nvPr/>
        </p:nvSpPr>
        <p:spPr>
          <a:xfrm>
            <a:off x="6035040" y="2057400"/>
            <a:ext cx="5257800" cy="1965960"/>
          </a:xfrm>
          <a:prstGeom prst="roundRect">
            <a:avLst>
              <a:gd name="adj" fmla="val 3256"/>
            </a:avLst>
          </a:prstGeom>
          <a:solidFill>
            <a:srgbClr val="EAF6F4"/>
          </a:solidFill>
          <a:ln/>
        </p:spPr>
      </p:sp>
      <p:sp>
        <p:nvSpPr>
          <p:cNvPr id="11" name="Shape 9"/>
          <p:cNvSpPr/>
          <p:nvPr/>
        </p:nvSpPr>
        <p:spPr>
          <a:xfrm>
            <a:off x="6263640" y="2286000"/>
            <a:ext cx="502920" cy="502920"/>
          </a:xfrm>
          <a:prstGeom prst="ellipse">
            <a:avLst/>
          </a:prstGeom>
          <a:solidFill>
            <a:srgbClr val="E4572E"/>
          </a:solidFill>
          <a:ln/>
        </p:spPr>
      </p:sp>
      <p:sp>
        <p:nvSpPr>
          <p:cNvPr id="12" name="Text 10"/>
          <p:cNvSpPr/>
          <p:nvPr/>
        </p:nvSpPr>
        <p:spPr>
          <a:xfrm>
            <a:off x="6263640" y="2286000"/>
            <a:ext cx="502920" cy="502920"/>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13" name="Text 11"/>
          <p:cNvSpPr/>
          <p:nvPr/>
        </p:nvSpPr>
        <p:spPr>
          <a:xfrm>
            <a:off x="6903720" y="2240280"/>
            <a:ext cx="4160520" cy="365760"/>
          </a:xfrm>
          <a:prstGeom prst="rect">
            <a:avLst/>
          </a:prstGeom>
          <a:noFill/>
          <a:ln/>
        </p:spPr>
        <p:txBody>
          <a:bodyPr wrap="square" rtlCol="0" anchor="ctr"/>
          <a:lstStyle/>
          <a:p>
            <a:pPr marL="0" indent="0">
              <a:buNone/>
            </a:pPr>
            <a:r>
              <a:rPr lang="en-US" sz="1450" b="1" dirty="0">
                <a:solidFill>
                  <a:srgbClr val="16221F"/>
                </a:solidFill>
                <a:latin typeface="Cambria" pitchFamily="34" charset="0"/>
                <a:ea typeface="Cambria" pitchFamily="34" charset="-122"/>
                <a:cs typeface="Cambria" pitchFamily="34" charset="-120"/>
              </a:rPr>
              <a:t>Slow, Risky Releases</a:t>
            </a:r>
            <a:endParaRPr lang="en-US" sz="1450" dirty="0"/>
          </a:p>
        </p:txBody>
      </p:sp>
      <p:sp>
        <p:nvSpPr>
          <p:cNvPr id="14" name="Text 12"/>
          <p:cNvSpPr/>
          <p:nvPr/>
        </p:nvSpPr>
        <p:spPr>
          <a:xfrm>
            <a:off x="6903720" y="2624328"/>
            <a:ext cx="4160520" cy="1234440"/>
          </a:xfrm>
          <a:prstGeom prst="rect">
            <a:avLst/>
          </a:prstGeom>
          <a:noFill/>
          <a:ln/>
        </p:spPr>
        <p:txBody>
          <a:bodyPr wrap="square" rtlCol="0" anchor="ctr"/>
          <a:lstStyle/>
          <a:p>
            <a:pPr marL="0" indent="0">
              <a:lnSpc>
                <a:spcPct val="118000"/>
              </a:lnSpc>
              <a:buNone/>
            </a:pPr>
            <a:r>
              <a:rPr lang="en-US" sz="1130" dirty="0">
                <a:solidFill>
                  <a:srgbClr val="4C5C59"/>
                </a:solidFill>
                <a:latin typeface="Calibri" pitchFamily="34" charset="0"/>
                <a:ea typeface="Calibri" pitchFamily="34" charset="-122"/>
                <a:cs typeface="Calibri" pitchFamily="34" charset="-120"/>
              </a:rPr>
              <a:t>Every deployment requires re-testing the entire system, since no one can be certain which modules a change actually touches.</a:t>
            </a:r>
            <a:endParaRPr lang="en-US" sz="1130" dirty="0"/>
          </a:p>
        </p:txBody>
      </p:sp>
      <p:sp>
        <p:nvSpPr>
          <p:cNvPr id="15" name="Shape 13"/>
          <p:cNvSpPr/>
          <p:nvPr/>
        </p:nvSpPr>
        <p:spPr>
          <a:xfrm>
            <a:off x="502920" y="4297680"/>
            <a:ext cx="5257800" cy="1965960"/>
          </a:xfrm>
          <a:prstGeom prst="roundRect">
            <a:avLst>
              <a:gd name="adj" fmla="val 3256"/>
            </a:avLst>
          </a:prstGeom>
          <a:solidFill>
            <a:srgbClr val="EAF6F4"/>
          </a:solidFill>
          <a:ln/>
        </p:spPr>
      </p:sp>
      <p:sp>
        <p:nvSpPr>
          <p:cNvPr id="16" name="Shape 14"/>
          <p:cNvSpPr/>
          <p:nvPr/>
        </p:nvSpPr>
        <p:spPr>
          <a:xfrm>
            <a:off x="731520" y="4526280"/>
            <a:ext cx="502920" cy="502920"/>
          </a:xfrm>
          <a:prstGeom prst="ellipse">
            <a:avLst/>
          </a:prstGeom>
          <a:solidFill>
            <a:srgbClr val="E4572E"/>
          </a:solidFill>
          <a:ln/>
        </p:spPr>
      </p:sp>
      <p:sp>
        <p:nvSpPr>
          <p:cNvPr id="17" name="Text 15"/>
          <p:cNvSpPr/>
          <p:nvPr/>
        </p:nvSpPr>
        <p:spPr>
          <a:xfrm>
            <a:off x="731520" y="4526280"/>
            <a:ext cx="502920" cy="502920"/>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18" name="Text 16"/>
          <p:cNvSpPr/>
          <p:nvPr/>
        </p:nvSpPr>
        <p:spPr>
          <a:xfrm>
            <a:off x="1371600" y="4480560"/>
            <a:ext cx="4160520" cy="365760"/>
          </a:xfrm>
          <a:prstGeom prst="rect">
            <a:avLst/>
          </a:prstGeom>
          <a:noFill/>
          <a:ln/>
        </p:spPr>
        <p:txBody>
          <a:bodyPr wrap="square" rtlCol="0" anchor="ctr"/>
          <a:lstStyle/>
          <a:p>
            <a:pPr marL="0" indent="0">
              <a:buNone/>
            </a:pPr>
            <a:r>
              <a:rPr lang="en-US" sz="1450" b="1" dirty="0">
                <a:solidFill>
                  <a:srgbClr val="16221F"/>
                </a:solidFill>
                <a:latin typeface="Cambria" pitchFamily="34" charset="0"/>
                <a:ea typeface="Cambria" pitchFamily="34" charset="-122"/>
                <a:cs typeface="Cambria" pitchFamily="34" charset="-120"/>
              </a:rPr>
              <a:t>"Fragile Code" Syndrome</a:t>
            </a:r>
            <a:endParaRPr lang="en-US" sz="1450" dirty="0"/>
          </a:p>
        </p:txBody>
      </p:sp>
      <p:sp>
        <p:nvSpPr>
          <p:cNvPr id="19" name="Text 17"/>
          <p:cNvSpPr/>
          <p:nvPr/>
        </p:nvSpPr>
        <p:spPr>
          <a:xfrm>
            <a:off x="1371600" y="4864608"/>
            <a:ext cx="4160520" cy="1234440"/>
          </a:xfrm>
          <a:prstGeom prst="rect">
            <a:avLst/>
          </a:prstGeom>
          <a:noFill/>
          <a:ln/>
        </p:spPr>
        <p:txBody>
          <a:bodyPr wrap="square" rtlCol="0" anchor="ctr"/>
          <a:lstStyle/>
          <a:p>
            <a:pPr marL="0" indent="0">
              <a:lnSpc>
                <a:spcPct val="118000"/>
              </a:lnSpc>
              <a:buNone/>
            </a:pPr>
            <a:r>
              <a:rPr lang="en-US" sz="1130" dirty="0">
                <a:solidFill>
                  <a:srgbClr val="4C5C59"/>
                </a:solidFill>
                <a:latin typeface="Calibri" pitchFamily="34" charset="0"/>
                <a:ea typeface="Calibri" pitchFamily="34" charset="-122"/>
                <a:cs typeface="Calibri" pitchFamily="34" charset="-120"/>
              </a:rPr>
              <a:t>Developers become afraid to touch working code, because the smallest edit can ripple into unrelated, untested corners of the system.</a:t>
            </a:r>
            <a:endParaRPr lang="en-US" sz="1130" dirty="0"/>
          </a:p>
        </p:txBody>
      </p:sp>
      <p:sp>
        <p:nvSpPr>
          <p:cNvPr id="20" name="Shape 18"/>
          <p:cNvSpPr/>
          <p:nvPr/>
        </p:nvSpPr>
        <p:spPr>
          <a:xfrm>
            <a:off x="6035040" y="4297680"/>
            <a:ext cx="5257800" cy="1965960"/>
          </a:xfrm>
          <a:prstGeom prst="roundRect">
            <a:avLst>
              <a:gd name="adj" fmla="val 3256"/>
            </a:avLst>
          </a:prstGeom>
          <a:solidFill>
            <a:srgbClr val="EAF6F4"/>
          </a:solidFill>
          <a:ln/>
        </p:spPr>
      </p:sp>
      <p:sp>
        <p:nvSpPr>
          <p:cNvPr id="21" name="Shape 19"/>
          <p:cNvSpPr/>
          <p:nvPr/>
        </p:nvSpPr>
        <p:spPr>
          <a:xfrm>
            <a:off x="6263640" y="4526280"/>
            <a:ext cx="502920" cy="502920"/>
          </a:xfrm>
          <a:prstGeom prst="ellipse">
            <a:avLst/>
          </a:prstGeom>
          <a:solidFill>
            <a:srgbClr val="E4572E"/>
          </a:solidFill>
          <a:ln/>
        </p:spPr>
      </p:sp>
      <p:sp>
        <p:nvSpPr>
          <p:cNvPr id="22" name="Text 20"/>
          <p:cNvSpPr/>
          <p:nvPr/>
        </p:nvSpPr>
        <p:spPr>
          <a:xfrm>
            <a:off x="6263640" y="4526280"/>
            <a:ext cx="502920" cy="502920"/>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23" name="Text 21"/>
          <p:cNvSpPr/>
          <p:nvPr/>
        </p:nvSpPr>
        <p:spPr>
          <a:xfrm>
            <a:off x="6903720" y="4480560"/>
            <a:ext cx="4160520" cy="365760"/>
          </a:xfrm>
          <a:prstGeom prst="rect">
            <a:avLst/>
          </a:prstGeom>
          <a:noFill/>
          <a:ln/>
        </p:spPr>
        <p:txBody>
          <a:bodyPr wrap="square" rtlCol="0" anchor="ctr"/>
          <a:lstStyle/>
          <a:p>
            <a:pPr marL="0" indent="0">
              <a:buNone/>
            </a:pPr>
            <a:r>
              <a:rPr lang="en-US" sz="1450" b="1" dirty="0">
                <a:solidFill>
                  <a:srgbClr val="16221F"/>
                </a:solidFill>
                <a:latin typeface="Cambria" pitchFamily="34" charset="0"/>
                <a:ea typeface="Cambria" pitchFamily="34" charset="-122"/>
                <a:cs typeface="Cambria" pitchFamily="34" charset="-120"/>
              </a:rPr>
              <a:t>Compliance &amp; Audit Risk</a:t>
            </a:r>
            <a:endParaRPr lang="en-US" sz="1450" dirty="0"/>
          </a:p>
        </p:txBody>
      </p:sp>
      <p:sp>
        <p:nvSpPr>
          <p:cNvPr id="24" name="Text 22"/>
          <p:cNvSpPr/>
          <p:nvPr/>
        </p:nvSpPr>
        <p:spPr>
          <a:xfrm>
            <a:off x="6903720" y="4864608"/>
            <a:ext cx="4160520" cy="1234440"/>
          </a:xfrm>
          <a:prstGeom prst="rect">
            <a:avLst/>
          </a:prstGeom>
          <a:noFill/>
          <a:ln/>
        </p:spPr>
        <p:txBody>
          <a:bodyPr wrap="square" rtlCol="0" anchor="ctr"/>
          <a:lstStyle/>
          <a:p>
            <a:pPr marL="0" indent="0">
              <a:lnSpc>
                <a:spcPct val="118000"/>
              </a:lnSpc>
              <a:buNone/>
            </a:pPr>
            <a:r>
              <a:rPr lang="en-US" sz="1130" dirty="0">
                <a:solidFill>
                  <a:srgbClr val="4C5C59"/>
                </a:solidFill>
                <a:latin typeface="Calibri" pitchFamily="34" charset="0"/>
                <a:ea typeface="Calibri" pitchFamily="34" charset="-122"/>
                <a:cs typeface="Calibri" pitchFamily="34" charset="-120"/>
              </a:rPr>
              <a:t>Untraceable dependencies make it hard to prove which module accessed or modified sensitive patient data — a real regulatory liability.</a:t>
            </a:r>
            <a:endParaRPr lang="en-US" sz="113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5486400" cy="274320"/>
          </a:xfrm>
          <a:prstGeom prst="rect">
            <a:avLst/>
          </a:prstGeom>
          <a:noFill/>
          <a:ln/>
        </p:spPr>
        <p:txBody>
          <a:bodyPr wrap="square" rtlCol="0" anchor="ctr"/>
          <a:lstStyle/>
          <a:p>
            <a:pPr marL="0" indent="0">
              <a:buNone/>
            </a:pPr>
            <a:r>
              <a:rPr lang="en-US" sz="1100" b="1" kern="0" spc="200" dirty="0">
                <a:solidFill>
                  <a:srgbClr val="0E6E67"/>
                </a:solidFill>
                <a:latin typeface="Calibri" pitchFamily="34" charset="0"/>
                <a:ea typeface="Calibri" pitchFamily="34" charset="-122"/>
                <a:cs typeface="Calibri" pitchFamily="34" charset="-120"/>
              </a:rPr>
              <a:t>03 · APPROACH</a:t>
            </a:r>
            <a:endParaRPr lang="en-US" sz="1100" dirty="0"/>
          </a:p>
        </p:txBody>
      </p:sp>
      <p:sp>
        <p:nvSpPr>
          <p:cNvPr id="3" name="Text 1"/>
          <p:cNvSpPr/>
          <p:nvPr/>
        </p:nvSpPr>
        <p:spPr>
          <a:xfrm>
            <a:off x="502920" y="594360"/>
            <a:ext cx="10607040" cy="640080"/>
          </a:xfrm>
          <a:prstGeom prst="rect">
            <a:avLst/>
          </a:prstGeom>
          <a:noFill/>
          <a:ln/>
        </p:spPr>
        <p:txBody>
          <a:bodyPr wrap="square" rtlCol="0" anchor="ctr"/>
          <a:lstStyle/>
          <a:p>
            <a:pPr marL="0" indent="0">
              <a:buNone/>
            </a:pPr>
            <a:r>
              <a:rPr lang="en-US" sz="2700" b="1" dirty="0">
                <a:solidFill>
                  <a:srgbClr val="16221F"/>
                </a:solidFill>
                <a:latin typeface="Cambria" pitchFamily="34" charset="0"/>
                <a:ea typeface="Cambria" pitchFamily="34" charset="-122"/>
                <a:cs typeface="Cambria" pitchFamily="34" charset="-120"/>
              </a:rPr>
              <a:t>Redesigning With Object-Oriented Principles</a:t>
            </a:r>
            <a:endParaRPr lang="en-US" sz="2700" dirty="0"/>
          </a:p>
        </p:txBody>
      </p:sp>
      <p:sp>
        <p:nvSpPr>
          <p:cNvPr id="4" name="Text 2"/>
          <p:cNvSpPr/>
          <p:nvPr/>
        </p:nvSpPr>
        <p:spPr>
          <a:xfrm>
            <a:off x="502920" y="1280160"/>
            <a:ext cx="10607040" cy="457200"/>
          </a:xfrm>
          <a:prstGeom prst="rect">
            <a:avLst/>
          </a:prstGeom>
          <a:noFill/>
          <a:ln/>
        </p:spPr>
        <p:txBody>
          <a:bodyPr wrap="square" rtlCol="0" anchor="ctr"/>
          <a:lstStyle/>
          <a:p>
            <a:pPr marL="0" indent="0">
              <a:buNone/>
            </a:pPr>
            <a:r>
              <a:rPr lang="en-US" sz="1350" i="1" dirty="0">
                <a:solidFill>
                  <a:srgbClr val="4C5C59"/>
                </a:solidFill>
                <a:latin typeface="Calibri" pitchFamily="34" charset="0"/>
                <a:ea typeface="Calibri" pitchFamily="34" charset="-122"/>
                <a:cs typeface="Calibri" pitchFamily="34" charset="-120"/>
              </a:rPr>
              <a:t>Instead of one shared block of logic, each hospital concern becomes its own class — with its own data, its own rules, and a clearly defined public interface.</a:t>
            </a:r>
            <a:endParaRPr lang="en-US" sz="1350" dirty="0"/>
          </a:p>
        </p:txBody>
      </p:sp>
      <p:sp>
        <p:nvSpPr>
          <p:cNvPr id="5" name="Shape 3"/>
          <p:cNvSpPr/>
          <p:nvPr/>
        </p:nvSpPr>
        <p:spPr>
          <a:xfrm>
            <a:off x="502920" y="1965960"/>
            <a:ext cx="2578608" cy="4160520"/>
          </a:xfrm>
          <a:prstGeom prst="roundRect">
            <a:avLst>
              <a:gd name="adj" fmla="val 2837"/>
            </a:avLst>
          </a:prstGeom>
          <a:solidFill>
            <a:srgbClr val="0E6E67"/>
          </a:solidFill>
          <a:ln/>
        </p:spPr>
      </p:sp>
      <p:sp>
        <p:nvSpPr>
          <p:cNvPr id="6" name="Shape 4"/>
          <p:cNvSpPr/>
          <p:nvPr/>
        </p:nvSpPr>
        <p:spPr>
          <a:xfrm>
            <a:off x="1426464" y="2240280"/>
            <a:ext cx="731520" cy="731520"/>
          </a:xfrm>
          <a:prstGeom prst="ellipse">
            <a:avLst/>
          </a:prstGeom>
          <a:solidFill>
            <a:srgbClr val="FFFFFF"/>
          </a:solidFill>
          <a:ln/>
        </p:spPr>
      </p:sp>
      <p:sp>
        <p:nvSpPr>
          <p:cNvPr id="7" name="Text 5"/>
          <p:cNvSpPr/>
          <p:nvPr/>
        </p:nvSpPr>
        <p:spPr>
          <a:xfrm>
            <a:off x="1426464" y="2240280"/>
            <a:ext cx="731520" cy="731520"/>
          </a:xfrm>
          <a:prstGeom prst="rect">
            <a:avLst/>
          </a:prstGeom>
          <a:noFill/>
          <a:ln/>
        </p:spPr>
        <p:txBody>
          <a:bodyPr wrap="square" rtlCol="0" anchor="ctr"/>
          <a:lstStyle/>
          <a:p>
            <a:pPr marL="0" indent="0" algn="ctr">
              <a:buNone/>
            </a:pPr>
            <a:r>
              <a:rPr lang="en-US" sz="2600" b="1" dirty="0">
                <a:solidFill>
                  <a:srgbClr val="0E6E67"/>
                </a:solidFill>
                <a:latin typeface="Cambria" pitchFamily="34" charset="0"/>
                <a:ea typeface="Cambria" pitchFamily="34" charset="-122"/>
                <a:cs typeface="Cambria" pitchFamily="34" charset="-120"/>
              </a:rPr>
              <a:t>C</a:t>
            </a:r>
            <a:endParaRPr lang="en-US" sz="2600" dirty="0"/>
          </a:p>
        </p:txBody>
      </p:sp>
      <p:sp>
        <p:nvSpPr>
          <p:cNvPr id="8" name="Text 6"/>
          <p:cNvSpPr/>
          <p:nvPr/>
        </p:nvSpPr>
        <p:spPr>
          <a:xfrm>
            <a:off x="640080" y="3108960"/>
            <a:ext cx="2304288" cy="502920"/>
          </a:xfrm>
          <a:prstGeom prst="rect">
            <a:avLst/>
          </a:prstGeom>
          <a:noFill/>
          <a:ln/>
        </p:spPr>
        <p:txBody>
          <a:bodyPr wrap="square" rtlCol="0" anchor="ctr"/>
          <a:lstStyle/>
          <a:p>
            <a:pPr marL="0" indent="0" algn="ctr">
              <a:buNone/>
            </a:pPr>
            <a:r>
              <a:rPr lang="en-US" sz="1450" b="1" dirty="0">
                <a:solidFill>
                  <a:srgbClr val="FFFFFF"/>
                </a:solidFill>
                <a:latin typeface="Cambria" pitchFamily="34" charset="0"/>
                <a:ea typeface="Cambria" pitchFamily="34" charset="-122"/>
                <a:cs typeface="Cambria" pitchFamily="34" charset="-120"/>
              </a:rPr>
              <a:t>Independent Classes</a:t>
            </a:r>
            <a:endParaRPr lang="en-US" sz="1450" dirty="0"/>
          </a:p>
        </p:txBody>
      </p:sp>
      <p:sp>
        <p:nvSpPr>
          <p:cNvPr id="9" name="Text 7"/>
          <p:cNvSpPr/>
          <p:nvPr/>
        </p:nvSpPr>
        <p:spPr>
          <a:xfrm>
            <a:off x="704088" y="3657600"/>
            <a:ext cx="2176272" cy="2331720"/>
          </a:xfrm>
          <a:prstGeom prst="rect">
            <a:avLst/>
          </a:prstGeom>
          <a:noFill/>
          <a:ln/>
        </p:spPr>
        <p:txBody>
          <a:bodyPr wrap="square" rtlCol="0" anchor="ctr"/>
          <a:lstStyle/>
          <a:p>
            <a:pPr marL="0" indent="0" algn="l">
              <a:lnSpc>
                <a:spcPct val="118000"/>
              </a:lnSpc>
              <a:buNone/>
            </a:pPr>
            <a:r>
              <a:rPr lang="en-US" sz="1080" dirty="0">
                <a:solidFill>
                  <a:srgbClr val="FFFFFF"/>
                </a:solidFill>
                <a:latin typeface="Calibri" pitchFamily="34" charset="0"/>
                <a:ea typeface="Calibri" pitchFamily="34" charset="-122"/>
                <a:cs typeface="Calibri" pitchFamily="34" charset="-120"/>
              </a:rPr>
              <a:t>Patient, Appointment, Billing, and Pharmacy each become self-contained classes with their own attributes and methods — no more reaching into each other's internals.</a:t>
            </a:r>
            <a:endParaRPr lang="en-US" sz="1080" dirty="0"/>
          </a:p>
        </p:txBody>
      </p:sp>
      <p:sp>
        <p:nvSpPr>
          <p:cNvPr id="10" name="Shape 8"/>
          <p:cNvSpPr/>
          <p:nvPr/>
        </p:nvSpPr>
        <p:spPr>
          <a:xfrm>
            <a:off x="3282696" y="1965960"/>
            <a:ext cx="2578608" cy="4160520"/>
          </a:xfrm>
          <a:prstGeom prst="roundRect">
            <a:avLst>
              <a:gd name="adj" fmla="val 2837"/>
            </a:avLst>
          </a:prstGeom>
          <a:solidFill>
            <a:srgbClr val="2FA39B"/>
          </a:solidFill>
          <a:ln/>
        </p:spPr>
      </p:sp>
      <p:sp>
        <p:nvSpPr>
          <p:cNvPr id="11" name="Shape 9"/>
          <p:cNvSpPr/>
          <p:nvPr/>
        </p:nvSpPr>
        <p:spPr>
          <a:xfrm>
            <a:off x="4206240" y="2240280"/>
            <a:ext cx="731520" cy="731520"/>
          </a:xfrm>
          <a:prstGeom prst="ellipse">
            <a:avLst/>
          </a:prstGeom>
          <a:solidFill>
            <a:srgbClr val="FFFFFF"/>
          </a:solidFill>
          <a:ln/>
        </p:spPr>
      </p:sp>
      <p:sp>
        <p:nvSpPr>
          <p:cNvPr id="12" name="Text 10"/>
          <p:cNvSpPr/>
          <p:nvPr/>
        </p:nvSpPr>
        <p:spPr>
          <a:xfrm>
            <a:off x="4206240" y="2240280"/>
            <a:ext cx="731520" cy="731520"/>
          </a:xfrm>
          <a:prstGeom prst="rect">
            <a:avLst/>
          </a:prstGeom>
          <a:noFill/>
          <a:ln/>
        </p:spPr>
        <p:txBody>
          <a:bodyPr wrap="square" rtlCol="0" anchor="ctr"/>
          <a:lstStyle/>
          <a:p>
            <a:pPr marL="0" indent="0" algn="ctr">
              <a:buNone/>
            </a:pPr>
            <a:r>
              <a:rPr lang="en-US" sz="2600" b="1" dirty="0">
                <a:solidFill>
                  <a:srgbClr val="2FA39B"/>
                </a:solidFill>
                <a:latin typeface="Cambria" pitchFamily="34" charset="0"/>
                <a:ea typeface="Cambria" pitchFamily="34" charset="-122"/>
                <a:cs typeface="Cambria" pitchFamily="34" charset="-120"/>
              </a:rPr>
              <a:t>E</a:t>
            </a:r>
            <a:endParaRPr lang="en-US" sz="2600" dirty="0"/>
          </a:p>
        </p:txBody>
      </p:sp>
      <p:sp>
        <p:nvSpPr>
          <p:cNvPr id="13" name="Text 11"/>
          <p:cNvSpPr/>
          <p:nvPr/>
        </p:nvSpPr>
        <p:spPr>
          <a:xfrm>
            <a:off x="3419856" y="3108960"/>
            <a:ext cx="2304288" cy="502920"/>
          </a:xfrm>
          <a:prstGeom prst="rect">
            <a:avLst/>
          </a:prstGeom>
          <a:noFill/>
          <a:ln/>
        </p:spPr>
        <p:txBody>
          <a:bodyPr wrap="square" rtlCol="0" anchor="ctr"/>
          <a:lstStyle/>
          <a:p>
            <a:pPr marL="0" indent="0" algn="ctr">
              <a:buNone/>
            </a:pPr>
            <a:r>
              <a:rPr lang="en-US" sz="1450" b="1" dirty="0">
                <a:solidFill>
                  <a:srgbClr val="FFFFFF"/>
                </a:solidFill>
                <a:latin typeface="Cambria" pitchFamily="34" charset="0"/>
                <a:ea typeface="Cambria" pitchFamily="34" charset="-122"/>
                <a:cs typeface="Cambria" pitchFamily="34" charset="-120"/>
              </a:rPr>
              <a:t>Encapsulation</a:t>
            </a:r>
            <a:endParaRPr lang="en-US" sz="1450" dirty="0"/>
          </a:p>
        </p:txBody>
      </p:sp>
      <p:sp>
        <p:nvSpPr>
          <p:cNvPr id="14" name="Text 12"/>
          <p:cNvSpPr/>
          <p:nvPr/>
        </p:nvSpPr>
        <p:spPr>
          <a:xfrm>
            <a:off x="3483864" y="3657600"/>
            <a:ext cx="2176272" cy="2331720"/>
          </a:xfrm>
          <a:prstGeom prst="rect">
            <a:avLst/>
          </a:prstGeom>
          <a:noFill/>
          <a:ln/>
        </p:spPr>
        <p:txBody>
          <a:bodyPr wrap="square" rtlCol="0" anchor="ctr"/>
          <a:lstStyle/>
          <a:p>
            <a:pPr marL="0" indent="0" algn="l">
              <a:lnSpc>
                <a:spcPct val="118000"/>
              </a:lnSpc>
              <a:buNone/>
            </a:pPr>
            <a:r>
              <a:rPr lang="en-US" sz="1080" dirty="0">
                <a:solidFill>
                  <a:srgbClr val="FFFFFF"/>
                </a:solidFill>
                <a:latin typeface="Calibri" pitchFamily="34" charset="0"/>
                <a:ea typeface="Calibri" pitchFamily="34" charset="-122"/>
                <a:cs typeface="Calibri" pitchFamily="34" charset="-120"/>
              </a:rPr>
              <a:t>Sensitive fields (balances, medical history) are made private. Other modules interact only through defined public methods, which can validate every request.</a:t>
            </a:r>
            <a:endParaRPr lang="en-US" sz="1080" dirty="0"/>
          </a:p>
        </p:txBody>
      </p:sp>
      <p:sp>
        <p:nvSpPr>
          <p:cNvPr id="15" name="Shape 13"/>
          <p:cNvSpPr/>
          <p:nvPr/>
        </p:nvSpPr>
        <p:spPr>
          <a:xfrm>
            <a:off x="6062472" y="1965960"/>
            <a:ext cx="2578608" cy="4160520"/>
          </a:xfrm>
          <a:prstGeom prst="roundRect">
            <a:avLst>
              <a:gd name="adj" fmla="val 2837"/>
            </a:avLst>
          </a:prstGeom>
          <a:solidFill>
            <a:srgbClr val="0E6E67"/>
          </a:solidFill>
          <a:ln/>
        </p:spPr>
      </p:sp>
      <p:sp>
        <p:nvSpPr>
          <p:cNvPr id="16" name="Shape 14"/>
          <p:cNvSpPr/>
          <p:nvPr/>
        </p:nvSpPr>
        <p:spPr>
          <a:xfrm>
            <a:off x="6986016" y="2240280"/>
            <a:ext cx="731520" cy="731520"/>
          </a:xfrm>
          <a:prstGeom prst="ellipse">
            <a:avLst/>
          </a:prstGeom>
          <a:solidFill>
            <a:srgbClr val="FFFFFF"/>
          </a:solidFill>
          <a:ln/>
        </p:spPr>
      </p:sp>
      <p:sp>
        <p:nvSpPr>
          <p:cNvPr id="17" name="Text 15"/>
          <p:cNvSpPr/>
          <p:nvPr/>
        </p:nvSpPr>
        <p:spPr>
          <a:xfrm>
            <a:off x="6986016" y="2240280"/>
            <a:ext cx="731520" cy="731520"/>
          </a:xfrm>
          <a:prstGeom prst="rect">
            <a:avLst/>
          </a:prstGeom>
          <a:noFill/>
          <a:ln/>
        </p:spPr>
        <p:txBody>
          <a:bodyPr wrap="square" rtlCol="0" anchor="ctr"/>
          <a:lstStyle/>
          <a:p>
            <a:pPr marL="0" indent="0" algn="ctr">
              <a:buNone/>
            </a:pPr>
            <a:r>
              <a:rPr lang="en-US" sz="2600" b="1" dirty="0">
                <a:solidFill>
                  <a:srgbClr val="0E6E67"/>
                </a:solidFill>
                <a:latin typeface="Cambria" pitchFamily="34" charset="0"/>
                <a:ea typeface="Cambria" pitchFamily="34" charset="-122"/>
                <a:cs typeface="Cambria" pitchFamily="34" charset="-120"/>
              </a:rPr>
              <a:t>I</a:t>
            </a:r>
            <a:endParaRPr lang="en-US" sz="2600" dirty="0"/>
          </a:p>
        </p:txBody>
      </p:sp>
      <p:sp>
        <p:nvSpPr>
          <p:cNvPr id="18" name="Text 16"/>
          <p:cNvSpPr/>
          <p:nvPr/>
        </p:nvSpPr>
        <p:spPr>
          <a:xfrm>
            <a:off x="6199632" y="3108960"/>
            <a:ext cx="2304288" cy="502920"/>
          </a:xfrm>
          <a:prstGeom prst="rect">
            <a:avLst/>
          </a:prstGeom>
          <a:noFill/>
          <a:ln/>
        </p:spPr>
        <p:txBody>
          <a:bodyPr wrap="square" rtlCol="0" anchor="ctr"/>
          <a:lstStyle/>
          <a:p>
            <a:pPr marL="0" indent="0" algn="ctr">
              <a:buNone/>
            </a:pPr>
            <a:r>
              <a:rPr lang="en-US" sz="1450" b="1" dirty="0">
                <a:solidFill>
                  <a:srgbClr val="FFFFFF"/>
                </a:solidFill>
                <a:latin typeface="Cambria" pitchFamily="34" charset="0"/>
                <a:ea typeface="Cambria" pitchFamily="34" charset="-122"/>
                <a:cs typeface="Cambria" pitchFamily="34" charset="-120"/>
              </a:rPr>
              <a:t>Inheritance</a:t>
            </a:r>
            <a:endParaRPr lang="en-US" sz="1450" dirty="0"/>
          </a:p>
        </p:txBody>
      </p:sp>
      <p:sp>
        <p:nvSpPr>
          <p:cNvPr id="19" name="Text 17"/>
          <p:cNvSpPr/>
          <p:nvPr/>
        </p:nvSpPr>
        <p:spPr>
          <a:xfrm>
            <a:off x="6263640" y="3657600"/>
            <a:ext cx="2176272" cy="2331720"/>
          </a:xfrm>
          <a:prstGeom prst="rect">
            <a:avLst/>
          </a:prstGeom>
          <a:noFill/>
          <a:ln/>
        </p:spPr>
        <p:txBody>
          <a:bodyPr wrap="square" rtlCol="0" anchor="ctr"/>
          <a:lstStyle/>
          <a:p>
            <a:pPr marL="0" indent="0" algn="l">
              <a:lnSpc>
                <a:spcPct val="118000"/>
              </a:lnSpc>
              <a:buNone/>
            </a:pPr>
            <a:r>
              <a:rPr lang="en-US" sz="1080" dirty="0">
                <a:solidFill>
                  <a:srgbClr val="FFFFFF"/>
                </a:solidFill>
                <a:latin typeface="Calibri" pitchFamily="34" charset="0"/>
                <a:ea typeface="Calibri" pitchFamily="34" charset="-122"/>
                <a:cs typeface="Calibri" pitchFamily="34" charset="-120"/>
              </a:rPr>
              <a:t>A shared StaffMember class holds common attributes; Doctor, Nurse, and Pharmacist inherit from it instead of duplicating the same fields three times.</a:t>
            </a:r>
            <a:endParaRPr lang="en-US" sz="1080" dirty="0"/>
          </a:p>
        </p:txBody>
      </p:sp>
      <p:sp>
        <p:nvSpPr>
          <p:cNvPr id="20" name="Shape 18"/>
          <p:cNvSpPr/>
          <p:nvPr/>
        </p:nvSpPr>
        <p:spPr>
          <a:xfrm>
            <a:off x="8842248" y="1965960"/>
            <a:ext cx="2578608" cy="4160520"/>
          </a:xfrm>
          <a:prstGeom prst="roundRect">
            <a:avLst>
              <a:gd name="adj" fmla="val 2837"/>
            </a:avLst>
          </a:prstGeom>
          <a:solidFill>
            <a:srgbClr val="2FA39B"/>
          </a:solidFill>
          <a:ln/>
        </p:spPr>
      </p:sp>
      <p:sp>
        <p:nvSpPr>
          <p:cNvPr id="21" name="Shape 19"/>
          <p:cNvSpPr/>
          <p:nvPr/>
        </p:nvSpPr>
        <p:spPr>
          <a:xfrm>
            <a:off x="9765792" y="2240280"/>
            <a:ext cx="731520" cy="731520"/>
          </a:xfrm>
          <a:prstGeom prst="ellipse">
            <a:avLst/>
          </a:prstGeom>
          <a:solidFill>
            <a:srgbClr val="FFFFFF"/>
          </a:solidFill>
          <a:ln/>
        </p:spPr>
      </p:sp>
      <p:sp>
        <p:nvSpPr>
          <p:cNvPr id="22" name="Text 20"/>
          <p:cNvSpPr/>
          <p:nvPr/>
        </p:nvSpPr>
        <p:spPr>
          <a:xfrm>
            <a:off x="9765792" y="2240280"/>
            <a:ext cx="731520" cy="731520"/>
          </a:xfrm>
          <a:prstGeom prst="rect">
            <a:avLst/>
          </a:prstGeom>
          <a:noFill/>
          <a:ln/>
        </p:spPr>
        <p:txBody>
          <a:bodyPr wrap="square" rtlCol="0" anchor="ctr"/>
          <a:lstStyle/>
          <a:p>
            <a:pPr marL="0" indent="0" algn="ctr">
              <a:buNone/>
            </a:pPr>
            <a:r>
              <a:rPr lang="en-US" sz="2600" b="1" dirty="0">
                <a:solidFill>
                  <a:srgbClr val="2FA39B"/>
                </a:solidFill>
                <a:latin typeface="Cambria" pitchFamily="34" charset="0"/>
                <a:ea typeface="Cambria" pitchFamily="34" charset="-122"/>
                <a:cs typeface="Cambria" pitchFamily="34" charset="-120"/>
              </a:rPr>
              <a:t>A</a:t>
            </a:r>
            <a:endParaRPr lang="en-US" sz="2600" dirty="0"/>
          </a:p>
        </p:txBody>
      </p:sp>
      <p:sp>
        <p:nvSpPr>
          <p:cNvPr id="23" name="Text 21"/>
          <p:cNvSpPr/>
          <p:nvPr/>
        </p:nvSpPr>
        <p:spPr>
          <a:xfrm>
            <a:off x="8979408" y="3108960"/>
            <a:ext cx="2304288" cy="502920"/>
          </a:xfrm>
          <a:prstGeom prst="rect">
            <a:avLst/>
          </a:prstGeom>
          <a:noFill/>
          <a:ln/>
        </p:spPr>
        <p:txBody>
          <a:bodyPr wrap="square" rtlCol="0" anchor="ctr"/>
          <a:lstStyle/>
          <a:p>
            <a:pPr marL="0" indent="0" algn="ctr">
              <a:buNone/>
            </a:pPr>
            <a:r>
              <a:rPr lang="en-US" sz="1450" b="1" dirty="0">
                <a:solidFill>
                  <a:srgbClr val="FFFFFF"/>
                </a:solidFill>
                <a:latin typeface="Cambria" pitchFamily="34" charset="0"/>
                <a:ea typeface="Cambria" pitchFamily="34" charset="-122"/>
                <a:cs typeface="Cambria" pitchFamily="34" charset="-120"/>
              </a:rPr>
              <a:t>Association, Not Access</a:t>
            </a:r>
            <a:endParaRPr lang="en-US" sz="1450" dirty="0"/>
          </a:p>
        </p:txBody>
      </p:sp>
      <p:sp>
        <p:nvSpPr>
          <p:cNvPr id="24" name="Text 22"/>
          <p:cNvSpPr/>
          <p:nvPr/>
        </p:nvSpPr>
        <p:spPr>
          <a:xfrm>
            <a:off x="9043416" y="3657600"/>
            <a:ext cx="2176272" cy="2331720"/>
          </a:xfrm>
          <a:prstGeom prst="rect">
            <a:avLst/>
          </a:prstGeom>
          <a:noFill/>
          <a:ln/>
        </p:spPr>
        <p:txBody>
          <a:bodyPr wrap="square" rtlCol="0" anchor="ctr"/>
          <a:lstStyle/>
          <a:p>
            <a:pPr marL="0" indent="0" algn="l">
              <a:lnSpc>
                <a:spcPct val="118000"/>
              </a:lnSpc>
              <a:buNone/>
            </a:pPr>
            <a:r>
              <a:rPr lang="en-US" sz="1080" dirty="0">
                <a:solidFill>
                  <a:srgbClr val="FFFFFF"/>
                </a:solidFill>
                <a:latin typeface="Calibri" pitchFamily="34" charset="0"/>
                <a:ea typeface="Calibri" pitchFamily="34" charset="-122"/>
                <a:cs typeface="Calibri" pitchFamily="34" charset="-120"/>
              </a:rPr>
              <a:t>Where one module needs another (Billing needs a Patient), it holds a reference to that object's public interface — never its raw internal data.</a:t>
            </a:r>
            <a:endParaRPr lang="en-US" sz="10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5486400" cy="274320"/>
          </a:xfrm>
          <a:prstGeom prst="rect">
            <a:avLst/>
          </a:prstGeom>
          <a:noFill/>
          <a:ln/>
        </p:spPr>
        <p:txBody>
          <a:bodyPr wrap="square" rtlCol="0" anchor="ctr"/>
          <a:lstStyle/>
          <a:p>
            <a:pPr marL="0" indent="0">
              <a:buNone/>
            </a:pPr>
            <a:r>
              <a:rPr lang="en-US" sz="1100" b="1" kern="0" spc="200" dirty="0">
                <a:solidFill>
                  <a:srgbClr val="0E6E67"/>
                </a:solidFill>
                <a:latin typeface="Calibri" pitchFamily="34" charset="0"/>
                <a:ea typeface="Calibri" pitchFamily="34" charset="-122"/>
                <a:cs typeface="Calibri" pitchFamily="34" charset="-120"/>
              </a:rPr>
              <a:t>03 · APPROACH</a:t>
            </a:r>
            <a:endParaRPr lang="en-US" sz="1100" dirty="0"/>
          </a:p>
        </p:txBody>
      </p:sp>
      <p:sp>
        <p:nvSpPr>
          <p:cNvPr id="3" name="Text 1"/>
          <p:cNvSpPr/>
          <p:nvPr/>
        </p:nvSpPr>
        <p:spPr>
          <a:xfrm>
            <a:off x="502920" y="594360"/>
            <a:ext cx="10607040" cy="640080"/>
          </a:xfrm>
          <a:prstGeom prst="rect">
            <a:avLst/>
          </a:prstGeom>
          <a:noFill/>
          <a:ln/>
        </p:spPr>
        <p:txBody>
          <a:bodyPr wrap="square" rtlCol="0" anchor="ctr"/>
          <a:lstStyle/>
          <a:p>
            <a:pPr marL="0" indent="0">
              <a:buNone/>
            </a:pPr>
            <a:r>
              <a:rPr lang="en-US" sz="2700" b="1" dirty="0">
                <a:solidFill>
                  <a:srgbClr val="16221F"/>
                </a:solidFill>
                <a:latin typeface="Cambria" pitchFamily="34" charset="0"/>
                <a:ea typeface="Cambria" pitchFamily="34" charset="-122"/>
                <a:cs typeface="Cambria" pitchFamily="34" charset="-120"/>
              </a:rPr>
              <a:t>Class Hierarchy — Who Inherits What</a:t>
            </a:r>
            <a:endParaRPr lang="en-US" sz="2700" dirty="0"/>
          </a:p>
        </p:txBody>
      </p:sp>
      <p:sp>
        <p:nvSpPr>
          <p:cNvPr id="4" name="Text 2"/>
          <p:cNvSpPr/>
          <p:nvPr/>
        </p:nvSpPr>
        <p:spPr>
          <a:xfrm>
            <a:off x="502920" y="1234440"/>
            <a:ext cx="10607040" cy="365760"/>
          </a:xfrm>
          <a:prstGeom prst="rect">
            <a:avLst/>
          </a:prstGeom>
          <a:noFill/>
          <a:ln/>
        </p:spPr>
        <p:txBody>
          <a:bodyPr wrap="square" rtlCol="0" anchor="ctr"/>
          <a:lstStyle/>
          <a:p>
            <a:pPr marL="0" indent="0">
              <a:buNone/>
            </a:pPr>
            <a:r>
              <a:rPr lang="en-US" sz="1200" i="1" dirty="0">
                <a:solidFill>
                  <a:srgbClr val="4C5C59"/>
                </a:solidFill>
                <a:latin typeface="Calibri" pitchFamily="34" charset="0"/>
                <a:ea typeface="Calibri" pitchFamily="34" charset="-122"/>
                <a:cs typeface="Calibri" pitchFamily="34" charset="-120"/>
              </a:rPr>
              <a:t>△ Solid triangle = inheritance (“is-a”). Attributes shown as − (private) or + (public); operations as +().</a:t>
            </a:r>
            <a:endParaRPr lang="en-US" sz="1200" dirty="0"/>
          </a:p>
        </p:txBody>
      </p:sp>
      <p:sp>
        <p:nvSpPr>
          <p:cNvPr id="5" name="Shape 3"/>
          <p:cNvSpPr/>
          <p:nvPr/>
        </p:nvSpPr>
        <p:spPr>
          <a:xfrm>
            <a:off x="4617720" y="1691640"/>
            <a:ext cx="2377440" cy="1188720"/>
          </a:xfrm>
          <a:prstGeom prst="roundRect">
            <a:avLst>
              <a:gd name="adj" fmla="val 4615"/>
            </a:avLst>
          </a:prstGeom>
          <a:solidFill>
            <a:srgbClr val="0A3F3C"/>
          </a:solidFill>
          <a:ln w="19050">
            <a:solidFill>
              <a:srgbClr val="FFFFFF"/>
            </a:solidFill>
            <a:prstDash val="solid"/>
          </a:ln>
        </p:spPr>
      </p:sp>
      <p:sp>
        <p:nvSpPr>
          <p:cNvPr id="6" name="Text 4"/>
          <p:cNvSpPr/>
          <p:nvPr/>
        </p:nvSpPr>
        <p:spPr>
          <a:xfrm>
            <a:off x="4617720" y="1737360"/>
            <a:ext cx="2377440" cy="219456"/>
          </a:xfrm>
          <a:prstGeom prst="rect">
            <a:avLst/>
          </a:prstGeom>
          <a:noFill/>
          <a:ln/>
        </p:spPr>
        <p:txBody>
          <a:bodyPr wrap="square" rtlCol="0" anchor="ctr"/>
          <a:lstStyle/>
          <a:p>
            <a:pPr marL="0" indent="0" algn="ctr">
              <a:buNone/>
            </a:pPr>
            <a:r>
              <a:rPr lang="en-US" sz="900" i="1" dirty="0">
                <a:solidFill>
                  <a:srgbClr val="D9F0EC"/>
                </a:solidFill>
                <a:latin typeface="Calibri" pitchFamily="34" charset="0"/>
                <a:ea typeface="Calibri" pitchFamily="34" charset="-122"/>
                <a:cs typeface="Calibri" pitchFamily="34" charset="-120"/>
              </a:rPr>
              <a:t>«abstract»</a:t>
            </a:r>
            <a:endParaRPr lang="en-US" sz="900" dirty="0"/>
          </a:p>
        </p:txBody>
      </p:sp>
      <p:sp>
        <p:nvSpPr>
          <p:cNvPr id="7" name="Text 5"/>
          <p:cNvSpPr/>
          <p:nvPr/>
        </p:nvSpPr>
        <p:spPr>
          <a:xfrm>
            <a:off x="4617720" y="1938528"/>
            <a:ext cx="2377440" cy="292608"/>
          </a:xfrm>
          <a:prstGeom prst="rect">
            <a:avLst/>
          </a:prstGeom>
          <a:noFill/>
          <a:ln/>
        </p:spPr>
        <p:txBody>
          <a:bodyPr wrap="square"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Person</a:t>
            </a:r>
            <a:endParaRPr lang="en-US" sz="1250" dirty="0"/>
          </a:p>
        </p:txBody>
      </p:sp>
      <p:sp>
        <p:nvSpPr>
          <p:cNvPr id="8" name="Shape 6"/>
          <p:cNvSpPr/>
          <p:nvPr/>
        </p:nvSpPr>
        <p:spPr>
          <a:xfrm>
            <a:off x="4727448" y="2258568"/>
            <a:ext cx="2157984" cy="0"/>
          </a:xfrm>
          <a:prstGeom prst="line">
            <a:avLst/>
          </a:prstGeom>
          <a:noFill/>
          <a:ln w="9525">
            <a:solidFill>
              <a:srgbClr val="FFFFFF">
                <a:alpha val="60000"/>
              </a:srgbClr>
            </a:solidFill>
            <a:prstDash val="solid"/>
          </a:ln>
        </p:spPr>
      </p:sp>
      <p:sp>
        <p:nvSpPr>
          <p:cNvPr id="9" name="Text 7"/>
          <p:cNvSpPr/>
          <p:nvPr/>
        </p:nvSpPr>
        <p:spPr>
          <a:xfrm>
            <a:off x="4727448" y="2313432"/>
            <a:ext cx="2157984" cy="530352"/>
          </a:xfrm>
          <a:prstGeom prst="rect">
            <a:avLst/>
          </a:prstGeom>
          <a:noFill/>
          <a:ln/>
        </p:spPr>
        <p:txBody>
          <a:bodyPr wrap="square" rtlCol="0" anchor="ctr"/>
          <a:lstStyle/>
          <a:p>
            <a:pPr marL="0" indent="0" algn="l">
              <a:lnSpc>
                <a:spcPct val="112000"/>
              </a:lnSpc>
              <a:buNone/>
            </a:pPr>
            <a:r>
              <a:rPr lang="en-US" sz="830" dirty="0">
                <a:solidFill>
                  <a:srgbClr val="EAF6F4"/>
                </a:solidFill>
                <a:latin typeface="Calibri" pitchFamily="34" charset="0"/>
                <a:ea typeface="Calibri" pitchFamily="34" charset="-122"/>
                <a:cs typeface="Calibri" pitchFamily="34" charset="-120"/>
              </a:rPr>
              <a:t>− name</a:t>
            </a:r>
            <a:endParaRPr lang="en-US" sz="830" dirty="0"/>
          </a:p>
          <a:p>
            <a:pPr marL="0" indent="0" algn="l">
              <a:lnSpc>
                <a:spcPct val="112000"/>
              </a:lnSpc>
              <a:buNone/>
            </a:pPr>
            <a:r>
              <a:rPr lang="en-US" sz="830" dirty="0">
                <a:solidFill>
                  <a:srgbClr val="EAF6F4"/>
                </a:solidFill>
                <a:latin typeface="Calibri" pitchFamily="34" charset="0"/>
                <a:ea typeface="Calibri" pitchFamily="34" charset="-122"/>
                <a:cs typeface="Calibri" pitchFamily="34" charset="-120"/>
              </a:rPr>
              <a:t>− age</a:t>
            </a:r>
            <a:endParaRPr lang="en-US" sz="830" dirty="0"/>
          </a:p>
          <a:p>
            <a:pPr marL="0" indent="0" algn="l">
              <a:lnSpc>
                <a:spcPct val="112000"/>
              </a:lnSpc>
              <a:buNone/>
            </a:pPr>
            <a:r>
              <a:rPr lang="en-US" sz="830" dirty="0">
                <a:solidFill>
                  <a:srgbClr val="EAF6F4"/>
                </a:solidFill>
                <a:latin typeface="Calibri" pitchFamily="34" charset="0"/>
                <a:ea typeface="Calibri" pitchFamily="34" charset="-122"/>
                <a:cs typeface="Calibri" pitchFamily="34" charset="-120"/>
              </a:rPr>
              <a:t>− contactNumber</a:t>
            </a:r>
            <a:endParaRPr lang="en-US" sz="830" dirty="0"/>
          </a:p>
          <a:p>
            <a:pPr marL="0" indent="0" algn="l">
              <a:lnSpc>
                <a:spcPct val="112000"/>
              </a:lnSpc>
              <a:buNone/>
            </a:pPr>
            <a:r>
              <a:rPr lang="en-US" sz="830" dirty="0">
                <a:solidFill>
                  <a:srgbClr val="EAF6F4"/>
                </a:solidFill>
                <a:latin typeface="Calibri" pitchFamily="34" charset="0"/>
                <a:ea typeface="Calibri" pitchFamily="34" charset="-122"/>
                <a:cs typeface="Calibri" pitchFamily="34" charset="-120"/>
              </a:rPr>
              <a:t>+ updateContact()</a:t>
            </a:r>
            <a:endParaRPr lang="en-US" sz="830" dirty="0"/>
          </a:p>
        </p:txBody>
      </p:sp>
      <p:sp>
        <p:nvSpPr>
          <p:cNvPr id="10" name="Shape 8"/>
          <p:cNvSpPr/>
          <p:nvPr/>
        </p:nvSpPr>
        <p:spPr>
          <a:xfrm>
            <a:off x="1554480" y="3246120"/>
            <a:ext cx="2377440" cy="1463040"/>
          </a:xfrm>
          <a:prstGeom prst="roundRect">
            <a:avLst>
              <a:gd name="adj" fmla="val 3750"/>
            </a:avLst>
          </a:prstGeom>
          <a:solidFill>
            <a:srgbClr val="0E6E67"/>
          </a:solidFill>
          <a:ln w="19050">
            <a:solidFill>
              <a:srgbClr val="FFFFFF"/>
            </a:solidFill>
            <a:prstDash val="solid"/>
          </a:ln>
        </p:spPr>
      </p:sp>
      <p:sp>
        <p:nvSpPr>
          <p:cNvPr id="11" name="Text 9"/>
          <p:cNvSpPr/>
          <p:nvPr/>
        </p:nvSpPr>
        <p:spPr>
          <a:xfrm>
            <a:off x="1554480" y="3319272"/>
            <a:ext cx="2377440" cy="292608"/>
          </a:xfrm>
          <a:prstGeom prst="rect">
            <a:avLst/>
          </a:prstGeom>
          <a:noFill/>
          <a:ln/>
        </p:spPr>
        <p:txBody>
          <a:bodyPr wrap="square"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Patient</a:t>
            </a:r>
            <a:endParaRPr lang="en-US" sz="1250" dirty="0"/>
          </a:p>
        </p:txBody>
      </p:sp>
      <p:sp>
        <p:nvSpPr>
          <p:cNvPr id="12" name="Shape 10"/>
          <p:cNvSpPr/>
          <p:nvPr/>
        </p:nvSpPr>
        <p:spPr>
          <a:xfrm>
            <a:off x="1664208" y="3630168"/>
            <a:ext cx="2157984" cy="0"/>
          </a:xfrm>
          <a:prstGeom prst="line">
            <a:avLst/>
          </a:prstGeom>
          <a:noFill/>
          <a:ln w="9525">
            <a:solidFill>
              <a:srgbClr val="FFFFFF">
                <a:alpha val="60000"/>
              </a:srgbClr>
            </a:solidFill>
            <a:prstDash val="solid"/>
          </a:ln>
        </p:spPr>
      </p:sp>
      <p:sp>
        <p:nvSpPr>
          <p:cNvPr id="13" name="Text 11"/>
          <p:cNvSpPr/>
          <p:nvPr/>
        </p:nvSpPr>
        <p:spPr>
          <a:xfrm>
            <a:off x="1664208" y="3685032"/>
            <a:ext cx="2157984" cy="987552"/>
          </a:xfrm>
          <a:prstGeom prst="rect">
            <a:avLst/>
          </a:prstGeom>
          <a:noFill/>
          <a:ln/>
        </p:spPr>
        <p:txBody>
          <a:bodyPr wrap="square" rtlCol="0" anchor="ctr"/>
          <a:lstStyle/>
          <a:p>
            <a:pPr marL="0" indent="0" algn="l">
              <a:lnSpc>
                <a:spcPct val="112000"/>
              </a:lnSpc>
              <a:buNone/>
            </a:pPr>
            <a:r>
              <a:rPr lang="en-US" sz="830" dirty="0">
                <a:solidFill>
                  <a:srgbClr val="EAF6F4"/>
                </a:solidFill>
                <a:latin typeface="Calibri" pitchFamily="34" charset="0"/>
                <a:ea typeface="Calibri" pitchFamily="34" charset="-122"/>
                <a:cs typeface="Calibri" pitchFamily="34" charset="-120"/>
              </a:rPr>
              <a:t>− patientId</a:t>
            </a:r>
            <a:endParaRPr lang="en-US" sz="830" dirty="0"/>
          </a:p>
          <a:p>
            <a:pPr marL="0" indent="0" algn="l">
              <a:lnSpc>
                <a:spcPct val="112000"/>
              </a:lnSpc>
              <a:buNone/>
            </a:pPr>
            <a:r>
              <a:rPr lang="en-US" sz="830" dirty="0">
                <a:solidFill>
                  <a:srgbClr val="EAF6F4"/>
                </a:solidFill>
                <a:latin typeface="Calibri" pitchFamily="34" charset="0"/>
                <a:ea typeface="Calibri" pitchFamily="34" charset="-122"/>
                <a:cs typeface="Calibri" pitchFamily="34" charset="-120"/>
              </a:rPr>
              <a:t>− medicalHistory (private)</a:t>
            </a:r>
            <a:endParaRPr lang="en-US" sz="830" dirty="0"/>
          </a:p>
          <a:p>
            <a:pPr marL="0" indent="0" algn="l">
              <a:lnSpc>
                <a:spcPct val="112000"/>
              </a:lnSpc>
              <a:buNone/>
            </a:pPr>
            <a:r>
              <a:rPr lang="en-US" sz="830" dirty="0">
                <a:solidFill>
                  <a:srgbClr val="EAF6F4"/>
                </a:solidFill>
                <a:latin typeface="Calibri" pitchFamily="34" charset="0"/>
                <a:ea typeface="Calibri" pitchFamily="34" charset="-122"/>
                <a:cs typeface="Calibri" pitchFamily="34" charset="-120"/>
              </a:rPr>
              <a:t>− bloodGroup</a:t>
            </a:r>
            <a:endParaRPr lang="en-US" sz="830" dirty="0"/>
          </a:p>
          <a:p>
            <a:pPr marL="0" indent="0" algn="l">
              <a:lnSpc>
                <a:spcPct val="112000"/>
              </a:lnSpc>
              <a:buNone/>
            </a:pPr>
            <a:r>
              <a:rPr lang="en-US" sz="830" dirty="0">
                <a:solidFill>
                  <a:srgbClr val="EAF6F4"/>
                </a:solidFill>
                <a:latin typeface="Calibri" pitchFamily="34" charset="0"/>
                <a:ea typeface="Calibri" pitchFamily="34" charset="-122"/>
                <a:cs typeface="Calibri" pitchFamily="34" charset="-120"/>
              </a:rPr>
              <a:t>+ viewRecords()</a:t>
            </a:r>
            <a:endParaRPr lang="en-US" sz="830" dirty="0"/>
          </a:p>
        </p:txBody>
      </p:sp>
      <p:sp>
        <p:nvSpPr>
          <p:cNvPr id="14" name="Shape 12"/>
          <p:cNvSpPr/>
          <p:nvPr/>
        </p:nvSpPr>
        <p:spPr>
          <a:xfrm>
            <a:off x="7680960" y="3246120"/>
            <a:ext cx="2377440" cy="1188720"/>
          </a:xfrm>
          <a:prstGeom prst="roundRect">
            <a:avLst>
              <a:gd name="adj" fmla="val 4615"/>
            </a:avLst>
          </a:prstGeom>
          <a:solidFill>
            <a:srgbClr val="2FA39B"/>
          </a:solidFill>
          <a:ln w="19050">
            <a:solidFill>
              <a:srgbClr val="FFFFFF"/>
            </a:solidFill>
            <a:prstDash val="solid"/>
          </a:ln>
        </p:spPr>
      </p:sp>
      <p:sp>
        <p:nvSpPr>
          <p:cNvPr id="15" name="Text 13"/>
          <p:cNvSpPr/>
          <p:nvPr/>
        </p:nvSpPr>
        <p:spPr>
          <a:xfrm>
            <a:off x="7680960" y="3291840"/>
            <a:ext cx="2377440" cy="219456"/>
          </a:xfrm>
          <a:prstGeom prst="rect">
            <a:avLst/>
          </a:prstGeom>
          <a:noFill/>
          <a:ln/>
        </p:spPr>
        <p:txBody>
          <a:bodyPr wrap="square" rtlCol="0" anchor="ctr"/>
          <a:lstStyle/>
          <a:p>
            <a:pPr marL="0" indent="0" algn="ctr">
              <a:buNone/>
            </a:pPr>
            <a:r>
              <a:rPr lang="en-US" sz="900" i="1" dirty="0">
                <a:solidFill>
                  <a:srgbClr val="D9F0EC"/>
                </a:solidFill>
                <a:latin typeface="Calibri" pitchFamily="34" charset="0"/>
                <a:ea typeface="Calibri" pitchFamily="34" charset="-122"/>
                <a:cs typeface="Calibri" pitchFamily="34" charset="-120"/>
              </a:rPr>
              <a:t>«abstract»</a:t>
            </a:r>
            <a:endParaRPr lang="en-US" sz="900" dirty="0"/>
          </a:p>
        </p:txBody>
      </p:sp>
      <p:sp>
        <p:nvSpPr>
          <p:cNvPr id="16" name="Text 14"/>
          <p:cNvSpPr/>
          <p:nvPr/>
        </p:nvSpPr>
        <p:spPr>
          <a:xfrm>
            <a:off x="7680960" y="3493008"/>
            <a:ext cx="2377440" cy="292608"/>
          </a:xfrm>
          <a:prstGeom prst="rect">
            <a:avLst/>
          </a:prstGeom>
          <a:noFill/>
          <a:ln/>
        </p:spPr>
        <p:txBody>
          <a:bodyPr wrap="square"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StaffMember</a:t>
            </a:r>
            <a:endParaRPr lang="en-US" sz="1250" dirty="0"/>
          </a:p>
        </p:txBody>
      </p:sp>
      <p:sp>
        <p:nvSpPr>
          <p:cNvPr id="17" name="Shape 15"/>
          <p:cNvSpPr/>
          <p:nvPr/>
        </p:nvSpPr>
        <p:spPr>
          <a:xfrm>
            <a:off x="7790688" y="3813048"/>
            <a:ext cx="2157984" cy="0"/>
          </a:xfrm>
          <a:prstGeom prst="line">
            <a:avLst/>
          </a:prstGeom>
          <a:noFill/>
          <a:ln w="9525">
            <a:solidFill>
              <a:srgbClr val="FFFFFF">
                <a:alpha val="60000"/>
              </a:srgbClr>
            </a:solidFill>
            <a:prstDash val="solid"/>
          </a:ln>
        </p:spPr>
      </p:sp>
      <p:sp>
        <p:nvSpPr>
          <p:cNvPr id="18" name="Text 16"/>
          <p:cNvSpPr/>
          <p:nvPr/>
        </p:nvSpPr>
        <p:spPr>
          <a:xfrm>
            <a:off x="7790688" y="3867912"/>
            <a:ext cx="2157984" cy="530352"/>
          </a:xfrm>
          <a:prstGeom prst="rect">
            <a:avLst/>
          </a:prstGeom>
          <a:noFill/>
          <a:ln/>
        </p:spPr>
        <p:txBody>
          <a:bodyPr wrap="square" rtlCol="0" anchor="ctr"/>
          <a:lstStyle/>
          <a:p>
            <a:pPr marL="0" indent="0" algn="l">
              <a:lnSpc>
                <a:spcPct val="112000"/>
              </a:lnSpc>
              <a:buNone/>
            </a:pPr>
            <a:r>
              <a:rPr lang="en-US" sz="830" dirty="0">
                <a:solidFill>
                  <a:srgbClr val="EAF6F4"/>
                </a:solidFill>
                <a:latin typeface="Calibri" pitchFamily="34" charset="0"/>
                <a:ea typeface="Calibri" pitchFamily="34" charset="-122"/>
                <a:cs typeface="Calibri" pitchFamily="34" charset="-120"/>
              </a:rPr>
              <a:t>− staffId</a:t>
            </a:r>
            <a:endParaRPr lang="en-US" sz="830" dirty="0"/>
          </a:p>
          <a:p>
            <a:pPr marL="0" indent="0" algn="l">
              <a:lnSpc>
                <a:spcPct val="112000"/>
              </a:lnSpc>
              <a:buNone/>
            </a:pPr>
            <a:r>
              <a:rPr lang="en-US" sz="830" dirty="0">
                <a:solidFill>
                  <a:srgbClr val="EAF6F4"/>
                </a:solidFill>
                <a:latin typeface="Calibri" pitchFamily="34" charset="0"/>
                <a:ea typeface="Calibri" pitchFamily="34" charset="-122"/>
                <a:cs typeface="Calibri" pitchFamily="34" charset="-120"/>
              </a:rPr>
              <a:t>− department</a:t>
            </a:r>
            <a:endParaRPr lang="en-US" sz="830" dirty="0"/>
          </a:p>
          <a:p>
            <a:pPr marL="0" indent="0" algn="l">
              <a:lnSpc>
                <a:spcPct val="112000"/>
              </a:lnSpc>
              <a:buNone/>
            </a:pPr>
            <a:r>
              <a:rPr lang="en-US" sz="830" dirty="0">
                <a:solidFill>
                  <a:srgbClr val="EAF6F4"/>
                </a:solidFill>
                <a:latin typeface="Calibri" pitchFamily="34" charset="0"/>
                <a:ea typeface="Calibri" pitchFamily="34" charset="-122"/>
                <a:cs typeface="Calibri" pitchFamily="34" charset="-120"/>
              </a:rPr>
              <a:t>+ login()</a:t>
            </a:r>
            <a:endParaRPr lang="en-US" sz="830" dirty="0"/>
          </a:p>
        </p:txBody>
      </p:sp>
      <p:sp>
        <p:nvSpPr>
          <p:cNvPr id="19" name="Shape 17"/>
          <p:cNvSpPr/>
          <p:nvPr/>
        </p:nvSpPr>
        <p:spPr>
          <a:xfrm>
            <a:off x="6263640" y="5074920"/>
            <a:ext cx="1645920" cy="1417320"/>
          </a:xfrm>
          <a:prstGeom prst="roundRect">
            <a:avLst>
              <a:gd name="adj" fmla="val 3871"/>
            </a:avLst>
          </a:prstGeom>
          <a:solidFill>
            <a:srgbClr val="2FA39B"/>
          </a:solidFill>
          <a:ln w="19050">
            <a:solidFill>
              <a:srgbClr val="FFFFFF"/>
            </a:solidFill>
            <a:prstDash val="solid"/>
          </a:ln>
        </p:spPr>
      </p:sp>
      <p:sp>
        <p:nvSpPr>
          <p:cNvPr id="20" name="Text 18"/>
          <p:cNvSpPr/>
          <p:nvPr/>
        </p:nvSpPr>
        <p:spPr>
          <a:xfrm>
            <a:off x="6263640" y="5148072"/>
            <a:ext cx="1645920" cy="292608"/>
          </a:xfrm>
          <a:prstGeom prst="rect">
            <a:avLst/>
          </a:prstGeom>
          <a:noFill/>
          <a:ln/>
        </p:spPr>
        <p:txBody>
          <a:bodyPr wrap="square"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Doctor</a:t>
            </a:r>
            <a:endParaRPr lang="en-US" sz="1250" dirty="0"/>
          </a:p>
        </p:txBody>
      </p:sp>
      <p:sp>
        <p:nvSpPr>
          <p:cNvPr id="21" name="Shape 19"/>
          <p:cNvSpPr/>
          <p:nvPr/>
        </p:nvSpPr>
        <p:spPr>
          <a:xfrm>
            <a:off x="6373368" y="5458968"/>
            <a:ext cx="1426464" cy="0"/>
          </a:xfrm>
          <a:prstGeom prst="line">
            <a:avLst/>
          </a:prstGeom>
          <a:noFill/>
          <a:ln w="9525">
            <a:solidFill>
              <a:srgbClr val="FFFFFF">
                <a:alpha val="60000"/>
              </a:srgbClr>
            </a:solidFill>
            <a:prstDash val="solid"/>
          </a:ln>
        </p:spPr>
      </p:sp>
      <p:sp>
        <p:nvSpPr>
          <p:cNvPr id="22" name="Text 20"/>
          <p:cNvSpPr/>
          <p:nvPr/>
        </p:nvSpPr>
        <p:spPr>
          <a:xfrm>
            <a:off x="6373368" y="5513832"/>
            <a:ext cx="1426464" cy="941832"/>
          </a:xfrm>
          <a:prstGeom prst="rect">
            <a:avLst/>
          </a:prstGeom>
          <a:noFill/>
          <a:ln/>
        </p:spPr>
        <p:txBody>
          <a:bodyPr wrap="square" rtlCol="0" anchor="ctr"/>
          <a:lstStyle/>
          <a:p>
            <a:pPr marL="0" indent="0" algn="l">
              <a:lnSpc>
                <a:spcPct val="112000"/>
              </a:lnSpc>
              <a:buNone/>
            </a:pPr>
            <a:r>
              <a:rPr lang="en-US" sz="830" dirty="0">
                <a:solidFill>
                  <a:srgbClr val="EAF6F4"/>
                </a:solidFill>
                <a:latin typeface="Calibri" pitchFamily="34" charset="0"/>
                <a:ea typeface="Calibri" pitchFamily="34" charset="-122"/>
                <a:cs typeface="Calibri" pitchFamily="34" charset="-120"/>
              </a:rPr>
              <a:t>− specialization</a:t>
            </a:r>
            <a:endParaRPr lang="en-US" sz="830" dirty="0"/>
          </a:p>
          <a:p>
            <a:pPr marL="0" indent="0" algn="l">
              <a:lnSpc>
                <a:spcPct val="112000"/>
              </a:lnSpc>
              <a:buNone/>
            </a:pPr>
            <a:r>
              <a:rPr lang="en-US" sz="830" dirty="0">
                <a:solidFill>
                  <a:srgbClr val="EAF6F4"/>
                </a:solidFill>
                <a:latin typeface="Calibri" pitchFamily="34" charset="0"/>
                <a:ea typeface="Calibri" pitchFamily="34" charset="-122"/>
                <a:cs typeface="Calibri" pitchFamily="34" charset="-120"/>
              </a:rPr>
              <a:t>− licenseNo</a:t>
            </a:r>
            <a:endParaRPr lang="en-US" sz="830" dirty="0"/>
          </a:p>
          <a:p>
            <a:pPr marL="0" indent="0" algn="l">
              <a:lnSpc>
                <a:spcPct val="112000"/>
              </a:lnSpc>
              <a:buNone/>
            </a:pPr>
            <a:r>
              <a:rPr lang="en-US" sz="830" dirty="0">
                <a:solidFill>
                  <a:srgbClr val="EAF6F4"/>
                </a:solidFill>
                <a:latin typeface="Calibri" pitchFamily="34" charset="0"/>
                <a:ea typeface="Calibri" pitchFamily="34" charset="-122"/>
                <a:cs typeface="Calibri" pitchFamily="34" charset="-120"/>
              </a:rPr>
              <a:t>+ diagnose()</a:t>
            </a:r>
            <a:endParaRPr lang="en-US" sz="830" dirty="0"/>
          </a:p>
        </p:txBody>
      </p:sp>
      <p:sp>
        <p:nvSpPr>
          <p:cNvPr id="23" name="Shape 21"/>
          <p:cNvSpPr/>
          <p:nvPr/>
        </p:nvSpPr>
        <p:spPr>
          <a:xfrm>
            <a:off x="8046720" y="5074920"/>
            <a:ext cx="1645920" cy="1417320"/>
          </a:xfrm>
          <a:prstGeom prst="roundRect">
            <a:avLst>
              <a:gd name="adj" fmla="val 3871"/>
            </a:avLst>
          </a:prstGeom>
          <a:solidFill>
            <a:srgbClr val="2FA39B"/>
          </a:solidFill>
          <a:ln w="19050">
            <a:solidFill>
              <a:srgbClr val="FFFFFF"/>
            </a:solidFill>
            <a:prstDash val="solid"/>
          </a:ln>
        </p:spPr>
      </p:sp>
      <p:sp>
        <p:nvSpPr>
          <p:cNvPr id="24" name="Text 22"/>
          <p:cNvSpPr/>
          <p:nvPr/>
        </p:nvSpPr>
        <p:spPr>
          <a:xfrm>
            <a:off x="8046720" y="5148072"/>
            <a:ext cx="1645920" cy="292608"/>
          </a:xfrm>
          <a:prstGeom prst="rect">
            <a:avLst/>
          </a:prstGeom>
          <a:noFill/>
          <a:ln/>
        </p:spPr>
        <p:txBody>
          <a:bodyPr wrap="square"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Nurse</a:t>
            </a:r>
            <a:endParaRPr lang="en-US" sz="1250" dirty="0"/>
          </a:p>
        </p:txBody>
      </p:sp>
      <p:sp>
        <p:nvSpPr>
          <p:cNvPr id="25" name="Shape 23"/>
          <p:cNvSpPr/>
          <p:nvPr/>
        </p:nvSpPr>
        <p:spPr>
          <a:xfrm>
            <a:off x="8156448" y="5458968"/>
            <a:ext cx="1426464" cy="0"/>
          </a:xfrm>
          <a:prstGeom prst="line">
            <a:avLst/>
          </a:prstGeom>
          <a:noFill/>
          <a:ln w="9525">
            <a:solidFill>
              <a:srgbClr val="FFFFFF">
                <a:alpha val="60000"/>
              </a:srgbClr>
            </a:solidFill>
            <a:prstDash val="solid"/>
          </a:ln>
        </p:spPr>
      </p:sp>
      <p:sp>
        <p:nvSpPr>
          <p:cNvPr id="26" name="Text 24"/>
          <p:cNvSpPr/>
          <p:nvPr/>
        </p:nvSpPr>
        <p:spPr>
          <a:xfrm>
            <a:off x="8156448" y="5513832"/>
            <a:ext cx="1426464" cy="941832"/>
          </a:xfrm>
          <a:prstGeom prst="rect">
            <a:avLst/>
          </a:prstGeom>
          <a:noFill/>
          <a:ln/>
        </p:spPr>
        <p:txBody>
          <a:bodyPr wrap="square" rtlCol="0" anchor="ctr"/>
          <a:lstStyle/>
          <a:p>
            <a:pPr marL="0" indent="0" algn="l">
              <a:lnSpc>
                <a:spcPct val="112000"/>
              </a:lnSpc>
              <a:buNone/>
            </a:pPr>
            <a:r>
              <a:rPr lang="en-US" sz="830" dirty="0">
                <a:solidFill>
                  <a:srgbClr val="EAF6F4"/>
                </a:solidFill>
                <a:latin typeface="Calibri" pitchFamily="34" charset="0"/>
                <a:ea typeface="Calibri" pitchFamily="34" charset="-122"/>
                <a:cs typeface="Calibri" pitchFamily="34" charset="-120"/>
              </a:rPr>
              <a:t>− shift</a:t>
            </a:r>
            <a:endParaRPr lang="en-US" sz="830" dirty="0"/>
          </a:p>
          <a:p>
            <a:pPr marL="0" indent="0" algn="l">
              <a:lnSpc>
                <a:spcPct val="112000"/>
              </a:lnSpc>
              <a:buNone/>
            </a:pPr>
            <a:r>
              <a:rPr lang="en-US" sz="830" dirty="0">
                <a:solidFill>
                  <a:srgbClr val="EAF6F4"/>
                </a:solidFill>
                <a:latin typeface="Calibri" pitchFamily="34" charset="0"/>
                <a:ea typeface="Calibri" pitchFamily="34" charset="-122"/>
                <a:cs typeface="Calibri" pitchFamily="34" charset="-120"/>
              </a:rPr>
              <a:t>− wardAssigned</a:t>
            </a:r>
            <a:endParaRPr lang="en-US" sz="830" dirty="0"/>
          </a:p>
          <a:p>
            <a:pPr marL="0" indent="0" algn="l">
              <a:lnSpc>
                <a:spcPct val="112000"/>
              </a:lnSpc>
              <a:buNone/>
            </a:pPr>
            <a:r>
              <a:rPr lang="en-US" sz="830" dirty="0">
                <a:solidFill>
                  <a:srgbClr val="EAF6F4"/>
                </a:solidFill>
                <a:latin typeface="Calibri" pitchFamily="34" charset="0"/>
                <a:ea typeface="Calibri" pitchFamily="34" charset="-122"/>
                <a:cs typeface="Calibri" pitchFamily="34" charset="-120"/>
              </a:rPr>
              <a:t>+ recordVitals()</a:t>
            </a:r>
            <a:endParaRPr lang="en-US" sz="830" dirty="0"/>
          </a:p>
        </p:txBody>
      </p:sp>
      <p:sp>
        <p:nvSpPr>
          <p:cNvPr id="27" name="Shape 25"/>
          <p:cNvSpPr/>
          <p:nvPr/>
        </p:nvSpPr>
        <p:spPr>
          <a:xfrm>
            <a:off x="9829800" y="5074920"/>
            <a:ext cx="1645920" cy="1417320"/>
          </a:xfrm>
          <a:prstGeom prst="roundRect">
            <a:avLst>
              <a:gd name="adj" fmla="val 3871"/>
            </a:avLst>
          </a:prstGeom>
          <a:solidFill>
            <a:srgbClr val="2FA39B"/>
          </a:solidFill>
          <a:ln w="19050">
            <a:solidFill>
              <a:srgbClr val="FFFFFF"/>
            </a:solidFill>
            <a:prstDash val="solid"/>
          </a:ln>
        </p:spPr>
      </p:sp>
      <p:sp>
        <p:nvSpPr>
          <p:cNvPr id="28" name="Text 26"/>
          <p:cNvSpPr/>
          <p:nvPr/>
        </p:nvSpPr>
        <p:spPr>
          <a:xfrm>
            <a:off x="9829800" y="5148072"/>
            <a:ext cx="1645920" cy="292608"/>
          </a:xfrm>
          <a:prstGeom prst="rect">
            <a:avLst/>
          </a:prstGeom>
          <a:noFill/>
          <a:ln/>
        </p:spPr>
        <p:txBody>
          <a:bodyPr wrap="square"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Pharmacist</a:t>
            </a:r>
            <a:endParaRPr lang="en-US" sz="1250" dirty="0"/>
          </a:p>
        </p:txBody>
      </p:sp>
      <p:sp>
        <p:nvSpPr>
          <p:cNvPr id="29" name="Shape 27"/>
          <p:cNvSpPr/>
          <p:nvPr/>
        </p:nvSpPr>
        <p:spPr>
          <a:xfrm>
            <a:off x="9939528" y="5458968"/>
            <a:ext cx="1426464" cy="0"/>
          </a:xfrm>
          <a:prstGeom prst="line">
            <a:avLst/>
          </a:prstGeom>
          <a:noFill/>
          <a:ln w="9525">
            <a:solidFill>
              <a:srgbClr val="FFFFFF">
                <a:alpha val="60000"/>
              </a:srgbClr>
            </a:solidFill>
            <a:prstDash val="solid"/>
          </a:ln>
        </p:spPr>
      </p:sp>
      <p:sp>
        <p:nvSpPr>
          <p:cNvPr id="30" name="Text 28"/>
          <p:cNvSpPr/>
          <p:nvPr/>
        </p:nvSpPr>
        <p:spPr>
          <a:xfrm>
            <a:off x="9939528" y="5513832"/>
            <a:ext cx="1426464" cy="941832"/>
          </a:xfrm>
          <a:prstGeom prst="rect">
            <a:avLst/>
          </a:prstGeom>
          <a:noFill/>
          <a:ln/>
        </p:spPr>
        <p:txBody>
          <a:bodyPr wrap="square" rtlCol="0" anchor="ctr"/>
          <a:lstStyle/>
          <a:p>
            <a:pPr marL="0" indent="0" algn="l">
              <a:lnSpc>
                <a:spcPct val="112000"/>
              </a:lnSpc>
              <a:buNone/>
            </a:pPr>
            <a:r>
              <a:rPr lang="en-US" sz="830" dirty="0">
                <a:solidFill>
                  <a:srgbClr val="EAF6F4"/>
                </a:solidFill>
                <a:latin typeface="Calibri" pitchFamily="34" charset="0"/>
                <a:ea typeface="Calibri" pitchFamily="34" charset="-122"/>
                <a:cs typeface="Calibri" pitchFamily="34" charset="-120"/>
              </a:rPr>
              <a:t>− licenseNo</a:t>
            </a:r>
            <a:endParaRPr lang="en-US" sz="830" dirty="0"/>
          </a:p>
          <a:p>
            <a:pPr marL="0" indent="0" algn="l">
              <a:lnSpc>
                <a:spcPct val="112000"/>
              </a:lnSpc>
              <a:buNone/>
            </a:pPr>
            <a:r>
              <a:rPr lang="en-US" sz="830" dirty="0">
                <a:solidFill>
                  <a:srgbClr val="EAF6F4"/>
                </a:solidFill>
                <a:latin typeface="Calibri" pitchFamily="34" charset="0"/>
                <a:ea typeface="Calibri" pitchFamily="34" charset="-122"/>
                <a:cs typeface="Calibri" pitchFamily="34" charset="-120"/>
              </a:rPr>
              <a:t>+ dispense()</a:t>
            </a:r>
            <a:endParaRPr lang="en-US" sz="830" dirty="0"/>
          </a:p>
        </p:txBody>
      </p:sp>
      <p:sp>
        <p:nvSpPr>
          <p:cNvPr id="31" name="Shape 29"/>
          <p:cNvSpPr/>
          <p:nvPr/>
        </p:nvSpPr>
        <p:spPr>
          <a:xfrm flipV="1">
            <a:off x="3931920" y="2926080"/>
            <a:ext cx="1666447" cy="1051560"/>
          </a:xfrm>
          <a:prstGeom prst="line">
            <a:avLst/>
          </a:prstGeom>
          <a:noFill/>
          <a:ln w="25400">
            <a:solidFill>
              <a:srgbClr val="16221F"/>
            </a:solidFill>
            <a:prstDash val="solid"/>
          </a:ln>
        </p:spPr>
      </p:sp>
      <p:sp>
        <p:nvSpPr>
          <p:cNvPr id="32" name="Text 30"/>
          <p:cNvSpPr/>
          <p:nvPr/>
        </p:nvSpPr>
        <p:spPr>
          <a:xfrm>
            <a:off x="5439933" y="2770632"/>
            <a:ext cx="329184" cy="292608"/>
          </a:xfrm>
          <a:prstGeom prst="rect">
            <a:avLst/>
          </a:prstGeom>
          <a:noFill/>
          <a:ln/>
        </p:spPr>
        <p:txBody>
          <a:bodyPr wrap="square" rtlCol="0" anchor="ctr"/>
          <a:lstStyle/>
          <a:p>
            <a:pPr marL="0" indent="0" algn="ctr">
              <a:buNone/>
            </a:pPr>
            <a:r>
              <a:rPr lang="en-US" sz="1500" b="1" dirty="0">
                <a:solidFill>
                  <a:srgbClr val="16221F"/>
                </a:solidFill>
                <a:latin typeface="Calibri" pitchFamily="34" charset="0"/>
                <a:ea typeface="Calibri" pitchFamily="34" charset="-122"/>
                <a:cs typeface="Calibri" pitchFamily="34" charset="-120"/>
              </a:rPr>
              <a:t>▲</a:t>
            </a:r>
            <a:endParaRPr lang="en-US" sz="1500" dirty="0"/>
          </a:p>
        </p:txBody>
      </p:sp>
      <p:sp>
        <p:nvSpPr>
          <p:cNvPr id="33" name="Shape 31"/>
          <p:cNvSpPr/>
          <p:nvPr/>
        </p:nvSpPr>
        <p:spPr>
          <a:xfrm>
            <a:off x="8869680" y="3246120"/>
            <a:ext cx="0" cy="0"/>
          </a:xfrm>
          <a:prstGeom prst="line">
            <a:avLst/>
          </a:prstGeom>
          <a:noFill/>
          <a:ln w="25400">
            <a:solidFill>
              <a:srgbClr val="16221F"/>
            </a:solidFill>
            <a:prstDash val="solid"/>
          </a:ln>
        </p:spPr>
      </p:sp>
      <p:sp>
        <p:nvSpPr>
          <p:cNvPr id="34" name="Text 32"/>
          <p:cNvSpPr/>
          <p:nvPr/>
        </p:nvSpPr>
        <p:spPr>
          <a:xfrm>
            <a:off x="5888362" y="2757907"/>
            <a:ext cx="329184" cy="292608"/>
          </a:xfrm>
          <a:prstGeom prst="rect">
            <a:avLst/>
          </a:prstGeom>
          <a:noFill/>
          <a:ln/>
        </p:spPr>
        <p:txBody>
          <a:bodyPr wrap="square" rtlCol="0" anchor="ctr"/>
          <a:lstStyle/>
          <a:p>
            <a:pPr marL="0" indent="0" algn="ctr">
              <a:buNone/>
            </a:pPr>
            <a:r>
              <a:rPr lang="en-US" sz="1500" b="1" dirty="0">
                <a:solidFill>
                  <a:srgbClr val="16221F"/>
                </a:solidFill>
                <a:latin typeface="Calibri" pitchFamily="34" charset="0"/>
                <a:ea typeface="Calibri" pitchFamily="34" charset="-122"/>
                <a:cs typeface="Calibri" pitchFamily="34" charset="-120"/>
              </a:rPr>
              <a:t>▲</a:t>
            </a:r>
            <a:endParaRPr lang="en-US" sz="1500" dirty="0"/>
          </a:p>
        </p:txBody>
      </p:sp>
      <p:sp>
        <p:nvSpPr>
          <p:cNvPr id="35" name="Shape 33"/>
          <p:cNvSpPr/>
          <p:nvPr/>
        </p:nvSpPr>
        <p:spPr>
          <a:xfrm flipV="1">
            <a:off x="7061854" y="4489703"/>
            <a:ext cx="1643234" cy="640080"/>
          </a:xfrm>
          <a:prstGeom prst="line">
            <a:avLst/>
          </a:prstGeom>
          <a:noFill/>
          <a:ln w="25400">
            <a:solidFill>
              <a:srgbClr val="16221F"/>
            </a:solidFill>
            <a:prstDash val="solid"/>
          </a:ln>
        </p:spPr>
      </p:sp>
      <p:sp>
        <p:nvSpPr>
          <p:cNvPr id="36" name="Text 34"/>
          <p:cNvSpPr/>
          <p:nvPr/>
        </p:nvSpPr>
        <p:spPr>
          <a:xfrm>
            <a:off x="8515750" y="4320540"/>
            <a:ext cx="329184" cy="292608"/>
          </a:xfrm>
          <a:prstGeom prst="rect">
            <a:avLst/>
          </a:prstGeom>
          <a:noFill/>
          <a:ln/>
        </p:spPr>
        <p:txBody>
          <a:bodyPr wrap="square" rtlCol="0" anchor="ctr"/>
          <a:lstStyle/>
          <a:p>
            <a:pPr marL="0" indent="0" algn="ctr">
              <a:buNone/>
            </a:pPr>
            <a:r>
              <a:rPr lang="en-US" sz="1500" b="1" dirty="0">
                <a:solidFill>
                  <a:srgbClr val="16221F"/>
                </a:solidFill>
                <a:latin typeface="Calibri" pitchFamily="34" charset="0"/>
                <a:ea typeface="Calibri" pitchFamily="34" charset="-122"/>
                <a:cs typeface="Calibri" pitchFamily="34" charset="-120"/>
              </a:rPr>
              <a:t>▲</a:t>
            </a:r>
            <a:endParaRPr lang="en-US" sz="1500" dirty="0"/>
          </a:p>
        </p:txBody>
      </p:sp>
      <p:sp>
        <p:nvSpPr>
          <p:cNvPr id="37" name="Shape 35"/>
          <p:cNvSpPr/>
          <p:nvPr/>
        </p:nvSpPr>
        <p:spPr>
          <a:xfrm>
            <a:off x="8869680" y="5074920"/>
            <a:ext cx="0" cy="0"/>
          </a:xfrm>
          <a:prstGeom prst="line">
            <a:avLst/>
          </a:prstGeom>
          <a:noFill/>
          <a:ln w="25400">
            <a:solidFill>
              <a:srgbClr val="16221F"/>
            </a:solidFill>
            <a:prstDash val="solid"/>
          </a:ln>
        </p:spPr>
      </p:sp>
      <p:sp>
        <p:nvSpPr>
          <p:cNvPr id="38" name="Text 36"/>
          <p:cNvSpPr/>
          <p:nvPr/>
        </p:nvSpPr>
        <p:spPr>
          <a:xfrm>
            <a:off x="8738435" y="4327630"/>
            <a:ext cx="329184" cy="292608"/>
          </a:xfrm>
          <a:prstGeom prst="rect">
            <a:avLst/>
          </a:prstGeom>
          <a:noFill/>
          <a:ln/>
        </p:spPr>
        <p:txBody>
          <a:bodyPr wrap="square" rtlCol="0" anchor="ctr"/>
          <a:lstStyle/>
          <a:p>
            <a:pPr marL="0" indent="0" algn="ctr">
              <a:buNone/>
            </a:pPr>
            <a:r>
              <a:rPr lang="en-US" sz="1500" b="1" dirty="0">
                <a:solidFill>
                  <a:srgbClr val="16221F"/>
                </a:solidFill>
                <a:latin typeface="Calibri" pitchFamily="34" charset="0"/>
                <a:ea typeface="Calibri" pitchFamily="34" charset="-122"/>
                <a:cs typeface="Calibri" pitchFamily="34" charset="-120"/>
              </a:rPr>
              <a:t>▲</a:t>
            </a:r>
            <a:endParaRPr lang="en-US" sz="1500" dirty="0"/>
          </a:p>
        </p:txBody>
      </p:sp>
      <p:sp>
        <p:nvSpPr>
          <p:cNvPr id="39" name="Shape 37"/>
          <p:cNvSpPr/>
          <p:nvPr/>
        </p:nvSpPr>
        <p:spPr>
          <a:xfrm>
            <a:off x="10652760" y="5074920"/>
            <a:ext cx="0" cy="0"/>
          </a:xfrm>
          <a:prstGeom prst="line">
            <a:avLst/>
          </a:prstGeom>
          <a:noFill/>
          <a:ln w="25400">
            <a:solidFill>
              <a:srgbClr val="16221F"/>
            </a:solidFill>
            <a:prstDash val="solid"/>
          </a:ln>
        </p:spPr>
      </p:sp>
      <p:sp>
        <p:nvSpPr>
          <p:cNvPr id="40" name="Text 38"/>
          <p:cNvSpPr/>
          <p:nvPr/>
        </p:nvSpPr>
        <p:spPr>
          <a:xfrm>
            <a:off x="8903027" y="4290304"/>
            <a:ext cx="329184" cy="292608"/>
          </a:xfrm>
          <a:prstGeom prst="rect">
            <a:avLst/>
          </a:prstGeom>
          <a:noFill/>
          <a:ln/>
        </p:spPr>
        <p:txBody>
          <a:bodyPr wrap="square" rtlCol="0" anchor="ctr"/>
          <a:lstStyle/>
          <a:p>
            <a:pPr marL="0" indent="0" algn="ctr">
              <a:buNone/>
            </a:pPr>
            <a:r>
              <a:rPr lang="en-US" sz="1500" b="1" dirty="0">
                <a:solidFill>
                  <a:srgbClr val="16221F"/>
                </a:solidFill>
                <a:latin typeface="Calibri" pitchFamily="34" charset="0"/>
                <a:ea typeface="Calibri" pitchFamily="34" charset="-122"/>
                <a:cs typeface="Calibri" pitchFamily="34" charset="-120"/>
              </a:rPr>
              <a:t>▲</a:t>
            </a:r>
            <a:endParaRPr lang="en-US" sz="1500" dirty="0"/>
          </a:p>
        </p:txBody>
      </p:sp>
      <p:sp>
        <p:nvSpPr>
          <p:cNvPr id="42" name="Shape 33">
            <a:extLst>
              <a:ext uri="{FF2B5EF4-FFF2-40B4-BE49-F238E27FC236}">
                <a16:creationId xmlns:a16="http://schemas.microsoft.com/office/drawing/2014/main" id="{71611511-3A7E-965A-5BD2-1E535E306B55}"/>
              </a:ext>
            </a:extLst>
          </p:cNvPr>
          <p:cNvSpPr/>
          <p:nvPr/>
        </p:nvSpPr>
        <p:spPr>
          <a:xfrm flipH="1" flipV="1">
            <a:off x="9034272" y="4416550"/>
            <a:ext cx="1643234" cy="676653"/>
          </a:xfrm>
          <a:prstGeom prst="line">
            <a:avLst/>
          </a:prstGeom>
          <a:noFill/>
          <a:ln w="25400">
            <a:solidFill>
              <a:srgbClr val="16221F"/>
            </a:solidFill>
            <a:prstDash val="solid"/>
          </a:ln>
        </p:spPr>
      </p:sp>
      <p:sp>
        <p:nvSpPr>
          <p:cNvPr id="44" name="Shape 33">
            <a:extLst>
              <a:ext uri="{FF2B5EF4-FFF2-40B4-BE49-F238E27FC236}">
                <a16:creationId xmlns:a16="http://schemas.microsoft.com/office/drawing/2014/main" id="{1E47E926-EDEF-E1DB-FB1A-783F38F1B035}"/>
              </a:ext>
            </a:extLst>
          </p:cNvPr>
          <p:cNvSpPr/>
          <p:nvPr/>
        </p:nvSpPr>
        <p:spPr>
          <a:xfrm flipV="1">
            <a:off x="8869680" y="4462272"/>
            <a:ext cx="49492" cy="640076"/>
          </a:xfrm>
          <a:prstGeom prst="line">
            <a:avLst/>
          </a:prstGeom>
          <a:noFill/>
          <a:ln w="25400">
            <a:solidFill>
              <a:srgbClr val="16221F"/>
            </a:solidFill>
            <a:prstDash val="solid"/>
          </a:ln>
        </p:spPr>
      </p:sp>
      <p:sp>
        <p:nvSpPr>
          <p:cNvPr id="46" name="Shape 33">
            <a:extLst>
              <a:ext uri="{FF2B5EF4-FFF2-40B4-BE49-F238E27FC236}">
                <a16:creationId xmlns:a16="http://schemas.microsoft.com/office/drawing/2014/main" id="{D450DA9E-1C18-1C98-763B-564FABBAB938}"/>
              </a:ext>
            </a:extLst>
          </p:cNvPr>
          <p:cNvSpPr/>
          <p:nvPr/>
        </p:nvSpPr>
        <p:spPr>
          <a:xfrm>
            <a:off x="6065520" y="2953512"/>
            <a:ext cx="1615440" cy="1024127"/>
          </a:xfrm>
          <a:prstGeom prst="line">
            <a:avLst/>
          </a:prstGeom>
          <a:noFill/>
          <a:ln w="25400">
            <a:solidFill>
              <a:srgbClr val="16221F"/>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5486400" cy="274320"/>
          </a:xfrm>
          <a:prstGeom prst="rect">
            <a:avLst/>
          </a:prstGeom>
          <a:noFill/>
          <a:ln/>
        </p:spPr>
        <p:txBody>
          <a:bodyPr wrap="square" rtlCol="0" anchor="ctr"/>
          <a:lstStyle/>
          <a:p>
            <a:pPr marL="0" indent="0">
              <a:buNone/>
            </a:pPr>
            <a:r>
              <a:rPr lang="en-US" sz="1100" b="1" kern="0" spc="200" dirty="0">
                <a:solidFill>
                  <a:srgbClr val="0E6E67"/>
                </a:solidFill>
                <a:latin typeface="Calibri" pitchFamily="34" charset="0"/>
                <a:ea typeface="Calibri" pitchFamily="34" charset="-122"/>
                <a:cs typeface="Calibri" pitchFamily="34" charset="-120"/>
              </a:rPr>
              <a:t>03 · APPROACH</a:t>
            </a:r>
            <a:endParaRPr lang="en-US" sz="1100" dirty="0"/>
          </a:p>
        </p:txBody>
      </p:sp>
      <p:sp>
        <p:nvSpPr>
          <p:cNvPr id="3" name="Text 1"/>
          <p:cNvSpPr/>
          <p:nvPr/>
        </p:nvSpPr>
        <p:spPr>
          <a:xfrm>
            <a:off x="502920" y="566928"/>
            <a:ext cx="7772400" cy="548640"/>
          </a:xfrm>
          <a:prstGeom prst="rect">
            <a:avLst/>
          </a:prstGeom>
          <a:noFill/>
          <a:ln/>
        </p:spPr>
        <p:txBody>
          <a:bodyPr wrap="square" rtlCol="0" anchor="ctr"/>
          <a:lstStyle/>
          <a:p>
            <a:pPr marL="0" indent="0">
              <a:buNone/>
            </a:pPr>
            <a:r>
              <a:rPr lang="en-US" sz="2600" b="1" dirty="0">
                <a:solidFill>
                  <a:srgbClr val="16221F"/>
                </a:solidFill>
                <a:latin typeface="Cambria" pitchFamily="34" charset="0"/>
                <a:ea typeface="Cambria" pitchFamily="34" charset="-122"/>
                <a:cs typeface="Cambria" pitchFamily="34" charset="-120"/>
              </a:rPr>
              <a:t>How the Modules Connect</a:t>
            </a:r>
            <a:endParaRPr lang="en-US" sz="2600" dirty="0"/>
          </a:p>
        </p:txBody>
      </p:sp>
      <p:sp>
        <p:nvSpPr>
          <p:cNvPr id="4" name="Shape 2"/>
          <p:cNvSpPr/>
          <p:nvPr/>
        </p:nvSpPr>
        <p:spPr>
          <a:xfrm>
            <a:off x="548640" y="1371600"/>
            <a:ext cx="1828800" cy="1051560"/>
          </a:xfrm>
          <a:prstGeom prst="roundRect">
            <a:avLst>
              <a:gd name="adj" fmla="val 5217"/>
            </a:avLst>
          </a:prstGeom>
          <a:solidFill>
            <a:srgbClr val="0E6E67"/>
          </a:solidFill>
          <a:ln w="19050">
            <a:solidFill>
              <a:srgbClr val="FFFFFF"/>
            </a:solidFill>
            <a:prstDash val="solid"/>
          </a:ln>
        </p:spPr>
      </p:sp>
      <p:sp>
        <p:nvSpPr>
          <p:cNvPr id="5" name="Text 3"/>
          <p:cNvSpPr/>
          <p:nvPr/>
        </p:nvSpPr>
        <p:spPr>
          <a:xfrm>
            <a:off x="548640" y="1444752"/>
            <a:ext cx="1828800" cy="292608"/>
          </a:xfrm>
          <a:prstGeom prst="rect">
            <a:avLst/>
          </a:prstGeom>
          <a:noFill/>
          <a:ln/>
        </p:spPr>
        <p:txBody>
          <a:bodyPr wrap="square"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Ward</a:t>
            </a:r>
            <a:endParaRPr lang="en-US" sz="1250" dirty="0"/>
          </a:p>
        </p:txBody>
      </p:sp>
      <p:sp>
        <p:nvSpPr>
          <p:cNvPr id="6" name="Shape 4"/>
          <p:cNvSpPr/>
          <p:nvPr/>
        </p:nvSpPr>
        <p:spPr>
          <a:xfrm>
            <a:off x="658368" y="1755648"/>
            <a:ext cx="1609344" cy="0"/>
          </a:xfrm>
          <a:prstGeom prst="line">
            <a:avLst/>
          </a:prstGeom>
          <a:noFill/>
          <a:ln w="9525">
            <a:solidFill>
              <a:srgbClr val="FFFFFF">
                <a:alpha val="60000"/>
              </a:srgbClr>
            </a:solidFill>
            <a:prstDash val="solid"/>
          </a:ln>
        </p:spPr>
      </p:sp>
      <p:sp>
        <p:nvSpPr>
          <p:cNvPr id="7" name="Text 5"/>
          <p:cNvSpPr/>
          <p:nvPr/>
        </p:nvSpPr>
        <p:spPr>
          <a:xfrm>
            <a:off x="658368" y="1810512"/>
            <a:ext cx="1609344" cy="576072"/>
          </a:xfrm>
          <a:prstGeom prst="rect">
            <a:avLst/>
          </a:prstGeom>
          <a:noFill/>
          <a:ln/>
        </p:spPr>
        <p:txBody>
          <a:bodyPr wrap="square" rtlCol="0" anchor="ctr"/>
          <a:lstStyle/>
          <a:p>
            <a:pPr marL="0" indent="0" algn="l">
              <a:lnSpc>
                <a:spcPct val="112000"/>
              </a:lnSpc>
              <a:buNone/>
            </a:pPr>
            <a:r>
              <a:rPr lang="en-US" sz="830" dirty="0">
                <a:solidFill>
                  <a:srgbClr val="EAF6F4"/>
                </a:solidFill>
                <a:latin typeface="Calibri" pitchFamily="34" charset="0"/>
                <a:ea typeface="Calibri" pitchFamily="34" charset="-122"/>
                <a:cs typeface="Calibri" pitchFamily="34" charset="-120"/>
              </a:rPr>
              <a:t>− roomNumber</a:t>
            </a:r>
            <a:endParaRPr lang="en-US" sz="830" dirty="0"/>
          </a:p>
          <a:p>
            <a:pPr marL="0" indent="0" algn="l">
              <a:lnSpc>
                <a:spcPct val="112000"/>
              </a:lnSpc>
              <a:buNone/>
            </a:pPr>
            <a:r>
              <a:rPr lang="en-US" sz="830" dirty="0">
                <a:solidFill>
                  <a:srgbClr val="EAF6F4"/>
                </a:solidFill>
                <a:latin typeface="Calibri" pitchFamily="34" charset="0"/>
                <a:ea typeface="Calibri" pitchFamily="34" charset="-122"/>
                <a:cs typeface="Calibri" pitchFamily="34" charset="-120"/>
              </a:rPr>
              <a:t>+ admit()</a:t>
            </a:r>
            <a:endParaRPr lang="en-US" sz="830" dirty="0"/>
          </a:p>
        </p:txBody>
      </p:sp>
      <p:sp>
        <p:nvSpPr>
          <p:cNvPr id="8" name="Shape 6"/>
          <p:cNvSpPr/>
          <p:nvPr/>
        </p:nvSpPr>
        <p:spPr>
          <a:xfrm>
            <a:off x="4617720" y="1371600"/>
            <a:ext cx="1828800" cy="1051560"/>
          </a:xfrm>
          <a:prstGeom prst="roundRect">
            <a:avLst>
              <a:gd name="adj" fmla="val 5217"/>
            </a:avLst>
          </a:prstGeom>
          <a:solidFill>
            <a:srgbClr val="0E6E67"/>
          </a:solidFill>
          <a:ln w="19050">
            <a:solidFill>
              <a:srgbClr val="FFFFFF"/>
            </a:solidFill>
            <a:prstDash val="solid"/>
          </a:ln>
        </p:spPr>
      </p:sp>
      <p:sp>
        <p:nvSpPr>
          <p:cNvPr id="9" name="Text 7"/>
          <p:cNvSpPr/>
          <p:nvPr/>
        </p:nvSpPr>
        <p:spPr>
          <a:xfrm>
            <a:off x="4617720" y="1444752"/>
            <a:ext cx="1828800" cy="292608"/>
          </a:xfrm>
          <a:prstGeom prst="rect">
            <a:avLst/>
          </a:prstGeom>
          <a:noFill/>
          <a:ln/>
        </p:spPr>
        <p:txBody>
          <a:bodyPr wrap="square"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Patient</a:t>
            </a:r>
            <a:endParaRPr lang="en-US" sz="1250" dirty="0"/>
          </a:p>
        </p:txBody>
      </p:sp>
      <p:sp>
        <p:nvSpPr>
          <p:cNvPr id="10" name="Shape 8"/>
          <p:cNvSpPr/>
          <p:nvPr/>
        </p:nvSpPr>
        <p:spPr>
          <a:xfrm>
            <a:off x="4727448" y="1755648"/>
            <a:ext cx="1609344" cy="0"/>
          </a:xfrm>
          <a:prstGeom prst="line">
            <a:avLst/>
          </a:prstGeom>
          <a:noFill/>
          <a:ln w="9525">
            <a:solidFill>
              <a:srgbClr val="FFFFFF">
                <a:alpha val="60000"/>
              </a:srgbClr>
            </a:solidFill>
            <a:prstDash val="solid"/>
          </a:ln>
        </p:spPr>
      </p:sp>
      <p:sp>
        <p:nvSpPr>
          <p:cNvPr id="11" name="Text 9"/>
          <p:cNvSpPr/>
          <p:nvPr/>
        </p:nvSpPr>
        <p:spPr>
          <a:xfrm>
            <a:off x="4727448" y="1810512"/>
            <a:ext cx="1609344" cy="576072"/>
          </a:xfrm>
          <a:prstGeom prst="rect">
            <a:avLst/>
          </a:prstGeom>
          <a:noFill/>
          <a:ln/>
        </p:spPr>
        <p:txBody>
          <a:bodyPr wrap="square" rtlCol="0" anchor="ctr"/>
          <a:lstStyle/>
          <a:p>
            <a:pPr marL="0" indent="0" algn="l">
              <a:lnSpc>
                <a:spcPct val="112000"/>
              </a:lnSpc>
              <a:buNone/>
            </a:pPr>
            <a:r>
              <a:rPr lang="en-US" sz="830" dirty="0">
                <a:solidFill>
                  <a:srgbClr val="EAF6F4"/>
                </a:solidFill>
                <a:latin typeface="Calibri" pitchFamily="34" charset="0"/>
                <a:ea typeface="Calibri" pitchFamily="34" charset="-122"/>
                <a:cs typeface="Calibri" pitchFamily="34" charset="-120"/>
              </a:rPr>
              <a:t>− medicalHistory</a:t>
            </a:r>
            <a:endParaRPr lang="en-US" sz="830" dirty="0"/>
          </a:p>
          <a:p>
            <a:pPr marL="0" indent="0" algn="l">
              <a:lnSpc>
                <a:spcPct val="112000"/>
              </a:lnSpc>
              <a:buNone/>
            </a:pPr>
            <a:r>
              <a:rPr lang="en-US" sz="830" dirty="0">
                <a:solidFill>
                  <a:srgbClr val="EAF6F4"/>
                </a:solidFill>
                <a:latin typeface="Calibri" pitchFamily="34" charset="0"/>
                <a:ea typeface="Calibri" pitchFamily="34" charset="-122"/>
                <a:cs typeface="Calibri" pitchFamily="34" charset="-120"/>
              </a:rPr>
              <a:t>+ viewRecords()</a:t>
            </a:r>
            <a:endParaRPr lang="en-US" sz="830" dirty="0"/>
          </a:p>
        </p:txBody>
      </p:sp>
      <p:sp>
        <p:nvSpPr>
          <p:cNvPr id="12" name="Shape 10"/>
          <p:cNvSpPr/>
          <p:nvPr/>
        </p:nvSpPr>
        <p:spPr>
          <a:xfrm>
            <a:off x="8686800" y="1371600"/>
            <a:ext cx="1828800" cy="1051560"/>
          </a:xfrm>
          <a:prstGeom prst="roundRect">
            <a:avLst>
              <a:gd name="adj" fmla="val 5217"/>
            </a:avLst>
          </a:prstGeom>
          <a:solidFill>
            <a:srgbClr val="2FA39B"/>
          </a:solidFill>
          <a:ln w="19050">
            <a:solidFill>
              <a:srgbClr val="FFFFFF"/>
            </a:solidFill>
            <a:prstDash val="solid"/>
          </a:ln>
        </p:spPr>
      </p:sp>
      <p:sp>
        <p:nvSpPr>
          <p:cNvPr id="13" name="Text 11"/>
          <p:cNvSpPr/>
          <p:nvPr/>
        </p:nvSpPr>
        <p:spPr>
          <a:xfrm>
            <a:off x="8686800" y="1444752"/>
            <a:ext cx="1828800" cy="292608"/>
          </a:xfrm>
          <a:prstGeom prst="rect">
            <a:avLst/>
          </a:prstGeom>
          <a:noFill/>
          <a:ln/>
        </p:spPr>
        <p:txBody>
          <a:bodyPr wrap="square"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Doctor</a:t>
            </a:r>
            <a:endParaRPr lang="en-US" sz="1250" dirty="0"/>
          </a:p>
        </p:txBody>
      </p:sp>
      <p:sp>
        <p:nvSpPr>
          <p:cNvPr id="14" name="Shape 12"/>
          <p:cNvSpPr/>
          <p:nvPr/>
        </p:nvSpPr>
        <p:spPr>
          <a:xfrm>
            <a:off x="8796528" y="1755648"/>
            <a:ext cx="1609344" cy="0"/>
          </a:xfrm>
          <a:prstGeom prst="line">
            <a:avLst/>
          </a:prstGeom>
          <a:noFill/>
          <a:ln w="9525">
            <a:solidFill>
              <a:srgbClr val="FFFFFF">
                <a:alpha val="60000"/>
              </a:srgbClr>
            </a:solidFill>
            <a:prstDash val="solid"/>
          </a:ln>
        </p:spPr>
      </p:sp>
      <p:sp>
        <p:nvSpPr>
          <p:cNvPr id="15" name="Text 13"/>
          <p:cNvSpPr/>
          <p:nvPr/>
        </p:nvSpPr>
        <p:spPr>
          <a:xfrm>
            <a:off x="8796528" y="1810512"/>
            <a:ext cx="1609344" cy="576072"/>
          </a:xfrm>
          <a:prstGeom prst="rect">
            <a:avLst/>
          </a:prstGeom>
          <a:noFill/>
          <a:ln/>
        </p:spPr>
        <p:txBody>
          <a:bodyPr wrap="square" rtlCol="0" anchor="ctr"/>
          <a:lstStyle/>
          <a:p>
            <a:pPr marL="0" indent="0" algn="l">
              <a:lnSpc>
                <a:spcPct val="112000"/>
              </a:lnSpc>
              <a:buNone/>
            </a:pPr>
            <a:r>
              <a:rPr lang="en-US" sz="830" dirty="0">
                <a:solidFill>
                  <a:srgbClr val="EAF6F4"/>
                </a:solidFill>
                <a:latin typeface="Calibri" pitchFamily="34" charset="0"/>
                <a:ea typeface="Calibri" pitchFamily="34" charset="-122"/>
                <a:cs typeface="Calibri" pitchFamily="34" charset="-120"/>
              </a:rPr>
              <a:t>− specialization</a:t>
            </a:r>
            <a:endParaRPr lang="en-US" sz="830" dirty="0"/>
          </a:p>
          <a:p>
            <a:pPr marL="0" indent="0" algn="l">
              <a:lnSpc>
                <a:spcPct val="112000"/>
              </a:lnSpc>
              <a:buNone/>
            </a:pPr>
            <a:r>
              <a:rPr lang="en-US" sz="830" dirty="0">
                <a:solidFill>
                  <a:srgbClr val="EAF6F4"/>
                </a:solidFill>
                <a:latin typeface="Calibri" pitchFamily="34" charset="0"/>
                <a:ea typeface="Calibri" pitchFamily="34" charset="-122"/>
                <a:cs typeface="Calibri" pitchFamily="34" charset="-120"/>
              </a:rPr>
              <a:t>+ diagnose()</a:t>
            </a:r>
            <a:endParaRPr lang="en-US" sz="830" dirty="0"/>
          </a:p>
        </p:txBody>
      </p:sp>
      <p:sp>
        <p:nvSpPr>
          <p:cNvPr id="16" name="Shape 14"/>
          <p:cNvSpPr/>
          <p:nvPr/>
        </p:nvSpPr>
        <p:spPr>
          <a:xfrm>
            <a:off x="548640" y="3246120"/>
            <a:ext cx="1828800" cy="1051560"/>
          </a:xfrm>
          <a:prstGeom prst="roundRect">
            <a:avLst>
              <a:gd name="adj" fmla="val 5217"/>
            </a:avLst>
          </a:prstGeom>
          <a:solidFill>
            <a:srgbClr val="0E6E67"/>
          </a:solidFill>
          <a:ln w="19050">
            <a:solidFill>
              <a:srgbClr val="FFFFFF"/>
            </a:solidFill>
            <a:prstDash val="solid"/>
          </a:ln>
        </p:spPr>
      </p:sp>
      <p:sp>
        <p:nvSpPr>
          <p:cNvPr id="17" name="Text 15"/>
          <p:cNvSpPr/>
          <p:nvPr/>
        </p:nvSpPr>
        <p:spPr>
          <a:xfrm>
            <a:off x="548640" y="3319272"/>
            <a:ext cx="1828800" cy="292608"/>
          </a:xfrm>
          <a:prstGeom prst="rect">
            <a:avLst/>
          </a:prstGeom>
          <a:noFill/>
          <a:ln/>
        </p:spPr>
        <p:txBody>
          <a:bodyPr wrap="square"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MedicalRecord</a:t>
            </a:r>
            <a:endParaRPr lang="en-US" sz="1250" dirty="0"/>
          </a:p>
        </p:txBody>
      </p:sp>
      <p:sp>
        <p:nvSpPr>
          <p:cNvPr id="18" name="Shape 16"/>
          <p:cNvSpPr/>
          <p:nvPr/>
        </p:nvSpPr>
        <p:spPr>
          <a:xfrm>
            <a:off x="658368" y="3630168"/>
            <a:ext cx="1609344" cy="0"/>
          </a:xfrm>
          <a:prstGeom prst="line">
            <a:avLst/>
          </a:prstGeom>
          <a:noFill/>
          <a:ln w="9525">
            <a:solidFill>
              <a:srgbClr val="FFFFFF">
                <a:alpha val="60000"/>
              </a:srgbClr>
            </a:solidFill>
            <a:prstDash val="solid"/>
          </a:ln>
        </p:spPr>
      </p:sp>
      <p:sp>
        <p:nvSpPr>
          <p:cNvPr id="19" name="Text 17"/>
          <p:cNvSpPr/>
          <p:nvPr/>
        </p:nvSpPr>
        <p:spPr>
          <a:xfrm>
            <a:off x="658368" y="3685032"/>
            <a:ext cx="1609344" cy="576072"/>
          </a:xfrm>
          <a:prstGeom prst="rect">
            <a:avLst/>
          </a:prstGeom>
          <a:noFill/>
          <a:ln/>
        </p:spPr>
        <p:txBody>
          <a:bodyPr wrap="square" rtlCol="0" anchor="ctr"/>
          <a:lstStyle/>
          <a:p>
            <a:pPr marL="0" indent="0" algn="l">
              <a:lnSpc>
                <a:spcPct val="112000"/>
              </a:lnSpc>
              <a:buNone/>
            </a:pPr>
            <a:r>
              <a:rPr lang="en-US" sz="830" dirty="0">
                <a:solidFill>
                  <a:srgbClr val="EAF6F4"/>
                </a:solidFill>
                <a:latin typeface="Calibri" pitchFamily="34" charset="0"/>
                <a:ea typeface="Calibri" pitchFamily="34" charset="-122"/>
                <a:cs typeface="Calibri" pitchFamily="34" charset="-120"/>
              </a:rPr>
              <a:t>− diagnosis</a:t>
            </a:r>
            <a:endParaRPr lang="en-US" sz="830" dirty="0"/>
          </a:p>
          <a:p>
            <a:pPr marL="0" indent="0" algn="l">
              <a:lnSpc>
                <a:spcPct val="112000"/>
              </a:lnSpc>
              <a:buNone/>
            </a:pPr>
            <a:r>
              <a:rPr lang="en-US" sz="830" dirty="0">
                <a:solidFill>
                  <a:srgbClr val="EAF6F4"/>
                </a:solidFill>
                <a:latin typeface="Calibri" pitchFamily="34" charset="0"/>
                <a:ea typeface="Calibri" pitchFamily="34" charset="-122"/>
                <a:cs typeface="Calibri" pitchFamily="34" charset="-120"/>
              </a:rPr>
              <a:t>− date</a:t>
            </a:r>
            <a:endParaRPr lang="en-US" sz="830" dirty="0"/>
          </a:p>
        </p:txBody>
      </p:sp>
      <p:sp>
        <p:nvSpPr>
          <p:cNvPr id="20" name="Shape 18"/>
          <p:cNvSpPr/>
          <p:nvPr/>
        </p:nvSpPr>
        <p:spPr>
          <a:xfrm>
            <a:off x="4617720" y="3246120"/>
            <a:ext cx="1828800" cy="1051560"/>
          </a:xfrm>
          <a:prstGeom prst="roundRect">
            <a:avLst>
              <a:gd name="adj" fmla="val 5217"/>
            </a:avLst>
          </a:prstGeom>
          <a:solidFill>
            <a:srgbClr val="0E6E67"/>
          </a:solidFill>
          <a:ln w="19050">
            <a:solidFill>
              <a:srgbClr val="FFFFFF"/>
            </a:solidFill>
            <a:prstDash val="solid"/>
          </a:ln>
        </p:spPr>
      </p:sp>
      <p:sp>
        <p:nvSpPr>
          <p:cNvPr id="21" name="Text 19"/>
          <p:cNvSpPr/>
          <p:nvPr/>
        </p:nvSpPr>
        <p:spPr>
          <a:xfrm>
            <a:off x="4617720" y="3319272"/>
            <a:ext cx="1828800" cy="292608"/>
          </a:xfrm>
          <a:prstGeom prst="rect">
            <a:avLst/>
          </a:prstGeom>
          <a:noFill/>
          <a:ln/>
        </p:spPr>
        <p:txBody>
          <a:bodyPr wrap="square"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Appointment</a:t>
            </a:r>
            <a:endParaRPr lang="en-US" sz="1250" dirty="0"/>
          </a:p>
        </p:txBody>
      </p:sp>
      <p:sp>
        <p:nvSpPr>
          <p:cNvPr id="22" name="Shape 20"/>
          <p:cNvSpPr/>
          <p:nvPr/>
        </p:nvSpPr>
        <p:spPr>
          <a:xfrm>
            <a:off x="4727448" y="3630168"/>
            <a:ext cx="1609344" cy="0"/>
          </a:xfrm>
          <a:prstGeom prst="line">
            <a:avLst/>
          </a:prstGeom>
          <a:noFill/>
          <a:ln w="9525">
            <a:solidFill>
              <a:srgbClr val="FFFFFF">
                <a:alpha val="60000"/>
              </a:srgbClr>
            </a:solidFill>
            <a:prstDash val="solid"/>
          </a:ln>
        </p:spPr>
      </p:sp>
      <p:sp>
        <p:nvSpPr>
          <p:cNvPr id="23" name="Text 21"/>
          <p:cNvSpPr/>
          <p:nvPr/>
        </p:nvSpPr>
        <p:spPr>
          <a:xfrm>
            <a:off x="4727448" y="3685032"/>
            <a:ext cx="1609344" cy="576072"/>
          </a:xfrm>
          <a:prstGeom prst="rect">
            <a:avLst/>
          </a:prstGeom>
          <a:noFill/>
          <a:ln/>
        </p:spPr>
        <p:txBody>
          <a:bodyPr wrap="square" rtlCol="0" anchor="ctr"/>
          <a:lstStyle/>
          <a:p>
            <a:pPr marL="0" indent="0" algn="l">
              <a:lnSpc>
                <a:spcPct val="112000"/>
              </a:lnSpc>
              <a:buNone/>
            </a:pPr>
            <a:r>
              <a:rPr lang="en-US" sz="830" dirty="0">
                <a:solidFill>
                  <a:srgbClr val="EAF6F4"/>
                </a:solidFill>
                <a:latin typeface="Calibri" pitchFamily="34" charset="0"/>
                <a:ea typeface="Calibri" pitchFamily="34" charset="-122"/>
                <a:cs typeface="Calibri" pitchFamily="34" charset="-120"/>
              </a:rPr>
              <a:t>− dateTime</a:t>
            </a:r>
            <a:endParaRPr lang="en-US" sz="830" dirty="0"/>
          </a:p>
          <a:p>
            <a:pPr marL="0" indent="0" algn="l">
              <a:lnSpc>
                <a:spcPct val="112000"/>
              </a:lnSpc>
              <a:buNone/>
            </a:pPr>
            <a:r>
              <a:rPr lang="en-US" sz="830" dirty="0">
                <a:solidFill>
                  <a:srgbClr val="EAF6F4"/>
                </a:solidFill>
                <a:latin typeface="Calibri" pitchFamily="34" charset="0"/>
                <a:ea typeface="Calibri" pitchFamily="34" charset="-122"/>
                <a:cs typeface="Calibri" pitchFamily="34" charset="-120"/>
              </a:rPr>
              <a:t>− status</a:t>
            </a:r>
            <a:endParaRPr lang="en-US" sz="830" dirty="0"/>
          </a:p>
        </p:txBody>
      </p:sp>
      <p:sp>
        <p:nvSpPr>
          <p:cNvPr id="24" name="Shape 22"/>
          <p:cNvSpPr/>
          <p:nvPr/>
        </p:nvSpPr>
        <p:spPr>
          <a:xfrm>
            <a:off x="8686800" y="3246120"/>
            <a:ext cx="1828800" cy="1051560"/>
          </a:xfrm>
          <a:prstGeom prst="roundRect">
            <a:avLst>
              <a:gd name="adj" fmla="val 5217"/>
            </a:avLst>
          </a:prstGeom>
          <a:solidFill>
            <a:srgbClr val="2FA39B"/>
          </a:solidFill>
          <a:ln w="19050">
            <a:solidFill>
              <a:srgbClr val="FFFFFF"/>
            </a:solidFill>
            <a:prstDash val="solid"/>
          </a:ln>
        </p:spPr>
      </p:sp>
      <p:sp>
        <p:nvSpPr>
          <p:cNvPr id="25" name="Text 23"/>
          <p:cNvSpPr/>
          <p:nvPr/>
        </p:nvSpPr>
        <p:spPr>
          <a:xfrm>
            <a:off x="8686800" y="3319272"/>
            <a:ext cx="1828800" cy="292608"/>
          </a:xfrm>
          <a:prstGeom prst="rect">
            <a:avLst/>
          </a:prstGeom>
          <a:noFill/>
          <a:ln/>
        </p:spPr>
        <p:txBody>
          <a:bodyPr wrap="square"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Prescription</a:t>
            </a:r>
            <a:endParaRPr lang="en-US" sz="1250" dirty="0"/>
          </a:p>
        </p:txBody>
      </p:sp>
      <p:sp>
        <p:nvSpPr>
          <p:cNvPr id="26" name="Shape 24"/>
          <p:cNvSpPr/>
          <p:nvPr/>
        </p:nvSpPr>
        <p:spPr>
          <a:xfrm>
            <a:off x="8796528" y="3630168"/>
            <a:ext cx="1609344" cy="0"/>
          </a:xfrm>
          <a:prstGeom prst="line">
            <a:avLst/>
          </a:prstGeom>
          <a:noFill/>
          <a:ln w="9525">
            <a:solidFill>
              <a:srgbClr val="FFFFFF">
                <a:alpha val="60000"/>
              </a:srgbClr>
            </a:solidFill>
            <a:prstDash val="solid"/>
          </a:ln>
        </p:spPr>
      </p:sp>
      <p:sp>
        <p:nvSpPr>
          <p:cNvPr id="27" name="Text 25"/>
          <p:cNvSpPr/>
          <p:nvPr/>
        </p:nvSpPr>
        <p:spPr>
          <a:xfrm>
            <a:off x="8796528" y="3685032"/>
            <a:ext cx="1609344" cy="576072"/>
          </a:xfrm>
          <a:prstGeom prst="rect">
            <a:avLst/>
          </a:prstGeom>
          <a:noFill/>
          <a:ln/>
        </p:spPr>
        <p:txBody>
          <a:bodyPr wrap="square" rtlCol="0" anchor="ctr"/>
          <a:lstStyle/>
          <a:p>
            <a:pPr marL="0" indent="0" algn="l">
              <a:lnSpc>
                <a:spcPct val="112000"/>
              </a:lnSpc>
              <a:buNone/>
            </a:pPr>
            <a:r>
              <a:rPr lang="en-US" sz="830" dirty="0">
                <a:solidFill>
                  <a:srgbClr val="EAF6F4"/>
                </a:solidFill>
                <a:latin typeface="Calibri" pitchFamily="34" charset="0"/>
                <a:ea typeface="Calibri" pitchFamily="34" charset="-122"/>
                <a:cs typeface="Calibri" pitchFamily="34" charset="-120"/>
              </a:rPr>
              <a:t>− dosage</a:t>
            </a:r>
            <a:endParaRPr lang="en-US" sz="830" dirty="0"/>
          </a:p>
          <a:p>
            <a:pPr marL="0" indent="0" algn="l">
              <a:lnSpc>
                <a:spcPct val="112000"/>
              </a:lnSpc>
              <a:buNone/>
            </a:pPr>
            <a:r>
              <a:rPr lang="en-US" sz="830" dirty="0">
                <a:solidFill>
                  <a:srgbClr val="EAF6F4"/>
                </a:solidFill>
                <a:latin typeface="Calibri" pitchFamily="34" charset="0"/>
                <a:ea typeface="Calibri" pitchFamily="34" charset="-122"/>
                <a:cs typeface="Calibri" pitchFamily="34" charset="-120"/>
              </a:rPr>
              <a:t>+ issue()</a:t>
            </a:r>
            <a:endParaRPr lang="en-US" sz="830" dirty="0"/>
          </a:p>
        </p:txBody>
      </p:sp>
      <p:sp>
        <p:nvSpPr>
          <p:cNvPr id="28" name="Shape 26"/>
          <p:cNvSpPr/>
          <p:nvPr/>
        </p:nvSpPr>
        <p:spPr>
          <a:xfrm>
            <a:off x="2560320" y="5120640"/>
            <a:ext cx="1828800" cy="1051560"/>
          </a:xfrm>
          <a:prstGeom prst="roundRect">
            <a:avLst>
              <a:gd name="adj" fmla="val 5217"/>
            </a:avLst>
          </a:prstGeom>
          <a:solidFill>
            <a:srgbClr val="0A3F3C"/>
          </a:solidFill>
          <a:ln w="19050">
            <a:solidFill>
              <a:srgbClr val="FFFFFF"/>
            </a:solidFill>
            <a:prstDash val="solid"/>
          </a:ln>
        </p:spPr>
      </p:sp>
      <p:sp>
        <p:nvSpPr>
          <p:cNvPr id="29" name="Text 27"/>
          <p:cNvSpPr/>
          <p:nvPr/>
        </p:nvSpPr>
        <p:spPr>
          <a:xfrm>
            <a:off x="2560320" y="5193792"/>
            <a:ext cx="1828800" cy="292608"/>
          </a:xfrm>
          <a:prstGeom prst="rect">
            <a:avLst/>
          </a:prstGeom>
          <a:noFill/>
          <a:ln/>
        </p:spPr>
        <p:txBody>
          <a:bodyPr wrap="square"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Billing</a:t>
            </a:r>
            <a:endParaRPr lang="en-US" sz="1250" dirty="0"/>
          </a:p>
        </p:txBody>
      </p:sp>
      <p:sp>
        <p:nvSpPr>
          <p:cNvPr id="30" name="Shape 28"/>
          <p:cNvSpPr/>
          <p:nvPr/>
        </p:nvSpPr>
        <p:spPr>
          <a:xfrm>
            <a:off x="2670048" y="5504688"/>
            <a:ext cx="1609344" cy="0"/>
          </a:xfrm>
          <a:prstGeom prst="line">
            <a:avLst/>
          </a:prstGeom>
          <a:noFill/>
          <a:ln w="9525">
            <a:solidFill>
              <a:srgbClr val="FFFFFF">
                <a:alpha val="60000"/>
              </a:srgbClr>
            </a:solidFill>
            <a:prstDash val="solid"/>
          </a:ln>
        </p:spPr>
      </p:sp>
      <p:sp>
        <p:nvSpPr>
          <p:cNvPr id="31" name="Text 29"/>
          <p:cNvSpPr/>
          <p:nvPr/>
        </p:nvSpPr>
        <p:spPr>
          <a:xfrm>
            <a:off x="2670048" y="5559552"/>
            <a:ext cx="1609344" cy="576072"/>
          </a:xfrm>
          <a:prstGeom prst="rect">
            <a:avLst/>
          </a:prstGeom>
          <a:noFill/>
          <a:ln/>
        </p:spPr>
        <p:txBody>
          <a:bodyPr wrap="square" rtlCol="0" anchor="ctr"/>
          <a:lstStyle/>
          <a:p>
            <a:pPr marL="0" indent="0" algn="l">
              <a:lnSpc>
                <a:spcPct val="112000"/>
              </a:lnSpc>
              <a:buNone/>
            </a:pPr>
            <a:r>
              <a:rPr lang="en-US" sz="830" dirty="0">
                <a:solidFill>
                  <a:srgbClr val="EAF6F4"/>
                </a:solidFill>
                <a:latin typeface="Calibri" pitchFamily="34" charset="0"/>
                <a:ea typeface="Calibri" pitchFamily="34" charset="-122"/>
                <a:cs typeface="Calibri" pitchFamily="34" charset="-120"/>
              </a:rPr>
              <a:t>− amount (private)</a:t>
            </a:r>
            <a:endParaRPr lang="en-US" sz="830" dirty="0"/>
          </a:p>
          <a:p>
            <a:pPr marL="0" indent="0" algn="l">
              <a:lnSpc>
                <a:spcPct val="112000"/>
              </a:lnSpc>
              <a:buNone/>
            </a:pPr>
            <a:r>
              <a:rPr lang="en-US" sz="830" dirty="0">
                <a:solidFill>
                  <a:srgbClr val="EAF6F4"/>
                </a:solidFill>
                <a:latin typeface="Calibri" pitchFamily="34" charset="0"/>
                <a:ea typeface="Calibri" pitchFamily="34" charset="-122"/>
                <a:cs typeface="Calibri" pitchFamily="34" charset="-120"/>
              </a:rPr>
              <a:t>+ generateInvoice()</a:t>
            </a:r>
            <a:endParaRPr lang="en-US" sz="830" dirty="0"/>
          </a:p>
        </p:txBody>
      </p:sp>
      <p:sp>
        <p:nvSpPr>
          <p:cNvPr id="32" name="Shape 30"/>
          <p:cNvSpPr/>
          <p:nvPr/>
        </p:nvSpPr>
        <p:spPr>
          <a:xfrm>
            <a:off x="6629400" y="5120640"/>
            <a:ext cx="1828800" cy="1051560"/>
          </a:xfrm>
          <a:prstGeom prst="roundRect">
            <a:avLst>
              <a:gd name="adj" fmla="val 5217"/>
            </a:avLst>
          </a:prstGeom>
          <a:solidFill>
            <a:srgbClr val="0A3F3C"/>
          </a:solidFill>
          <a:ln w="19050">
            <a:solidFill>
              <a:srgbClr val="FFFFFF"/>
            </a:solidFill>
            <a:prstDash val="solid"/>
          </a:ln>
        </p:spPr>
      </p:sp>
      <p:sp>
        <p:nvSpPr>
          <p:cNvPr id="33" name="Text 31"/>
          <p:cNvSpPr/>
          <p:nvPr/>
        </p:nvSpPr>
        <p:spPr>
          <a:xfrm>
            <a:off x="6629400" y="5193792"/>
            <a:ext cx="1828800" cy="292608"/>
          </a:xfrm>
          <a:prstGeom prst="rect">
            <a:avLst/>
          </a:prstGeom>
          <a:noFill/>
          <a:ln/>
        </p:spPr>
        <p:txBody>
          <a:bodyPr wrap="square"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Medicine</a:t>
            </a:r>
            <a:endParaRPr lang="en-US" sz="1250" dirty="0"/>
          </a:p>
        </p:txBody>
      </p:sp>
      <p:sp>
        <p:nvSpPr>
          <p:cNvPr id="34" name="Shape 32"/>
          <p:cNvSpPr/>
          <p:nvPr/>
        </p:nvSpPr>
        <p:spPr>
          <a:xfrm>
            <a:off x="6739128" y="5504688"/>
            <a:ext cx="1609344" cy="0"/>
          </a:xfrm>
          <a:prstGeom prst="line">
            <a:avLst/>
          </a:prstGeom>
          <a:noFill/>
          <a:ln w="9525">
            <a:solidFill>
              <a:srgbClr val="FFFFFF">
                <a:alpha val="60000"/>
              </a:srgbClr>
            </a:solidFill>
            <a:prstDash val="solid"/>
          </a:ln>
        </p:spPr>
      </p:sp>
      <p:sp>
        <p:nvSpPr>
          <p:cNvPr id="35" name="Text 33"/>
          <p:cNvSpPr/>
          <p:nvPr/>
        </p:nvSpPr>
        <p:spPr>
          <a:xfrm>
            <a:off x="6739128" y="5559552"/>
            <a:ext cx="1609344" cy="576072"/>
          </a:xfrm>
          <a:prstGeom prst="rect">
            <a:avLst/>
          </a:prstGeom>
          <a:noFill/>
          <a:ln/>
        </p:spPr>
        <p:txBody>
          <a:bodyPr wrap="square" rtlCol="0" anchor="ctr"/>
          <a:lstStyle/>
          <a:p>
            <a:pPr marL="0" indent="0" algn="l">
              <a:lnSpc>
                <a:spcPct val="112000"/>
              </a:lnSpc>
              <a:buNone/>
            </a:pPr>
            <a:r>
              <a:rPr lang="en-US" sz="830" dirty="0">
                <a:solidFill>
                  <a:srgbClr val="EAF6F4"/>
                </a:solidFill>
                <a:latin typeface="Calibri" pitchFamily="34" charset="0"/>
                <a:ea typeface="Calibri" pitchFamily="34" charset="-122"/>
                <a:cs typeface="Calibri" pitchFamily="34" charset="-120"/>
              </a:rPr>
              <a:t>− stock (private)</a:t>
            </a:r>
            <a:endParaRPr lang="en-US" sz="830" dirty="0"/>
          </a:p>
          <a:p>
            <a:pPr marL="0" indent="0" algn="l">
              <a:lnSpc>
                <a:spcPct val="112000"/>
              </a:lnSpc>
              <a:buNone/>
            </a:pPr>
            <a:r>
              <a:rPr lang="en-US" sz="830" dirty="0">
                <a:solidFill>
                  <a:srgbClr val="EAF6F4"/>
                </a:solidFill>
                <a:latin typeface="Calibri" pitchFamily="34" charset="0"/>
                <a:ea typeface="Calibri" pitchFamily="34" charset="-122"/>
                <a:cs typeface="Calibri" pitchFamily="34" charset="-120"/>
              </a:rPr>
              <a:t>+ dispense()</a:t>
            </a:r>
            <a:endParaRPr lang="en-US" sz="830" dirty="0"/>
          </a:p>
        </p:txBody>
      </p:sp>
      <p:sp>
        <p:nvSpPr>
          <p:cNvPr id="36" name="Shape 34"/>
          <p:cNvSpPr/>
          <p:nvPr/>
        </p:nvSpPr>
        <p:spPr>
          <a:xfrm>
            <a:off x="5532120" y="2423160"/>
            <a:ext cx="0" cy="822960"/>
          </a:xfrm>
          <a:prstGeom prst="line">
            <a:avLst/>
          </a:prstGeom>
          <a:noFill/>
          <a:ln w="19050">
            <a:solidFill>
              <a:srgbClr val="6B7B78"/>
            </a:solidFill>
            <a:prstDash val="solid"/>
          </a:ln>
        </p:spPr>
      </p:sp>
      <p:sp>
        <p:nvSpPr>
          <p:cNvPr id="37" name="Shape 35"/>
          <p:cNvSpPr/>
          <p:nvPr/>
        </p:nvSpPr>
        <p:spPr>
          <a:xfrm>
            <a:off x="5623560" y="2453173"/>
            <a:ext cx="603504" cy="237744"/>
          </a:xfrm>
          <a:prstGeom prst="rect">
            <a:avLst/>
          </a:prstGeom>
          <a:solidFill>
            <a:srgbClr val="FFFFFF"/>
          </a:solidFill>
          <a:ln/>
        </p:spPr>
      </p:sp>
      <p:sp>
        <p:nvSpPr>
          <p:cNvPr id="38" name="Text 36"/>
          <p:cNvSpPr/>
          <p:nvPr/>
        </p:nvSpPr>
        <p:spPr>
          <a:xfrm>
            <a:off x="5475013" y="2484120"/>
            <a:ext cx="603504" cy="237744"/>
          </a:xfrm>
          <a:prstGeom prst="rect">
            <a:avLst/>
          </a:prstGeom>
          <a:noFill/>
          <a:ln/>
        </p:spPr>
        <p:txBody>
          <a:bodyPr wrap="square" rtlCol="0" anchor="ctr"/>
          <a:lstStyle/>
          <a:p>
            <a:pPr marL="0" indent="0" algn="ctr">
              <a:buNone/>
            </a:pPr>
            <a:r>
              <a:rPr lang="en-US" sz="900" i="1" dirty="0">
                <a:solidFill>
                  <a:srgbClr val="16221F"/>
                </a:solidFill>
                <a:latin typeface="Calibri" pitchFamily="34" charset="0"/>
                <a:ea typeface="Calibri" pitchFamily="34" charset="-122"/>
                <a:cs typeface="Calibri" pitchFamily="34" charset="-120"/>
              </a:rPr>
              <a:t>books</a:t>
            </a:r>
            <a:endParaRPr lang="en-US" sz="900" dirty="0"/>
          </a:p>
        </p:txBody>
      </p:sp>
      <p:sp>
        <p:nvSpPr>
          <p:cNvPr id="39" name="Shape 37"/>
          <p:cNvSpPr/>
          <p:nvPr/>
        </p:nvSpPr>
        <p:spPr>
          <a:xfrm flipH="1">
            <a:off x="6446520" y="1897380"/>
            <a:ext cx="2240280" cy="1787652"/>
          </a:xfrm>
          <a:prstGeom prst="line">
            <a:avLst/>
          </a:prstGeom>
          <a:noFill/>
          <a:ln w="19050">
            <a:solidFill>
              <a:srgbClr val="6B7B78"/>
            </a:solidFill>
            <a:prstDash val="solid"/>
          </a:ln>
        </p:spPr>
      </p:sp>
      <p:sp>
        <p:nvSpPr>
          <p:cNvPr id="40" name="Shape 38"/>
          <p:cNvSpPr/>
          <p:nvPr/>
        </p:nvSpPr>
        <p:spPr>
          <a:xfrm>
            <a:off x="6924294" y="3413757"/>
            <a:ext cx="877824" cy="237744"/>
          </a:xfrm>
          <a:prstGeom prst="rect">
            <a:avLst/>
          </a:prstGeom>
          <a:solidFill>
            <a:srgbClr val="FFFFFF"/>
          </a:solidFill>
          <a:ln/>
        </p:spPr>
      </p:sp>
      <p:sp>
        <p:nvSpPr>
          <p:cNvPr id="41" name="Text 39"/>
          <p:cNvSpPr/>
          <p:nvPr/>
        </p:nvSpPr>
        <p:spPr>
          <a:xfrm>
            <a:off x="6892289" y="3152643"/>
            <a:ext cx="877824" cy="237744"/>
          </a:xfrm>
          <a:prstGeom prst="rect">
            <a:avLst/>
          </a:prstGeom>
          <a:noFill/>
          <a:ln/>
        </p:spPr>
        <p:txBody>
          <a:bodyPr wrap="square" rtlCol="0" anchor="ctr"/>
          <a:lstStyle/>
          <a:p>
            <a:pPr marL="0" indent="0" algn="ctr">
              <a:buNone/>
            </a:pPr>
            <a:r>
              <a:rPr lang="en-US" sz="900" i="1" dirty="0">
                <a:solidFill>
                  <a:srgbClr val="16221F"/>
                </a:solidFill>
                <a:latin typeface="Calibri" pitchFamily="34" charset="0"/>
                <a:ea typeface="Calibri" pitchFamily="34" charset="-122"/>
                <a:cs typeface="Calibri" pitchFamily="34" charset="-120"/>
              </a:rPr>
              <a:t>conducts</a:t>
            </a:r>
            <a:endParaRPr lang="en-US" sz="900" dirty="0"/>
          </a:p>
        </p:txBody>
      </p:sp>
      <p:sp>
        <p:nvSpPr>
          <p:cNvPr id="42" name="Shape 40"/>
          <p:cNvSpPr/>
          <p:nvPr/>
        </p:nvSpPr>
        <p:spPr>
          <a:xfrm flipH="1">
            <a:off x="2377440" y="2016252"/>
            <a:ext cx="2286000" cy="1773934"/>
          </a:xfrm>
          <a:prstGeom prst="line">
            <a:avLst/>
          </a:prstGeom>
          <a:noFill/>
          <a:ln w="19050">
            <a:solidFill>
              <a:srgbClr val="8B2E2E"/>
            </a:solidFill>
            <a:prstDash val="solid"/>
          </a:ln>
        </p:spPr>
      </p:sp>
      <p:sp>
        <p:nvSpPr>
          <p:cNvPr id="43" name="Text 41"/>
          <p:cNvSpPr/>
          <p:nvPr/>
        </p:nvSpPr>
        <p:spPr>
          <a:xfrm>
            <a:off x="4298845" y="1880170"/>
            <a:ext cx="329184" cy="292608"/>
          </a:xfrm>
          <a:prstGeom prst="rect">
            <a:avLst/>
          </a:prstGeom>
          <a:noFill/>
          <a:ln/>
        </p:spPr>
        <p:txBody>
          <a:bodyPr wrap="square" rtlCol="0" anchor="ctr"/>
          <a:lstStyle/>
          <a:p>
            <a:pPr marL="0" indent="0" algn="ctr">
              <a:buNone/>
            </a:pPr>
            <a:r>
              <a:rPr lang="en-US" sz="1500" b="1" dirty="0">
                <a:solidFill>
                  <a:srgbClr val="8B2E2E"/>
                </a:solidFill>
                <a:latin typeface="Calibri" pitchFamily="34" charset="0"/>
                <a:ea typeface="Calibri" pitchFamily="34" charset="-122"/>
                <a:cs typeface="Calibri" pitchFamily="34" charset="-120"/>
              </a:rPr>
              <a:t>◆</a:t>
            </a:r>
            <a:endParaRPr lang="en-US" sz="1500" dirty="0"/>
          </a:p>
        </p:txBody>
      </p:sp>
      <p:sp>
        <p:nvSpPr>
          <p:cNvPr id="44" name="Shape 42"/>
          <p:cNvSpPr/>
          <p:nvPr/>
        </p:nvSpPr>
        <p:spPr>
          <a:xfrm>
            <a:off x="3241548" y="2715768"/>
            <a:ext cx="512064" cy="237744"/>
          </a:xfrm>
          <a:prstGeom prst="rect">
            <a:avLst/>
          </a:prstGeom>
          <a:solidFill>
            <a:srgbClr val="FFFFFF"/>
          </a:solidFill>
          <a:ln/>
        </p:spPr>
      </p:sp>
      <p:sp>
        <p:nvSpPr>
          <p:cNvPr id="45" name="Text 43"/>
          <p:cNvSpPr/>
          <p:nvPr/>
        </p:nvSpPr>
        <p:spPr>
          <a:xfrm>
            <a:off x="3241548" y="2715768"/>
            <a:ext cx="512064" cy="237744"/>
          </a:xfrm>
          <a:prstGeom prst="rect">
            <a:avLst/>
          </a:prstGeom>
          <a:noFill/>
          <a:ln/>
        </p:spPr>
        <p:txBody>
          <a:bodyPr wrap="square" rtlCol="0" anchor="ctr"/>
          <a:lstStyle/>
          <a:p>
            <a:pPr marL="0" indent="0" algn="ctr">
              <a:buNone/>
            </a:pPr>
            <a:r>
              <a:rPr lang="en-US" sz="900" i="1" dirty="0">
                <a:solidFill>
                  <a:srgbClr val="16221F"/>
                </a:solidFill>
                <a:latin typeface="Calibri" pitchFamily="34" charset="0"/>
                <a:ea typeface="Calibri" pitchFamily="34" charset="-122"/>
                <a:cs typeface="Calibri" pitchFamily="34" charset="-120"/>
              </a:rPr>
              <a:t>owns</a:t>
            </a:r>
            <a:endParaRPr lang="en-US" sz="900" dirty="0"/>
          </a:p>
        </p:txBody>
      </p:sp>
      <p:sp>
        <p:nvSpPr>
          <p:cNvPr id="46" name="Shape 44"/>
          <p:cNvSpPr/>
          <p:nvPr/>
        </p:nvSpPr>
        <p:spPr>
          <a:xfrm flipH="1">
            <a:off x="2267712" y="1888238"/>
            <a:ext cx="6327648" cy="1892806"/>
          </a:xfrm>
          <a:prstGeom prst="line">
            <a:avLst/>
          </a:prstGeom>
          <a:noFill/>
          <a:ln w="19050">
            <a:solidFill>
              <a:srgbClr val="6B7B78"/>
            </a:solidFill>
            <a:prstDash val="solid"/>
          </a:ln>
        </p:spPr>
        <p:txBody>
          <a:bodyPr/>
          <a:lstStyle/>
          <a:p>
            <a:endParaRPr lang="en-IN" dirty="0"/>
          </a:p>
        </p:txBody>
      </p:sp>
      <p:sp>
        <p:nvSpPr>
          <p:cNvPr id="47" name="Shape 45"/>
          <p:cNvSpPr/>
          <p:nvPr/>
        </p:nvSpPr>
        <p:spPr>
          <a:xfrm>
            <a:off x="6280341" y="2584704"/>
            <a:ext cx="786384" cy="237744"/>
          </a:xfrm>
          <a:prstGeom prst="rect">
            <a:avLst/>
          </a:prstGeom>
          <a:solidFill>
            <a:srgbClr val="FFFFFF"/>
          </a:solidFill>
          <a:ln/>
        </p:spPr>
      </p:sp>
      <p:sp>
        <p:nvSpPr>
          <p:cNvPr id="48" name="Text 46"/>
          <p:cNvSpPr/>
          <p:nvPr/>
        </p:nvSpPr>
        <p:spPr>
          <a:xfrm>
            <a:off x="6307117" y="2441914"/>
            <a:ext cx="786384" cy="237744"/>
          </a:xfrm>
          <a:prstGeom prst="rect">
            <a:avLst/>
          </a:prstGeom>
          <a:noFill/>
          <a:ln/>
        </p:spPr>
        <p:txBody>
          <a:bodyPr wrap="square" rtlCol="0" anchor="ctr"/>
          <a:lstStyle/>
          <a:p>
            <a:pPr marL="0" indent="0" algn="ctr">
              <a:buNone/>
            </a:pPr>
            <a:r>
              <a:rPr lang="en-US" sz="900" i="1" dirty="0">
                <a:solidFill>
                  <a:srgbClr val="16221F"/>
                </a:solidFill>
                <a:latin typeface="Calibri" pitchFamily="34" charset="0"/>
                <a:ea typeface="Calibri" pitchFamily="34" charset="-122"/>
                <a:cs typeface="Calibri" pitchFamily="34" charset="-120"/>
              </a:rPr>
              <a:t>authors</a:t>
            </a:r>
            <a:endParaRPr lang="en-US" sz="900" dirty="0"/>
          </a:p>
        </p:txBody>
      </p:sp>
      <p:sp>
        <p:nvSpPr>
          <p:cNvPr id="49" name="Shape 47"/>
          <p:cNvSpPr/>
          <p:nvPr/>
        </p:nvSpPr>
        <p:spPr>
          <a:xfrm>
            <a:off x="9601200" y="2423160"/>
            <a:ext cx="0" cy="822960"/>
          </a:xfrm>
          <a:prstGeom prst="line">
            <a:avLst/>
          </a:prstGeom>
          <a:noFill/>
          <a:ln w="19050">
            <a:solidFill>
              <a:srgbClr val="6B7B78"/>
            </a:solidFill>
            <a:prstDash val="solid"/>
          </a:ln>
        </p:spPr>
      </p:sp>
      <p:sp>
        <p:nvSpPr>
          <p:cNvPr id="50" name="Shape 48"/>
          <p:cNvSpPr/>
          <p:nvPr/>
        </p:nvSpPr>
        <p:spPr>
          <a:xfrm>
            <a:off x="9253728" y="2715768"/>
            <a:ext cx="694944" cy="237744"/>
          </a:xfrm>
          <a:prstGeom prst="rect">
            <a:avLst/>
          </a:prstGeom>
          <a:solidFill>
            <a:srgbClr val="FFFFFF"/>
          </a:solidFill>
          <a:ln/>
        </p:spPr>
      </p:sp>
      <p:sp>
        <p:nvSpPr>
          <p:cNvPr id="51" name="Text 49"/>
          <p:cNvSpPr/>
          <p:nvPr/>
        </p:nvSpPr>
        <p:spPr>
          <a:xfrm>
            <a:off x="9253728" y="2715768"/>
            <a:ext cx="694944" cy="237744"/>
          </a:xfrm>
          <a:prstGeom prst="rect">
            <a:avLst/>
          </a:prstGeom>
          <a:noFill/>
          <a:ln/>
        </p:spPr>
        <p:txBody>
          <a:bodyPr wrap="square" rtlCol="0" anchor="ctr"/>
          <a:lstStyle/>
          <a:p>
            <a:pPr marL="0" indent="0" algn="ctr">
              <a:buNone/>
            </a:pPr>
            <a:r>
              <a:rPr lang="en-US" sz="900" i="1" dirty="0">
                <a:solidFill>
                  <a:srgbClr val="16221F"/>
                </a:solidFill>
                <a:latin typeface="Calibri" pitchFamily="34" charset="0"/>
                <a:ea typeface="Calibri" pitchFamily="34" charset="-122"/>
                <a:cs typeface="Calibri" pitchFamily="34" charset="-120"/>
              </a:rPr>
              <a:t>writes</a:t>
            </a:r>
            <a:endParaRPr lang="en-US" sz="900" dirty="0"/>
          </a:p>
        </p:txBody>
      </p:sp>
      <p:sp>
        <p:nvSpPr>
          <p:cNvPr id="52" name="Shape 50"/>
          <p:cNvSpPr/>
          <p:nvPr/>
        </p:nvSpPr>
        <p:spPr>
          <a:xfrm>
            <a:off x="6476238" y="2069245"/>
            <a:ext cx="2240280" cy="1874520"/>
          </a:xfrm>
          <a:prstGeom prst="line">
            <a:avLst/>
          </a:prstGeom>
          <a:noFill/>
          <a:ln w="19050">
            <a:solidFill>
              <a:srgbClr val="6B7B78"/>
            </a:solidFill>
            <a:prstDash val="solid"/>
          </a:ln>
        </p:spPr>
      </p:sp>
      <p:sp>
        <p:nvSpPr>
          <p:cNvPr id="53" name="Shape 51"/>
          <p:cNvSpPr/>
          <p:nvPr/>
        </p:nvSpPr>
        <p:spPr>
          <a:xfrm>
            <a:off x="8051292" y="2900678"/>
            <a:ext cx="877824" cy="237744"/>
          </a:xfrm>
          <a:prstGeom prst="rect">
            <a:avLst/>
          </a:prstGeom>
          <a:solidFill>
            <a:srgbClr val="FFFFFF"/>
          </a:solidFill>
          <a:ln/>
        </p:spPr>
      </p:sp>
      <p:sp>
        <p:nvSpPr>
          <p:cNvPr id="54" name="Text 52"/>
          <p:cNvSpPr/>
          <p:nvPr/>
        </p:nvSpPr>
        <p:spPr>
          <a:xfrm>
            <a:off x="7850123" y="2946398"/>
            <a:ext cx="877824" cy="237744"/>
          </a:xfrm>
          <a:prstGeom prst="rect">
            <a:avLst/>
          </a:prstGeom>
          <a:noFill/>
          <a:ln/>
        </p:spPr>
        <p:txBody>
          <a:bodyPr wrap="square" rtlCol="0" anchor="ctr"/>
          <a:lstStyle/>
          <a:p>
            <a:pPr marL="0" indent="0" algn="ctr">
              <a:buNone/>
            </a:pPr>
            <a:r>
              <a:rPr lang="en-US" sz="900" i="1" dirty="0">
                <a:solidFill>
                  <a:srgbClr val="16221F"/>
                </a:solidFill>
                <a:latin typeface="Calibri" pitchFamily="34" charset="0"/>
                <a:ea typeface="Calibri" pitchFamily="34" charset="-122"/>
                <a:cs typeface="Calibri" pitchFamily="34" charset="-120"/>
              </a:rPr>
              <a:t>receives</a:t>
            </a:r>
            <a:endParaRPr lang="en-US" sz="900" dirty="0"/>
          </a:p>
        </p:txBody>
      </p:sp>
      <p:sp>
        <p:nvSpPr>
          <p:cNvPr id="55" name="Shape 53"/>
          <p:cNvSpPr/>
          <p:nvPr/>
        </p:nvSpPr>
        <p:spPr>
          <a:xfrm flipH="1">
            <a:off x="8367925" y="4297680"/>
            <a:ext cx="1233275" cy="822960"/>
          </a:xfrm>
          <a:prstGeom prst="line">
            <a:avLst/>
          </a:prstGeom>
          <a:noFill/>
          <a:ln w="19050">
            <a:solidFill>
              <a:srgbClr val="0E6E67"/>
            </a:solidFill>
            <a:prstDash val="solid"/>
          </a:ln>
        </p:spPr>
      </p:sp>
      <p:sp>
        <p:nvSpPr>
          <p:cNvPr id="56" name="Text 54"/>
          <p:cNvSpPr/>
          <p:nvPr/>
        </p:nvSpPr>
        <p:spPr>
          <a:xfrm>
            <a:off x="9249828" y="4226088"/>
            <a:ext cx="329184" cy="292608"/>
          </a:xfrm>
          <a:prstGeom prst="rect">
            <a:avLst/>
          </a:prstGeom>
          <a:noFill/>
          <a:ln/>
        </p:spPr>
        <p:txBody>
          <a:bodyPr wrap="square" rtlCol="0" anchor="ctr"/>
          <a:lstStyle/>
          <a:p>
            <a:pPr marL="0" indent="0" algn="ctr">
              <a:buNone/>
            </a:pPr>
            <a:r>
              <a:rPr lang="en-US" sz="1500" b="1" dirty="0">
                <a:solidFill>
                  <a:srgbClr val="0E6E67"/>
                </a:solidFill>
                <a:latin typeface="Calibri" pitchFamily="34" charset="0"/>
                <a:ea typeface="Calibri" pitchFamily="34" charset="-122"/>
                <a:cs typeface="Calibri" pitchFamily="34" charset="-120"/>
              </a:rPr>
              <a:t>◇</a:t>
            </a:r>
            <a:endParaRPr lang="en-US" sz="1500" dirty="0"/>
          </a:p>
        </p:txBody>
      </p:sp>
      <p:sp>
        <p:nvSpPr>
          <p:cNvPr id="57" name="Shape 55"/>
          <p:cNvSpPr/>
          <p:nvPr/>
        </p:nvSpPr>
        <p:spPr>
          <a:xfrm>
            <a:off x="8042148" y="4590288"/>
            <a:ext cx="1060704" cy="237744"/>
          </a:xfrm>
          <a:prstGeom prst="rect">
            <a:avLst/>
          </a:prstGeom>
          <a:solidFill>
            <a:srgbClr val="FFFFFF"/>
          </a:solidFill>
          <a:ln/>
        </p:spPr>
      </p:sp>
      <p:sp>
        <p:nvSpPr>
          <p:cNvPr id="58" name="Text 56"/>
          <p:cNvSpPr/>
          <p:nvPr/>
        </p:nvSpPr>
        <p:spPr>
          <a:xfrm>
            <a:off x="8042148" y="4590288"/>
            <a:ext cx="1060704" cy="237744"/>
          </a:xfrm>
          <a:prstGeom prst="rect">
            <a:avLst/>
          </a:prstGeom>
          <a:noFill/>
          <a:ln/>
        </p:spPr>
        <p:txBody>
          <a:bodyPr wrap="square" rtlCol="0" anchor="ctr"/>
          <a:lstStyle/>
          <a:p>
            <a:pPr marL="0" indent="0" algn="ctr">
              <a:buNone/>
            </a:pPr>
            <a:r>
              <a:rPr lang="en-US" sz="900" i="1" dirty="0">
                <a:solidFill>
                  <a:srgbClr val="16221F"/>
                </a:solidFill>
                <a:latin typeface="Calibri" pitchFamily="34" charset="0"/>
                <a:ea typeface="Calibri" pitchFamily="34" charset="-122"/>
                <a:cs typeface="Calibri" pitchFamily="34" charset="-120"/>
              </a:rPr>
              <a:t>references</a:t>
            </a:r>
            <a:endParaRPr lang="en-US" sz="900" dirty="0"/>
          </a:p>
        </p:txBody>
      </p:sp>
      <p:sp>
        <p:nvSpPr>
          <p:cNvPr id="59" name="Shape 57"/>
          <p:cNvSpPr/>
          <p:nvPr/>
        </p:nvSpPr>
        <p:spPr>
          <a:xfrm flipH="1">
            <a:off x="3474721" y="2423160"/>
            <a:ext cx="2057399" cy="2679191"/>
          </a:xfrm>
          <a:prstGeom prst="line">
            <a:avLst/>
          </a:prstGeom>
          <a:noFill/>
          <a:ln w="19050">
            <a:solidFill>
              <a:srgbClr val="6B7B78"/>
            </a:solidFill>
            <a:prstDash val="solid"/>
          </a:ln>
        </p:spPr>
      </p:sp>
      <p:sp>
        <p:nvSpPr>
          <p:cNvPr id="60" name="Shape 58"/>
          <p:cNvSpPr/>
          <p:nvPr/>
        </p:nvSpPr>
        <p:spPr>
          <a:xfrm>
            <a:off x="3200982" y="3925061"/>
            <a:ext cx="969264" cy="237744"/>
          </a:xfrm>
          <a:prstGeom prst="rect">
            <a:avLst/>
          </a:prstGeom>
          <a:solidFill>
            <a:srgbClr val="FFFFFF"/>
          </a:solidFill>
          <a:ln/>
        </p:spPr>
      </p:sp>
      <p:sp>
        <p:nvSpPr>
          <p:cNvPr id="61" name="Text 59"/>
          <p:cNvSpPr/>
          <p:nvPr/>
        </p:nvSpPr>
        <p:spPr>
          <a:xfrm>
            <a:off x="3230076" y="3943765"/>
            <a:ext cx="969264" cy="237744"/>
          </a:xfrm>
          <a:prstGeom prst="rect">
            <a:avLst/>
          </a:prstGeom>
          <a:noFill/>
          <a:ln/>
        </p:spPr>
        <p:txBody>
          <a:bodyPr wrap="square" rtlCol="0" anchor="ctr"/>
          <a:lstStyle/>
          <a:p>
            <a:pPr marL="0" indent="0" algn="ctr">
              <a:buNone/>
            </a:pPr>
            <a:r>
              <a:rPr lang="en-US" sz="900" i="1" dirty="0">
                <a:solidFill>
                  <a:srgbClr val="16221F"/>
                </a:solidFill>
                <a:latin typeface="Calibri" pitchFamily="34" charset="0"/>
                <a:ea typeface="Calibri" pitchFamily="34" charset="-122"/>
                <a:cs typeface="Calibri" pitchFamily="34" charset="-120"/>
              </a:rPr>
              <a:t>billed to</a:t>
            </a:r>
            <a:endParaRPr lang="en-US" sz="900" dirty="0"/>
          </a:p>
        </p:txBody>
      </p:sp>
      <p:sp>
        <p:nvSpPr>
          <p:cNvPr id="62" name="Shape 60"/>
          <p:cNvSpPr/>
          <p:nvPr/>
        </p:nvSpPr>
        <p:spPr>
          <a:xfrm flipH="1">
            <a:off x="4298845" y="4297680"/>
            <a:ext cx="1233275" cy="1051560"/>
          </a:xfrm>
          <a:prstGeom prst="line">
            <a:avLst/>
          </a:prstGeom>
          <a:noFill/>
          <a:ln w="19050">
            <a:solidFill>
              <a:srgbClr val="6B7B78"/>
            </a:solidFill>
            <a:prstDash val="solid"/>
          </a:ln>
        </p:spPr>
        <p:txBody>
          <a:bodyPr/>
          <a:lstStyle/>
          <a:p>
            <a:endParaRPr lang="en-IN" dirty="0"/>
          </a:p>
        </p:txBody>
      </p:sp>
      <p:sp>
        <p:nvSpPr>
          <p:cNvPr id="63" name="Shape 61"/>
          <p:cNvSpPr/>
          <p:nvPr/>
        </p:nvSpPr>
        <p:spPr>
          <a:xfrm>
            <a:off x="4915482" y="4912820"/>
            <a:ext cx="969264" cy="237744"/>
          </a:xfrm>
          <a:prstGeom prst="rect">
            <a:avLst/>
          </a:prstGeom>
          <a:solidFill>
            <a:srgbClr val="FFFFFF"/>
          </a:solidFill>
          <a:ln/>
        </p:spPr>
      </p:sp>
      <p:sp>
        <p:nvSpPr>
          <p:cNvPr id="64" name="Text 62"/>
          <p:cNvSpPr/>
          <p:nvPr/>
        </p:nvSpPr>
        <p:spPr>
          <a:xfrm>
            <a:off x="4739460" y="4873751"/>
            <a:ext cx="969264" cy="237744"/>
          </a:xfrm>
          <a:prstGeom prst="rect">
            <a:avLst/>
          </a:prstGeom>
          <a:noFill/>
          <a:ln/>
        </p:spPr>
        <p:txBody>
          <a:bodyPr wrap="square" rtlCol="0" anchor="ctr"/>
          <a:lstStyle/>
          <a:p>
            <a:pPr marL="0" indent="0" algn="ctr">
              <a:buNone/>
            </a:pPr>
            <a:r>
              <a:rPr lang="en-US" sz="900" i="1" dirty="0">
                <a:solidFill>
                  <a:srgbClr val="16221F"/>
                </a:solidFill>
                <a:latin typeface="Calibri" pitchFamily="34" charset="0"/>
                <a:ea typeface="Calibri" pitchFamily="34" charset="-122"/>
                <a:cs typeface="Calibri" pitchFamily="34" charset="-120"/>
              </a:rPr>
              <a:t>generates</a:t>
            </a:r>
            <a:endParaRPr lang="en-US" sz="900" dirty="0"/>
          </a:p>
        </p:txBody>
      </p:sp>
      <p:sp>
        <p:nvSpPr>
          <p:cNvPr id="65" name="Shape 63"/>
          <p:cNvSpPr/>
          <p:nvPr/>
        </p:nvSpPr>
        <p:spPr>
          <a:xfrm>
            <a:off x="2377440" y="1897380"/>
            <a:ext cx="2240280" cy="0"/>
          </a:xfrm>
          <a:prstGeom prst="line">
            <a:avLst/>
          </a:prstGeom>
          <a:noFill/>
          <a:ln w="19050">
            <a:solidFill>
              <a:srgbClr val="6B7B78"/>
            </a:solidFill>
            <a:prstDash val="solid"/>
          </a:ln>
        </p:spPr>
      </p:sp>
      <p:sp>
        <p:nvSpPr>
          <p:cNvPr id="66" name="Shape 64"/>
          <p:cNvSpPr/>
          <p:nvPr/>
        </p:nvSpPr>
        <p:spPr>
          <a:xfrm>
            <a:off x="3150108" y="1778508"/>
            <a:ext cx="694944" cy="237744"/>
          </a:xfrm>
          <a:prstGeom prst="rect">
            <a:avLst/>
          </a:prstGeom>
          <a:solidFill>
            <a:srgbClr val="FFFFFF"/>
          </a:solidFill>
          <a:ln/>
        </p:spPr>
      </p:sp>
      <p:sp>
        <p:nvSpPr>
          <p:cNvPr id="67" name="Text 65"/>
          <p:cNvSpPr/>
          <p:nvPr/>
        </p:nvSpPr>
        <p:spPr>
          <a:xfrm>
            <a:off x="3150108" y="1778508"/>
            <a:ext cx="694944" cy="237744"/>
          </a:xfrm>
          <a:prstGeom prst="rect">
            <a:avLst/>
          </a:prstGeom>
          <a:noFill/>
          <a:ln/>
        </p:spPr>
        <p:txBody>
          <a:bodyPr wrap="square" rtlCol="0" anchor="ctr"/>
          <a:lstStyle/>
          <a:p>
            <a:pPr marL="0" indent="0" algn="ctr">
              <a:buNone/>
            </a:pPr>
            <a:r>
              <a:rPr lang="en-US" sz="900" i="1" dirty="0">
                <a:solidFill>
                  <a:srgbClr val="16221F"/>
                </a:solidFill>
                <a:latin typeface="Calibri" pitchFamily="34" charset="0"/>
                <a:ea typeface="Calibri" pitchFamily="34" charset="-122"/>
                <a:cs typeface="Calibri" pitchFamily="34" charset="-120"/>
              </a:rPr>
              <a:t>admits</a:t>
            </a:r>
            <a:endParaRPr lang="en-US" sz="900" dirty="0"/>
          </a:p>
        </p:txBody>
      </p:sp>
      <p:sp>
        <p:nvSpPr>
          <p:cNvPr id="68" name="Shape 66"/>
          <p:cNvSpPr/>
          <p:nvPr/>
        </p:nvSpPr>
        <p:spPr>
          <a:xfrm>
            <a:off x="10744200" y="1280160"/>
            <a:ext cx="1417320" cy="2331720"/>
          </a:xfrm>
          <a:prstGeom prst="roundRect">
            <a:avLst>
              <a:gd name="adj" fmla="val 3871"/>
            </a:avLst>
          </a:prstGeom>
          <a:solidFill>
            <a:srgbClr val="EAF6F4"/>
          </a:solidFill>
          <a:ln/>
        </p:spPr>
      </p:sp>
      <p:sp>
        <p:nvSpPr>
          <p:cNvPr id="69" name="Text 67"/>
          <p:cNvSpPr/>
          <p:nvPr/>
        </p:nvSpPr>
        <p:spPr>
          <a:xfrm>
            <a:off x="10835640" y="1353312"/>
            <a:ext cx="1234440" cy="201168"/>
          </a:xfrm>
          <a:prstGeom prst="rect">
            <a:avLst/>
          </a:prstGeom>
          <a:noFill/>
          <a:ln/>
        </p:spPr>
        <p:txBody>
          <a:bodyPr wrap="square" rtlCol="0" anchor="ctr"/>
          <a:lstStyle/>
          <a:p>
            <a:pPr marL="0" indent="0">
              <a:buNone/>
            </a:pPr>
            <a:r>
              <a:rPr lang="en-US" sz="900" b="1" dirty="0">
                <a:solidFill>
                  <a:srgbClr val="0E6E67"/>
                </a:solidFill>
                <a:latin typeface="Calibri" pitchFamily="34" charset="0"/>
                <a:ea typeface="Calibri" pitchFamily="34" charset="-122"/>
                <a:cs typeface="Calibri" pitchFamily="34" charset="-120"/>
              </a:rPr>
              <a:t>KEY</a:t>
            </a:r>
            <a:endParaRPr lang="en-US" sz="900" dirty="0"/>
          </a:p>
        </p:txBody>
      </p:sp>
      <p:sp>
        <p:nvSpPr>
          <p:cNvPr id="70" name="Shape 68"/>
          <p:cNvSpPr/>
          <p:nvPr/>
        </p:nvSpPr>
        <p:spPr>
          <a:xfrm>
            <a:off x="10835640" y="1682496"/>
            <a:ext cx="274320" cy="0"/>
          </a:xfrm>
          <a:prstGeom prst="line">
            <a:avLst/>
          </a:prstGeom>
          <a:noFill/>
          <a:ln w="25400">
            <a:solidFill>
              <a:srgbClr val="6B7B78"/>
            </a:solidFill>
            <a:prstDash val="solid"/>
          </a:ln>
        </p:spPr>
      </p:sp>
      <p:sp>
        <p:nvSpPr>
          <p:cNvPr id="71" name="Text 69"/>
          <p:cNvSpPr/>
          <p:nvPr/>
        </p:nvSpPr>
        <p:spPr>
          <a:xfrm>
            <a:off x="10835640" y="1737360"/>
            <a:ext cx="1234440" cy="320040"/>
          </a:xfrm>
          <a:prstGeom prst="rect">
            <a:avLst/>
          </a:prstGeom>
          <a:noFill/>
          <a:ln/>
        </p:spPr>
        <p:txBody>
          <a:bodyPr wrap="square" rtlCol="0" anchor="ctr"/>
          <a:lstStyle/>
          <a:p>
            <a:pPr marL="0" indent="0">
              <a:lnSpc>
                <a:spcPct val="100000"/>
              </a:lnSpc>
              <a:buNone/>
            </a:pPr>
            <a:r>
              <a:rPr lang="en-US" sz="760" dirty="0">
                <a:solidFill>
                  <a:srgbClr val="16221F"/>
                </a:solidFill>
                <a:latin typeface="Calibri" pitchFamily="34" charset="0"/>
                <a:ea typeface="Calibri" pitchFamily="34" charset="-122"/>
                <a:cs typeface="Calibri" pitchFamily="34" charset="-120"/>
              </a:rPr>
              <a:t>Association</a:t>
            </a:r>
            <a:endParaRPr lang="en-US" sz="760" dirty="0"/>
          </a:p>
        </p:txBody>
      </p:sp>
      <p:sp>
        <p:nvSpPr>
          <p:cNvPr id="72" name="Shape 70"/>
          <p:cNvSpPr/>
          <p:nvPr/>
        </p:nvSpPr>
        <p:spPr>
          <a:xfrm>
            <a:off x="10835640" y="2185416"/>
            <a:ext cx="274320" cy="0"/>
          </a:xfrm>
          <a:prstGeom prst="line">
            <a:avLst/>
          </a:prstGeom>
          <a:noFill/>
          <a:ln w="25400">
            <a:solidFill>
              <a:srgbClr val="8B2E2E"/>
            </a:solidFill>
            <a:prstDash val="solid"/>
          </a:ln>
        </p:spPr>
      </p:sp>
      <p:sp>
        <p:nvSpPr>
          <p:cNvPr id="73" name="Text 71"/>
          <p:cNvSpPr/>
          <p:nvPr/>
        </p:nvSpPr>
        <p:spPr>
          <a:xfrm>
            <a:off x="10835640" y="2240280"/>
            <a:ext cx="1234440" cy="320040"/>
          </a:xfrm>
          <a:prstGeom prst="rect">
            <a:avLst/>
          </a:prstGeom>
          <a:noFill/>
          <a:ln/>
        </p:spPr>
        <p:txBody>
          <a:bodyPr wrap="square" rtlCol="0" anchor="ctr"/>
          <a:lstStyle/>
          <a:p>
            <a:pPr marL="0" indent="0">
              <a:lnSpc>
                <a:spcPct val="100000"/>
              </a:lnSpc>
              <a:buNone/>
            </a:pPr>
            <a:r>
              <a:rPr lang="en-US" sz="760" dirty="0">
                <a:solidFill>
                  <a:srgbClr val="16221F"/>
                </a:solidFill>
                <a:latin typeface="Calibri" pitchFamily="34" charset="0"/>
                <a:ea typeface="Calibri" pitchFamily="34" charset="-122"/>
                <a:cs typeface="Calibri" pitchFamily="34" charset="-120"/>
              </a:rPr>
              <a:t>Composition ◆</a:t>
            </a:r>
            <a:endParaRPr lang="en-US" sz="760" dirty="0"/>
          </a:p>
        </p:txBody>
      </p:sp>
      <p:sp>
        <p:nvSpPr>
          <p:cNvPr id="74" name="Shape 72"/>
          <p:cNvSpPr/>
          <p:nvPr/>
        </p:nvSpPr>
        <p:spPr>
          <a:xfrm>
            <a:off x="10835640" y="2688336"/>
            <a:ext cx="274320" cy="0"/>
          </a:xfrm>
          <a:prstGeom prst="line">
            <a:avLst/>
          </a:prstGeom>
          <a:noFill/>
          <a:ln w="25400">
            <a:solidFill>
              <a:srgbClr val="0E6E67"/>
            </a:solidFill>
            <a:prstDash val="solid"/>
          </a:ln>
        </p:spPr>
      </p:sp>
      <p:sp>
        <p:nvSpPr>
          <p:cNvPr id="75" name="Text 73"/>
          <p:cNvSpPr/>
          <p:nvPr/>
        </p:nvSpPr>
        <p:spPr>
          <a:xfrm>
            <a:off x="10835640" y="2743200"/>
            <a:ext cx="1234440" cy="320040"/>
          </a:xfrm>
          <a:prstGeom prst="rect">
            <a:avLst/>
          </a:prstGeom>
          <a:noFill/>
          <a:ln/>
        </p:spPr>
        <p:txBody>
          <a:bodyPr wrap="square" rtlCol="0" anchor="ctr"/>
          <a:lstStyle/>
          <a:p>
            <a:pPr marL="0" indent="0">
              <a:lnSpc>
                <a:spcPct val="100000"/>
              </a:lnSpc>
              <a:buNone/>
            </a:pPr>
            <a:r>
              <a:rPr lang="en-US" sz="760" dirty="0">
                <a:solidFill>
                  <a:srgbClr val="16221F"/>
                </a:solidFill>
                <a:latin typeface="Calibri" pitchFamily="34" charset="0"/>
                <a:ea typeface="Calibri" pitchFamily="34" charset="-122"/>
                <a:cs typeface="Calibri" pitchFamily="34" charset="-120"/>
              </a:rPr>
              <a:t>Aggregation ◇</a:t>
            </a:r>
            <a:endParaRPr lang="en-US" sz="760" dirty="0"/>
          </a:p>
        </p:txBody>
      </p:sp>
      <p:sp>
        <p:nvSpPr>
          <p:cNvPr id="76" name="Shape 74"/>
          <p:cNvSpPr/>
          <p:nvPr/>
        </p:nvSpPr>
        <p:spPr>
          <a:xfrm>
            <a:off x="10835640" y="3191256"/>
            <a:ext cx="274320" cy="0"/>
          </a:xfrm>
          <a:prstGeom prst="line">
            <a:avLst/>
          </a:prstGeom>
          <a:noFill/>
          <a:ln w="25400">
            <a:solidFill>
              <a:srgbClr val="16221F"/>
            </a:solidFill>
            <a:prstDash val="solid"/>
          </a:ln>
        </p:spPr>
      </p:sp>
      <p:sp>
        <p:nvSpPr>
          <p:cNvPr id="77" name="Text 75"/>
          <p:cNvSpPr/>
          <p:nvPr/>
        </p:nvSpPr>
        <p:spPr>
          <a:xfrm>
            <a:off x="10835640" y="3246120"/>
            <a:ext cx="1234440" cy="320040"/>
          </a:xfrm>
          <a:prstGeom prst="rect">
            <a:avLst/>
          </a:prstGeom>
          <a:noFill/>
          <a:ln/>
        </p:spPr>
        <p:txBody>
          <a:bodyPr wrap="square" rtlCol="0" anchor="ctr"/>
          <a:lstStyle/>
          <a:p>
            <a:pPr marL="0" indent="0">
              <a:lnSpc>
                <a:spcPct val="100000"/>
              </a:lnSpc>
              <a:buNone/>
            </a:pPr>
            <a:r>
              <a:rPr lang="en-US" sz="760" dirty="0">
                <a:solidFill>
                  <a:srgbClr val="16221F"/>
                </a:solidFill>
                <a:latin typeface="Calibri" pitchFamily="34" charset="0"/>
                <a:ea typeface="Calibri" pitchFamily="34" charset="-122"/>
                <a:cs typeface="Calibri" pitchFamily="34" charset="-120"/>
              </a:rPr>
              <a:t>Inheritance △</a:t>
            </a:r>
            <a:endParaRPr lang="en-US" sz="76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5486400" cy="274320"/>
          </a:xfrm>
          <a:prstGeom prst="rect">
            <a:avLst/>
          </a:prstGeom>
          <a:noFill/>
          <a:ln/>
        </p:spPr>
        <p:txBody>
          <a:bodyPr wrap="square" rtlCol="0" anchor="ctr"/>
          <a:lstStyle/>
          <a:p>
            <a:pPr marL="0" indent="0">
              <a:buNone/>
            </a:pPr>
            <a:r>
              <a:rPr lang="en-US" sz="1100" b="1" kern="0" spc="200" dirty="0">
                <a:solidFill>
                  <a:srgbClr val="0E6E67"/>
                </a:solidFill>
                <a:latin typeface="Calibri" pitchFamily="34" charset="0"/>
                <a:ea typeface="Calibri" pitchFamily="34" charset="-122"/>
                <a:cs typeface="Calibri" pitchFamily="34" charset="-120"/>
              </a:rPr>
              <a:t>04 · RESULTS &amp; FINDINGS</a:t>
            </a:r>
            <a:endParaRPr lang="en-US" sz="1100" dirty="0"/>
          </a:p>
        </p:txBody>
      </p:sp>
      <p:sp>
        <p:nvSpPr>
          <p:cNvPr id="3" name="Text 1"/>
          <p:cNvSpPr/>
          <p:nvPr/>
        </p:nvSpPr>
        <p:spPr>
          <a:xfrm>
            <a:off x="502920" y="594360"/>
            <a:ext cx="10607040" cy="640080"/>
          </a:xfrm>
          <a:prstGeom prst="rect">
            <a:avLst/>
          </a:prstGeom>
          <a:noFill/>
          <a:ln/>
        </p:spPr>
        <p:txBody>
          <a:bodyPr wrap="square" rtlCol="0" anchor="ctr"/>
          <a:lstStyle/>
          <a:p>
            <a:pPr marL="0" indent="0">
              <a:buNone/>
            </a:pPr>
            <a:r>
              <a:rPr lang="en-US" sz="2800" b="1" dirty="0">
                <a:solidFill>
                  <a:srgbClr val="16221F"/>
                </a:solidFill>
                <a:latin typeface="Cambria" pitchFamily="34" charset="0"/>
                <a:ea typeface="Cambria" pitchFamily="34" charset="-122"/>
                <a:cs typeface="Cambria" pitchFamily="34" charset="-120"/>
              </a:rPr>
              <a:t>Before vs. After the Redesign</a:t>
            </a:r>
            <a:endParaRPr lang="en-US" sz="2800" dirty="0"/>
          </a:p>
        </p:txBody>
      </p:sp>
      <p:sp>
        <p:nvSpPr>
          <p:cNvPr id="4" name="Text 2"/>
          <p:cNvSpPr/>
          <p:nvPr/>
        </p:nvSpPr>
        <p:spPr>
          <a:xfrm>
            <a:off x="502920" y="1261872"/>
            <a:ext cx="10607040" cy="365760"/>
          </a:xfrm>
          <a:prstGeom prst="rect">
            <a:avLst/>
          </a:prstGeom>
          <a:noFill/>
          <a:ln/>
        </p:spPr>
        <p:txBody>
          <a:bodyPr wrap="square" rtlCol="0" anchor="ctr"/>
          <a:lstStyle/>
          <a:p>
            <a:pPr marL="0" indent="0">
              <a:buNone/>
            </a:pPr>
            <a:r>
              <a:rPr lang="en-US" sz="1250" i="1" dirty="0">
                <a:solidFill>
                  <a:srgbClr val="4C5C59"/>
                </a:solidFill>
                <a:latin typeface="Calibri" pitchFamily="34" charset="0"/>
                <a:ea typeface="Calibri" pitchFamily="34" charset="-122"/>
                <a:cs typeface="Calibri" pitchFamily="34" charset="-120"/>
              </a:rPr>
              <a:t>Illustrative comparison based on the redesign applied to this system's module boundaries.</a:t>
            </a:r>
            <a:endParaRPr lang="en-US" sz="1250" dirty="0"/>
          </a:p>
        </p:txBody>
      </p:sp>
      <p:sp>
        <p:nvSpPr>
          <p:cNvPr id="5" name="Text 3"/>
          <p:cNvSpPr/>
          <p:nvPr/>
        </p:nvSpPr>
        <p:spPr>
          <a:xfrm>
            <a:off x="502920" y="1490472"/>
            <a:ext cx="1828800" cy="274320"/>
          </a:xfrm>
          <a:prstGeom prst="rect">
            <a:avLst/>
          </a:prstGeom>
          <a:noFill/>
          <a:ln/>
        </p:spPr>
        <p:txBody>
          <a:bodyPr wrap="square" rtlCol="0" anchor="ctr"/>
          <a:lstStyle/>
          <a:p>
            <a:pPr marL="0" indent="0">
              <a:buNone/>
            </a:pPr>
            <a:r>
              <a:rPr lang="en-US" sz="1100" b="1" kern="0" spc="100" dirty="0">
                <a:solidFill>
                  <a:srgbClr val="0E6E67"/>
                </a:solidFill>
                <a:latin typeface="Calibri" pitchFamily="34" charset="0"/>
                <a:ea typeface="Calibri" pitchFamily="34" charset="-122"/>
                <a:cs typeface="Calibri" pitchFamily="34" charset="-120"/>
              </a:rPr>
              <a:t>ASPECT</a:t>
            </a:r>
            <a:endParaRPr lang="en-US" sz="1100" dirty="0"/>
          </a:p>
        </p:txBody>
      </p:sp>
      <p:sp>
        <p:nvSpPr>
          <p:cNvPr id="6" name="Text 4"/>
          <p:cNvSpPr/>
          <p:nvPr/>
        </p:nvSpPr>
        <p:spPr>
          <a:xfrm>
            <a:off x="2423160" y="1490472"/>
            <a:ext cx="4389120" cy="274320"/>
          </a:xfrm>
          <a:prstGeom prst="rect">
            <a:avLst/>
          </a:prstGeom>
          <a:noFill/>
          <a:ln/>
        </p:spPr>
        <p:txBody>
          <a:bodyPr wrap="square" rtlCol="0" anchor="ctr"/>
          <a:lstStyle/>
          <a:p>
            <a:pPr marL="0" indent="0">
              <a:buNone/>
            </a:pPr>
            <a:r>
              <a:rPr lang="en-US" sz="1100" b="1" kern="0" spc="100" dirty="0">
                <a:solidFill>
                  <a:srgbClr val="E4572E"/>
                </a:solidFill>
                <a:latin typeface="Calibri" pitchFamily="34" charset="0"/>
                <a:ea typeface="Calibri" pitchFamily="34" charset="-122"/>
                <a:cs typeface="Calibri" pitchFamily="34" charset="-120"/>
              </a:rPr>
              <a:t>BEFORE — TIGHTLY COUPLED</a:t>
            </a:r>
            <a:endParaRPr lang="en-US" sz="1100" dirty="0"/>
          </a:p>
        </p:txBody>
      </p:sp>
      <p:sp>
        <p:nvSpPr>
          <p:cNvPr id="7" name="Text 5"/>
          <p:cNvSpPr/>
          <p:nvPr/>
        </p:nvSpPr>
        <p:spPr>
          <a:xfrm>
            <a:off x="7040880" y="1490472"/>
            <a:ext cx="4389120" cy="274320"/>
          </a:xfrm>
          <a:prstGeom prst="rect">
            <a:avLst/>
          </a:prstGeom>
          <a:noFill/>
          <a:ln/>
        </p:spPr>
        <p:txBody>
          <a:bodyPr wrap="square" rtlCol="0" anchor="ctr"/>
          <a:lstStyle/>
          <a:p>
            <a:pPr marL="0" indent="0">
              <a:buNone/>
            </a:pPr>
            <a:r>
              <a:rPr lang="en-US" sz="1100" b="1" kern="0" spc="100" dirty="0">
                <a:solidFill>
                  <a:srgbClr val="0E6E67"/>
                </a:solidFill>
                <a:latin typeface="Calibri" pitchFamily="34" charset="0"/>
                <a:ea typeface="Calibri" pitchFamily="34" charset="-122"/>
                <a:cs typeface="Calibri" pitchFamily="34" charset="-120"/>
              </a:rPr>
              <a:t>AFTER — MODULAR OOP DESIGN</a:t>
            </a:r>
            <a:endParaRPr lang="en-US" sz="1100" dirty="0"/>
          </a:p>
        </p:txBody>
      </p:sp>
      <p:sp>
        <p:nvSpPr>
          <p:cNvPr id="8" name="Shape 6"/>
          <p:cNvSpPr/>
          <p:nvPr/>
        </p:nvSpPr>
        <p:spPr>
          <a:xfrm>
            <a:off x="502920" y="1874520"/>
            <a:ext cx="1783080" cy="1307592"/>
          </a:xfrm>
          <a:prstGeom prst="roundRect">
            <a:avLst>
              <a:gd name="adj" fmla="val 4196"/>
            </a:avLst>
          </a:prstGeom>
          <a:solidFill>
            <a:srgbClr val="0E6E67"/>
          </a:solidFill>
          <a:ln/>
        </p:spPr>
      </p:sp>
      <p:sp>
        <p:nvSpPr>
          <p:cNvPr id="9" name="Text 7"/>
          <p:cNvSpPr/>
          <p:nvPr/>
        </p:nvSpPr>
        <p:spPr>
          <a:xfrm>
            <a:off x="594360" y="1874520"/>
            <a:ext cx="1600200" cy="1307592"/>
          </a:xfrm>
          <a:prstGeom prst="rect">
            <a:avLst/>
          </a:prstGeom>
          <a:noFill/>
          <a:ln/>
        </p:spPr>
        <p:txBody>
          <a:bodyPr wrap="squar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Maintainability</a:t>
            </a:r>
            <a:endParaRPr lang="en-US" sz="1300" dirty="0"/>
          </a:p>
        </p:txBody>
      </p:sp>
      <p:sp>
        <p:nvSpPr>
          <p:cNvPr id="10" name="Shape 8"/>
          <p:cNvSpPr/>
          <p:nvPr/>
        </p:nvSpPr>
        <p:spPr>
          <a:xfrm>
            <a:off x="2423160" y="1874520"/>
            <a:ext cx="4480560" cy="1307592"/>
          </a:xfrm>
          <a:prstGeom prst="roundRect">
            <a:avLst>
              <a:gd name="adj" fmla="val 4196"/>
            </a:avLst>
          </a:prstGeom>
          <a:solidFill>
            <a:srgbClr val="FDECE7"/>
          </a:solidFill>
          <a:ln/>
        </p:spPr>
      </p:sp>
      <p:sp>
        <p:nvSpPr>
          <p:cNvPr id="11" name="Text 9"/>
          <p:cNvSpPr/>
          <p:nvPr/>
        </p:nvSpPr>
        <p:spPr>
          <a:xfrm>
            <a:off x="2606040" y="1965960"/>
            <a:ext cx="4114800" cy="1124712"/>
          </a:xfrm>
          <a:prstGeom prst="rect">
            <a:avLst/>
          </a:prstGeom>
          <a:noFill/>
          <a:ln/>
        </p:spPr>
        <p:txBody>
          <a:bodyPr wrap="square" rtlCol="0" anchor="ctr"/>
          <a:lstStyle/>
          <a:p>
            <a:pPr marL="0" indent="0">
              <a:lnSpc>
                <a:spcPct val="118000"/>
              </a:lnSpc>
              <a:buNone/>
            </a:pPr>
            <a:r>
              <a:rPr lang="en-US" sz="1100" dirty="0">
                <a:solidFill>
                  <a:srgbClr val="16221F"/>
                </a:solidFill>
                <a:latin typeface="Calibri" pitchFamily="34" charset="0"/>
                <a:ea typeface="Calibri" pitchFamily="34" charset="-122"/>
                <a:cs typeface="Calibri" pitchFamily="34" charset="-120"/>
              </a:rPr>
              <a:t>A billing-rule change risked touching code in 3–4 unrelated modules, since fields were shared directly.</a:t>
            </a:r>
            <a:endParaRPr lang="en-US" sz="1100" dirty="0"/>
          </a:p>
        </p:txBody>
      </p:sp>
      <p:sp>
        <p:nvSpPr>
          <p:cNvPr id="12" name="Shape 10"/>
          <p:cNvSpPr/>
          <p:nvPr/>
        </p:nvSpPr>
        <p:spPr>
          <a:xfrm>
            <a:off x="7040880" y="1874520"/>
            <a:ext cx="4480560" cy="1307592"/>
          </a:xfrm>
          <a:prstGeom prst="roundRect">
            <a:avLst>
              <a:gd name="adj" fmla="val 4196"/>
            </a:avLst>
          </a:prstGeom>
          <a:solidFill>
            <a:srgbClr val="EAF6F4"/>
          </a:solidFill>
          <a:ln/>
        </p:spPr>
      </p:sp>
      <p:sp>
        <p:nvSpPr>
          <p:cNvPr id="13" name="Text 11"/>
          <p:cNvSpPr/>
          <p:nvPr/>
        </p:nvSpPr>
        <p:spPr>
          <a:xfrm>
            <a:off x="7223760" y="1965960"/>
            <a:ext cx="4114800" cy="1124712"/>
          </a:xfrm>
          <a:prstGeom prst="rect">
            <a:avLst/>
          </a:prstGeom>
          <a:noFill/>
          <a:ln/>
        </p:spPr>
        <p:txBody>
          <a:bodyPr wrap="square" rtlCol="0" anchor="ctr"/>
          <a:lstStyle/>
          <a:p>
            <a:pPr marL="0" indent="0">
              <a:lnSpc>
                <a:spcPct val="118000"/>
              </a:lnSpc>
              <a:buNone/>
            </a:pPr>
            <a:r>
              <a:rPr lang="en-US" sz="1100" dirty="0">
                <a:solidFill>
                  <a:srgbClr val="16221F"/>
                </a:solidFill>
                <a:latin typeface="Calibri" pitchFamily="34" charset="0"/>
                <a:ea typeface="Calibri" pitchFamily="34" charset="-122"/>
                <a:cs typeface="Calibri" pitchFamily="34" charset="-120"/>
              </a:rPr>
              <a:t>The same change is isolated to the Billing class — other modules are untouched because they only depend on its public interface.</a:t>
            </a:r>
            <a:endParaRPr lang="en-US" sz="1100" dirty="0"/>
          </a:p>
        </p:txBody>
      </p:sp>
      <p:sp>
        <p:nvSpPr>
          <p:cNvPr id="14" name="Shape 12"/>
          <p:cNvSpPr/>
          <p:nvPr/>
        </p:nvSpPr>
        <p:spPr>
          <a:xfrm>
            <a:off x="502920" y="3383280"/>
            <a:ext cx="1783080" cy="1307592"/>
          </a:xfrm>
          <a:prstGeom prst="roundRect">
            <a:avLst>
              <a:gd name="adj" fmla="val 4196"/>
            </a:avLst>
          </a:prstGeom>
          <a:solidFill>
            <a:srgbClr val="0E6E67"/>
          </a:solidFill>
          <a:ln/>
        </p:spPr>
      </p:sp>
      <p:sp>
        <p:nvSpPr>
          <p:cNvPr id="15" name="Text 13"/>
          <p:cNvSpPr/>
          <p:nvPr/>
        </p:nvSpPr>
        <p:spPr>
          <a:xfrm>
            <a:off x="594360" y="3383280"/>
            <a:ext cx="1600200" cy="1307592"/>
          </a:xfrm>
          <a:prstGeom prst="rect">
            <a:avLst/>
          </a:prstGeom>
          <a:noFill/>
          <a:ln/>
        </p:spPr>
        <p:txBody>
          <a:bodyPr wrap="squar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Scalability</a:t>
            </a:r>
            <a:endParaRPr lang="en-US" sz="1300" dirty="0"/>
          </a:p>
        </p:txBody>
      </p:sp>
      <p:sp>
        <p:nvSpPr>
          <p:cNvPr id="16" name="Shape 14"/>
          <p:cNvSpPr/>
          <p:nvPr/>
        </p:nvSpPr>
        <p:spPr>
          <a:xfrm>
            <a:off x="2423160" y="3383280"/>
            <a:ext cx="4480560" cy="1307592"/>
          </a:xfrm>
          <a:prstGeom prst="roundRect">
            <a:avLst>
              <a:gd name="adj" fmla="val 4196"/>
            </a:avLst>
          </a:prstGeom>
          <a:solidFill>
            <a:srgbClr val="FDECE7"/>
          </a:solidFill>
          <a:ln/>
        </p:spPr>
      </p:sp>
      <p:sp>
        <p:nvSpPr>
          <p:cNvPr id="17" name="Text 15"/>
          <p:cNvSpPr/>
          <p:nvPr/>
        </p:nvSpPr>
        <p:spPr>
          <a:xfrm>
            <a:off x="2606040" y="3474720"/>
            <a:ext cx="4114800" cy="1124712"/>
          </a:xfrm>
          <a:prstGeom prst="rect">
            <a:avLst/>
          </a:prstGeom>
          <a:noFill/>
          <a:ln/>
        </p:spPr>
        <p:txBody>
          <a:bodyPr wrap="square" rtlCol="0" anchor="ctr"/>
          <a:lstStyle/>
          <a:p>
            <a:pPr marL="0" indent="0">
              <a:lnSpc>
                <a:spcPct val="118000"/>
              </a:lnSpc>
              <a:buNone/>
            </a:pPr>
            <a:r>
              <a:rPr lang="en-US" sz="1100" dirty="0">
                <a:solidFill>
                  <a:srgbClr val="16221F"/>
                </a:solidFill>
                <a:latin typeface="Calibri" pitchFamily="34" charset="0"/>
                <a:ea typeface="Calibri" pitchFamily="34" charset="-122"/>
                <a:cs typeface="Calibri" pitchFamily="34" charset="-120"/>
              </a:rPr>
              <a:t>Adding a new service (e.g., Telemedicine) meant editing shared logic and re-testing the whole system.</a:t>
            </a:r>
            <a:endParaRPr lang="en-US" sz="1100" dirty="0"/>
          </a:p>
        </p:txBody>
      </p:sp>
      <p:sp>
        <p:nvSpPr>
          <p:cNvPr id="18" name="Shape 16"/>
          <p:cNvSpPr/>
          <p:nvPr/>
        </p:nvSpPr>
        <p:spPr>
          <a:xfrm>
            <a:off x="7040880" y="3383280"/>
            <a:ext cx="4480560" cy="1307592"/>
          </a:xfrm>
          <a:prstGeom prst="roundRect">
            <a:avLst>
              <a:gd name="adj" fmla="val 4196"/>
            </a:avLst>
          </a:prstGeom>
          <a:solidFill>
            <a:srgbClr val="EAF6F4"/>
          </a:solidFill>
          <a:ln/>
        </p:spPr>
      </p:sp>
      <p:sp>
        <p:nvSpPr>
          <p:cNvPr id="19" name="Text 17"/>
          <p:cNvSpPr/>
          <p:nvPr/>
        </p:nvSpPr>
        <p:spPr>
          <a:xfrm>
            <a:off x="7223760" y="3474720"/>
            <a:ext cx="4114800" cy="1124712"/>
          </a:xfrm>
          <a:prstGeom prst="rect">
            <a:avLst/>
          </a:prstGeom>
          <a:noFill/>
          <a:ln/>
        </p:spPr>
        <p:txBody>
          <a:bodyPr wrap="square" rtlCol="0" anchor="ctr"/>
          <a:lstStyle/>
          <a:p>
            <a:pPr marL="0" indent="0">
              <a:lnSpc>
                <a:spcPct val="118000"/>
              </a:lnSpc>
              <a:buNone/>
            </a:pPr>
            <a:r>
              <a:rPr lang="en-US" sz="1100" dirty="0">
                <a:solidFill>
                  <a:srgbClr val="16221F"/>
                </a:solidFill>
                <a:latin typeface="Calibri" pitchFamily="34" charset="0"/>
                <a:ea typeface="Calibri" pitchFamily="34" charset="-122"/>
                <a:cs typeface="Calibri" pitchFamily="34" charset="-120"/>
              </a:rPr>
              <a:t>A new module can be added as a new class that talks to existing ones through defined interfaces, without touching their internals.</a:t>
            </a:r>
            <a:endParaRPr lang="en-US" sz="1100" dirty="0"/>
          </a:p>
        </p:txBody>
      </p:sp>
      <p:sp>
        <p:nvSpPr>
          <p:cNvPr id="20" name="Shape 18"/>
          <p:cNvSpPr/>
          <p:nvPr/>
        </p:nvSpPr>
        <p:spPr>
          <a:xfrm>
            <a:off x="502920" y="4892040"/>
            <a:ext cx="1783080" cy="1307592"/>
          </a:xfrm>
          <a:prstGeom prst="roundRect">
            <a:avLst>
              <a:gd name="adj" fmla="val 4196"/>
            </a:avLst>
          </a:prstGeom>
          <a:solidFill>
            <a:srgbClr val="0E6E67"/>
          </a:solidFill>
          <a:ln/>
        </p:spPr>
      </p:sp>
      <p:sp>
        <p:nvSpPr>
          <p:cNvPr id="21" name="Text 19"/>
          <p:cNvSpPr/>
          <p:nvPr/>
        </p:nvSpPr>
        <p:spPr>
          <a:xfrm>
            <a:off x="594360" y="4892040"/>
            <a:ext cx="1600200" cy="1307592"/>
          </a:xfrm>
          <a:prstGeom prst="rect">
            <a:avLst/>
          </a:prstGeom>
          <a:noFill/>
          <a:ln/>
        </p:spPr>
        <p:txBody>
          <a:bodyPr wrap="squar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Reusability</a:t>
            </a:r>
            <a:endParaRPr lang="en-US" sz="1300" dirty="0"/>
          </a:p>
        </p:txBody>
      </p:sp>
      <p:sp>
        <p:nvSpPr>
          <p:cNvPr id="22" name="Shape 20"/>
          <p:cNvSpPr/>
          <p:nvPr/>
        </p:nvSpPr>
        <p:spPr>
          <a:xfrm>
            <a:off x="2423160" y="4892040"/>
            <a:ext cx="4480560" cy="1307592"/>
          </a:xfrm>
          <a:prstGeom prst="roundRect">
            <a:avLst>
              <a:gd name="adj" fmla="val 4196"/>
            </a:avLst>
          </a:prstGeom>
          <a:solidFill>
            <a:srgbClr val="FDECE7"/>
          </a:solidFill>
          <a:ln/>
        </p:spPr>
      </p:sp>
      <p:sp>
        <p:nvSpPr>
          <p:cNvPr id="23" name="Text 21"/>
          <p:cNvSpPr/>
          <p:nvPr/>
        </p:nvSpPr>
        <p:spPr>
          <a:xfrm>
            <a:off x="2606040" y="4983480"/>
            <a:ext cx="4114800" cy="1124712"/>
          </a:xfrm>
          <a:prstGeom prst="rect">
            <a:avLst/>
          </a:prstGeom>
          <a:noFill/>
          <a:ln/>
        </p:spPr>
        <p:txBody>
          <a:bodyPr wrap="square" rtlCol="0" anchor="ctr"/>
          <a:lstStyle/>
          <a:p>
            <a:pPr marL="0" indent="0">
              <a:lnSpc>
                <a:spcPct val="118000"/>
              </a:lnSpc>
              <a:buNone/>
            </a:pPr>
            <a:r>
              <a:rPr lang="en-US" sz="1100" dirty="0">
                <a:solidFill>
                  <a:srgbClr val="16221F"/>
                </a:solidFill>
                <a:latin typeface="Calibri" pitchFamily="34" charset="0"/>
                <a:ea typeface="Calibri" pitchFamily="34" charset="-122"/>
                <a:cs typeface="Calibri" pitchFamily="34" charset="-120"/>
              </a:rPr>
              <a:t>Common staff logic (login, contact info) was copy-pasted separately into Doctor, Nurse, and Pharmacist code.</a:t>
            </a:r>
            <a:endParaRPr lang="en-US" sz="1100" dirty="0"/>
          </a:p>
        </p:txBody>
      </p:sp>
      <p:sp>
        <p:nvSpPr>
          <p:cNvPr id="24" name="Shape 22"/>
          <p:cNvSpPr/>
          <p:nvPr/>
        </p:nvSpPr>
        <p:spPr>
          <a:xfrm>
            <a:off x="7040880" y="4892040"/>
            <a:ext cx="4480560" cy="1307592"/>
          </a:xfrm>
          <a:prstGeom prst="roundRect">
            <a:avLst>
              <a:gd name="adj" fmla="val 4196"/>
            </a:avLst>
          </a:prstGeom>
          <a:solidFill>
            <a:srgbClr val="EAF6F4"/>
          </a:solidFill>
          <a:ln/>
        </p:spPr>
      </p:sp>
      <p:sp>
        <p:nvSpPr>
          <p:cNvPr id="25" name="Text 23"/>
          <p:cNvSpPr/>
          <p:nvPr/>
        </p:nvSpPr>
        <p:spPr>
          <a:xfrm>
            <a:off x="7223760" y="4983480"/>
            <a:ext cx="4114800" cy="1124712"/>
          </a:xfrm>
          <a:prstGeom prst="rect">
            <a:avLst/>
          </a:prstGeom>
          <a:noFill/>
          <a:ln/>
        </p:spPr>
        <p:txBody>
          <a:bodyPr wrap="square" rtlCol="0" anchor="ctr"/>
          <a:lstStyle/>
          <a:p>
            <a:pPr marL="0" indent="0">
              <a:lnSpc>
                <a:spcPct val="118000"/>
              </a:lnSpc>
              <a:buNone/>
            </a:pPr>
            <a:r>
              <a:rPr lang="en-US" sz="1100" dirty="0">
                <a:solidFill>
                  <a:srgbClr val="16221F"/>
                </a:solidFill>
                <a:latin typeface="Calibri" pitchFamily="34" charset="0"/>
                <a:ea typeface="Calibri" pitchFamily="34" charset="-122"/>
                <a:cs typeface="Calibri" pitchFamily="34" charset="-120"/>
              </a:rPr>
              <a:t>That logic lives once in StaffMember and is inherited — written once, reused by every staff subclass.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3F3C"/>
        </a:solidFill>
        <a:effectLst/>
      </p:bgPr>
    </p:bg>
    <p:spTree>
      <p:nvGrpSpPr>
        <p:cNvPr id="1" name=""/>
        <p:cNvGrpSpPr/>
        <p:nvPr/>
      </p:nvGrpSpPr>
      <p:grpSpPr>
        <a:xfrm>
          <a:off x="0" y="0"/>
          <a:ext cx="0" cy="0"/>
          <a:chOff x="0" y="0"/>
          <a:chExt cx="0" cy="0"/>
        </a:xfrm>
      </p:grpSpPr>
      <p:sp>
        <p:nvSpPr>
          <p:cNvPr id="2" name="Shape 0"/>
          <p:cNvSpPr/>
          <p:nvPr/>
        </p:nvSpPr>
        <p:spPr>
          <a:xfrm>
            <a:off x="-1828800" y="3840480"/>
            <a:ext cx="5486400" cy="5486400"/>
          </a:xfrm>
          <a:prstGeom prst="ellipse">
            <a:avLst/>
          </a:prstGeom>
          <a:solidFill>
            <a:srgbClr val="0E6E67"/>
          </a:solidFill>
          <a:ln/>
        </p:spPr>
        <p:txBody>
          <a:bodyPr/>
          <a:lstStyle/>
          <a:p>
            <a:endParaRPr lang="en-IN" dirty="0"/>
          </a:p>
        </p:txBody>
      </p:sp>
      <p:sp>
        <p:nvSpPr>
          <p:cNvPr id="3" name="Text 1"/>
          <p:cNvSpPr/>
          <p:nvPr/>
        </p:nvSpPr>
        <p:spPr>
          <a:xfrm>
            <a:off x="502920" y="292608"/>
            <a:ext cx="5486400" cy="274320"/>
          </a:xfrm>
          <a:prstGeom prst="rect">
            <a:avLst/>
          </a:prstGeom>
          <a:noFill/>
          <a:ln/>
        </p:spPr>
        <p:txBody>
          <a:bodyPr wrap="square" rtlCol="0" anchor="ctr"/>
          <a:lstStyle/>
          <a:p>
            <a:pPr marL="0" indent="0">
              <a:buNone/>
            </a:pPr>
            <a:r>
              <a:rPr lang="en-US" sz="1100" b="1" kern="0" spc="200" dirty="0">
                <a:solidFill>
                  <a:srgbClr val="2FA39B"/>
                </a:solidFill>
                <a:latin typeface="Calibri" pitchFamily="34" charset="0"/>
                <a:ea typeface="Calibri" pitchFamily="34" charset="-122"/>
                <a:cs typeface="Calibri" pitchFamily="34" charset="-120"/>
              </a:rPr>
              <a:t>05 · CONCLUSION</a:t>
            </a:r>
            <a:endParaRPr lang="en-US" sz="1100" dirty="0"/>
          </a:p>
        </p:txBody>
      </p:sp>
      <p:sp>
        <p:nvSpPr>
          <p:cNvPr id="4" name="Text 2"/>
          <p:cNvSpPr/>
          <p:nvPr/>
        </p:nvSpPr>
        <p:spPr>
          <a:xfrm>
            <a:off x="502920" y="777240"/>
            <a:ext cx="9601200" cy="73152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From Tangled to Modular</a:t>
            </a:r>
            <a:endParaRPr lang="en-US" sz="3200" dirty="0"/>
          </a:p>
        </p:txBody>
      </p:sp>
      <p:sp>
        <p:nvSpPr>
          <p:cNvPr id="5" name="Text 3"/>
          <p:cNvSpPr/>
          <p:nvPr/>
        </p:nvSpPr>
        <p:spPr>
          <a:xfrm>
            <a:off x="502920" y="1691640"/>
            <a:ext cx="9875520" cy="3931920"/>
          </a:xfrm>
          <a:prstGeom prst="rect">
            <a:avLst/>
          </a:prstGeom>
          <a:noFill/>
          <a:ln/>
        </p:spPr>
        <p:txBody>
          <a:bodyPr wrap="square" rtlCol="0" anchor="ctr"/>
          <a:lstStyle/>
          <a:p>
            <a:pPr marL="342900" indent="-342900">
              <a:lnSpc>
                <a:spcPct val="125000"/>
              </a:lnSpc>
              <a:spcAft>
                <a:spcPts val="1400"/>
              </a:spcAft>
              <a:buSzPct val="100000"/>
              <a:buChar char="•"/>
            </a:pPr>
            <a:r>
              <a:rPr lang="en-US" sz="1550" dirty="0">
                <a:solidFill>
                  <a:srgbClr val="E7F4F2"/>
                </a:solidFill>
                <a:latin typeface="Calibri" pitchFamily="34" charset="0"/>
                <a:ea typeface="Calibri" pitchFamily="34" charset="-122"/>
                <a:cs typeface="Calibri" pitchFamily="34" charset="-120"/>
              </a:rPr>
              <a:t>The core problem was never a single bug — it was a structure that let every module reach into every other module.</a:t>
            </a:r>
            <a:endParaRPr lang="en-US" sz="1550" dirty="0"/>
          </a:p>
          <a:p>
            <a:pPr marL="342900" indent="-342900">
              <a:lnSpc>
                <a:spcPct val="125000"/>
              </a:lnSpc>
              <a:spcAft>
                <a:spcPts val="1400"/>
              </a:spcAft>
              <a:buSzPct val="100000"/>
              <a:buChar char="•"/>
            </a:pPr>
            <a:r>
              <a:rPr lang="en-US" sz="1550" dirty="0">
                <a:solidFill>
                  <a:srgbClr val="E7F4F2"/>
                </a:solidFill>
                <a:latin typeface="Calibri" pitchFamily="34" charset="0"/>
                <a:ea typeface="Calibri" pitchFamily="34" charset="-122"/>
                <a:cs typeface="Calibri" pitchFamily="34" charset="-120"/>
              </a:rPr>
              <a:t>Applying encapsulation, inheritance, and association turned that structure into independent, testable, safely-changeable classes.</a:t>
            </a:r>
            <a:endParaRPr lang="en-US" sz="1550" dirty="0"/>
          </a:p>
          <a:p>
            <a:pPr marL="342900" indent="-342900">
              <a:lnSpc>
                <a:spcPct val="125000"/>
              </a:lnSpc>
              <a:spcAft>
                <a:spcPts val="1400"/>
              </a:spcAft>
              <a:buSzPct val="100000"/>
              <a:buChar char="•"/>
            </a:pPr>
            <a:r>
              <a:rPr lang="en-US" sz="1550" dirty="0">
                <a:solidFill>
                  <a:srgbClr val="E7F4F2"/>
                </a:solidFill>
                <a:latin typeface="Calibri" pitchFamily="34" charset="0"/>
                <a:ea typeface="Calibri" pitchFamily="34" charset="-122"/>
                <a:cs typeface="Calibri" pitchFamily="34" charset="-120"/>
              </a:rPr>
              <a:t>The payoff shows up directly in maintainability, scalability, and reusability — not as abstract OOP theory, but as fewer files touched per change and less duplicated code.</a:t>
            </a:r>
            <a:endParaRPr lang="en-US" sz="1550" dirty="0"/>
          </a:p>
          <a:p>
            <a:pPr marL="342900" indent="-342900">
              <a:lnSpc>
                <a:spcPct val="125000"/>
              </a:lnSpc>
              <a:spcAft>
                <a:spcPts val="1400"/>
              </a:spcAft>
              <a:buSzPct val="100000"/>
              <a:buChar char="•"/>
            </a:pPr>
            <a:r>
              <a:rPr lang="en-US" sz="1550" dirty="0">
                <a:solidFill>
                  <a:srgbClr val="E7F4F2"/>
                </a:solidFill>
                <a:latin typeface="Calibri" pitchFamily="34" charset="0"/>
                <a:ea typeface="Calibri" pitchFamily="34" charset="-122"/>
                <a:cs typeface="Calibri" pitchFamily="34" charset="-120"/>
              </a:rPr>
              <a:t>The bigger lesson: in a system where downtime affects patient care, disciplined object-oriented design is a safety measure, not just good engineering practice.</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3F3C"/>
        </a:solidFill>
        <a:effectLst/>
      </p:bgPr>
    </p:bg>
    <p:spTree>
      <p:nvGrpSpPr>
        <p:cNvPr id="1" name=""/>
        <p:cNvGrpSpPr/>
        <p:nvPr/>
      </p:nvGrpSpPr>
      <p:grpSpPr>
        <a:xfrm>
          <a:off x="0" y="0"/>
          <a:ext cx="0" cy="0"/>
          <a:chOff x="0" y="0"/>
          <a:chExt cx="0" cy="0"/>
        </a:xfrm>
      </p:grpSpPr>
      <p:sp>
        <p:nvSpPr>
          <p:cNvPr id="2" name="Shape 0"/>
          <p:cNvSpPr/>
          <p:nvPr/>
        </p:nvSpPr>
        <p:spPr>
          <a:xfrm>
            <a:off x="8046720" y="-1828800"/>
            <a:ext cx="6400800" cy="6400800"/>
          </a:xfrm>
          <a:prstGeom prst="ellipse">
            <a:avLst/>
          </a:prstGeom>
          <a:solidFill>
            <a:srgbClr val="0E6E67"/>
          </a:solidFill>
          <a:ln/>
        </p:spPr>
      </p:sp>
      <p:sp>
        <p:nvSpPr>
          <p:cNvPr id="3" name="Text 1"/>
          <p:cNvSpPr/>
          <p:nvPr/>
        </p:nvSpPr>
        <p:spPr>
          <a:xfrm>
            <a:off x="502920" y="2286000"/>
            <a:ext cx="9144000" cy="1005840"/>
          </a:xfrm>
          <a:prstGeom prst="rect">
            <a:avLst/>
          </a:prstGeom>
          <a:noFill/>
          <a:ln/>
        </p:spPr>
        <p:txBody>
          <a:bodyPr wrap="square"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5" name="Text 3"/>
          <p:cNvSpPr/>
          <p:nvPr/>
        </p:nvSpPr>
        <p:spPr>
          <a:xfrm>
            <a:off x="502920" y="6126480"/>
            <a:ext cx="10058400" cy="365760"/>
          </a:xfrm>
          <a:prstGeom prst="rect">
            <a:avLst/>
          </a:prstGeom>
          <a:noFill/>
          <a:ln/>
        </p:spPr>
        <p:txBody>
          <a:bodyPr wrap="square" rtlCol="0" anchor="ctr"/>
          <a:lstStyle/>
          <a:p>
            <a:pPr marL="0" indent="0">
              <a:buNone/>
            </a:pPr>
            <a:r>
              <a:rPr lang="en-US" sz="1100" dirty="0">
                <a:solidFill>
                  <a:srgbClr val="9FD4CF"/>
                </a:solidFill>
                <a:latin typeface="Calibri" pitchFamily="34" charset="0"/>
                <a:ea typeface="Calibri" pitchFamily="34" charset="-122"/>
                <a:cs typeface="Calibri" pitchFamily="34" charset="-120"/>
              </a:rPr>
              <a:t>Modular Design in a Hospital Management System  ·  CSA11 — Object Oriented Analysis and Design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3F3C"/>
        </a:solidFill>
        <a:effectLst/>
      </p:bgPr>
    </p:bg>
    <p:spTree>
      <p:nvGrpSpPr>
        <p:cNvPr id="1" name="">
          <a:extLst>
            <a:ext uri="{FF2B5EF4-FFF2-40B4-BE49-F238E27FC236}">
              <a16:creationId xmlns:a16="http://schemas.microsoft.com/office/drawing/2014/main" id="{1696917E-4833-DD8F-9C76-BE1F590C41F9}"/>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68B82336-9399-A87C-E22B-D7E13592B3B8}"/>
              </a:ext>
            </a:extLst>
          </p:cNvPr>
          <p:cNvPicPr>
            <a:picLocks noChangeAspect="1"/>
          </p:cNvPicPr>
          <p:nvPr/>
        </p:nvPicPr>
        <p:blipFill>
          <a:blip r:embed="rId3"/>
          <a:stretch>
            <a:fillRect/>
          </a:stretch>
        </p:blipFill>
        <p:spPr>
          <a:xfrm>
            <a:off x="1524000" y="0"/>
            <a:ext cx="9144000" cy="6858000"/>
          </a:xfrm>
          <a:prstGeom prst="rect">
            <a:avLst/>
          </a:prstGeom>
        </p:spPr>
      </p:pic>
    </p:spTree>
    <p:extLst>
      <p:ext uri="{BB962C8B-B14F-4D97-AF65-F5344CB8AC3E}">
        <p14:creationId xmlns:p14="http://schemas.microsoft.com/office/powerpoint/2010/main" val="33864046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107</TotalTime>
  <Words>3276</Words>
  <Application>Microsoft Office PowerPoint</Application>
  <PresentationFormat>Widescreen</PresentationFormat>
  <Paragraphs>235</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rashmi naurene</cp:lastModifiedBy>
  <cp:revision>2</cp:revision>
  <dcterms:created xsi:type="dcterms:W3CDTF">2026-07-14T12:22:33Z</dcterms:created>
  <dcterms:modified xsi:type="dcterms:W3CDTF">2026-07-17T03:57:33Z</dcterms:modified>
</cp:coreProperties>
</file>